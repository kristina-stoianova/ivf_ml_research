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38"/>
    <p:restoredTop sz="94667"/>
  </p:normalViewPr>
  <p:slideViewPr>
    <p:cSldViewPr snapToGrid="0">
      <p:cViewPr>
        <p:scale>
          <a:sx n="106" d="100"/>
          <a:sy n="106" d="100"/>
        </p:scale>
        <p:origin x="1048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BF7437-0026-7A40-8201-FF0338F01513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42FB01-1D0A-EA4A-A34A-5E3E2D300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31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42FB01-1D0A-EA4A-A34A-5E3E2D300CF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96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9097B-8C18-39C9-AAEA-770EEC9ED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D3A66-9E15-B086-F2CD-900142F5AA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07F14-620B-6C6C-EBB0-2D6036B9D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02FCB-0C24-4741-8950-84C4FEF83A63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061D9-42B4-3D91-F137-B268878A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2A925-E04C-80FF-6418-555151537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85FF1-54AD-764F-95BD-90C9CE5A1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712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F89F8-D95D-99DF-2F62-6E6729E82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8A3C2-222E-D81A-D732-F59C6F26B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9C388-F7E9-B0F8-1BBA-BFD3ACC49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02FCB-0C24-4741-8950-84C4FEF83A63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76369-99AF-40AE-6204-798602F9A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60264-DD30-255A-F614-8AE1C1C26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85FF1-54AD-764F-95BD-90C9CE5A1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90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1A0BB-298A-4FD8-B9DA-4ED651781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70479-5F3B-1855-32D3-1CAC841D5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16F4F-6228-1E18-36D1-B33B709D0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02FCB-0C24-4741-8950-84C4FEF83A63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053F4-0EA3-D036-E6E5-C08CB6647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96434-F9D2-D654-3FC2-3255A3C0B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85FF1-54AD-764F-95BD-90C9CE5A1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115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F6FE-DC2E-76A8-0E9F-2A3B5060C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32860-49B4-BBE3-7769-DC66DA958C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A80E78-DB09-2303-B083-6ED3B695D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4731F-8C70-F237-1087-8CA10B19F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02FCB-0C24-4741-8950-84C4FEF83A63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F5672-E39A-808D-C5D6-64A96EF0C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AB66F-0301-90FC-5635-56443958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85FF1-54AD-764F-95BD-90C9CE5A1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02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FD44C-EC52-E512-32B8-E490DD655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23A0F-4908-429A-29D6-D330BB153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19A407-98A9-5B16-A6B5-8874D0143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B399C0-9D87-6478-EF3C-30B70730AD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47A6CB-62E1-7466-9498-96A8CE7467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69FFC3-7F7E-0851-7D4B-C9EBF0D28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02FCB-0C24-4741-8950-84C4FEF83A63}" type="datetimeFigureOut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839CC-01C9-768A-50AB-710B2E8EF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F93232-8677-4508-D3DF-1045E8D88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85FF1-54AD-764F-95BD-90C9CE5A1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792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38CCE-C096-1D05-E998-A8E4AA6EA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5027BD-863D-D870-043A-98F11E1DB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02FCB-0C24-4741-8950-84C4FEF83A63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C744FD-4876-86DE-8614-FBC90CCCC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59B7FB-0701-B77A-010F-372B4ACA8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85FF1-54AD-764F-95BD-90C9CE5A1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87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F255E0-AF08-7D7C-24F6-82C52ABC0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02FCB-0C24-4741-8950-84C4FEF83A63}" type="datetimeFigureOut">
              <a:rPr lang="en-US" smtClean="0"/>
              <a:t>4/8/26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1F70CD-B386-4539-2CF5-96307A46A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25485-6CB3-CC77-BE4E-88681401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85FF1-54AD-764F-95BD-90C9CE5A1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4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B1FD9-4C22-B52B-2DB4-91F69BB30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7FD7F-B28C-7644-84D6-93DCC9086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ACD7E-1D46-E5C1-F5DC-7587D84E6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3FFFD-BE52-D070-10B0-048A6E68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02FCB-0C24-4741-8950-84C4FEF83A63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7E959-9A20-175F-750D-559F205E2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1105B4-1987-9A46-3930-D25BE1275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85FF1-54AD-764F-95BD-90C9CE5A1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85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45162-5A1C-82A6-C5AF-DEBAC671A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52FB5B-B41C-1B9F-69F0-DD3A6E37D9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B66979-651F-6CBF-914E-1D6D8B6CC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0E5008-1FEC-AE76-63F2-609869417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02FCB-0C24-4741-8950-84C4FEF83A63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771CE5-E019-B9B9-8431-3D4BA38C4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7DCC90-5AED-C6CA-7760-F6F35AB6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85FF1-54AD-764F-95BD-90C9CE5A1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568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40E84-0ACB-5551-7B4B-8D79C4B0A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C3A5FC-193F-1E64-48A2-0F3ED2AB1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A3C13-0200-557B-5EDA-6F3A52589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02FCB-0C24-4741-8950-84C4FEF83A63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295B1-A4EF-7421-6BE6-8BB988051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085BF-E9B3-CAEE-06F7-512FE29E7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85FF1-54AD-764F-95BD-90C9CE5A1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972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CF9BCE-5E93-5BCD-E8B6-E34830EAD6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937F90-CE38-D3DC-0E07-DE947BFC60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F63E1-1F7F-041E-EA4D-CACDE8BB7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02FCB-0C24-4741-8950-84C4FEF83A63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558F3-F5C5-CFD7-7D4F-CDB988FA9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81DC1-FF15-0A74-1A43-7773D5762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85FF1-54AD-764F-95BD-90C9CE5A1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544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7DABEC-EA11-3051-5F99-D0E3376AB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6AD0F-566F-F425-063E-5C9EC334D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652AE-F1EB-05FA-C80B-0B34CEA9A0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602FCB-0C24-4741-8950-84C4FEF83A63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910D6-5958-2F73-37E3-CA5CDDAE5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5DD4C-5DDC-B8B6-D858-C5632BE0E0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085FF1-54AD-764F-95BD-90C9CE5A1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95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843D6C-6A7E-2FBD-8BC8-C148610FD727}"/>
              </a:ext>
            </a:extLst>
          </p:cNvPr>
          <p:cNvSpPr txBox="1"/>
          <p:nvPr/>
        </p:nvSpPr>
        <p:spPr>
          <a:xfrm>
            <a:off x="367990" y="267629"/>
            <a:ext cx="932980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Helvetica" pitchFamily="2" charset="0"/>
              </a:rPr>
              <a:t>Aims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Explore and predict IVF outcomes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In terms of Ovarian Stimulation (not yet expanded to LB)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‘Optimize’ the IVF protocol (ageing women) to head towards improving the IVF ovarian stimulation response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Predict mature oocytes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Responder Classification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Model that classifies a woman as a low responder or not low responder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Model that classifies a woman as a high responder (OHSS risk) or not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Model: maximize expected mature oocytes without getting a very low response or increasing the OHSS risk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Predict response (mature oocytes) at given dose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Predict risk (low/high response) at given dose</a:t>
            </a:r>
          </a:p>
        </p:txBody>
      </p:sp>
    </p:spTree>
    <p:extLst>
      <p:ext uri="{BB962C8B-B14F-4D97-AF65-F5344CB8AC3E}">
        <p14:creationId xmlns:p14="http://schemas.microsoft.com/office/powerpoint/2010/main" val="4071998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DAC5A8B-5F8C-3E67-1286-565E8AB2ADB8}"/>
              </a:ext>
            </a:extLst>
          </p:cNvPr>
          <p:cNvSpPr txBox="1"/>
          <p:nvPr/>
        </p:nvSpPr>
        <p:spPr>
          <a:xfrm>
            <a:off x="579120" y="396240"/>
            <a:ext cx="1045670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>
                <a:latin typeface="Helvetica" pitchFamily="2" charset="0"/>
              </a:rPr>
              <a:t>Number of mature oocytes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Since I am exploring IVF stimulation protocols mature oocytes is an appropriate outcome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Modelling just baseline factors as predictors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Modelling baseline factors + protocol parameters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0A9A45-4AB4-AFD5-0114-07DC23558752}"/>
              </a:ext>
            </a:extLst>
          </p:cNvPr>
          <p:cNvSpPr txBox="1"/>
          <p:nvPr/>
        </p:nvSpPr>
        <p:spPr>
          <a:xfrm>
            <a:off x="579120" y="1719679"/>
            <a:ext cx="3911648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>
                <a:latin typeface="Helvetica" pitchFamily="2" charset="0"/>
              </a:rPr>
              <a:t>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Linear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Negative Binomial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Helvetica" pitchFamily="2" charset="0"/>
              </a:rPr>
              <a:t>RandomForest</a:t>
            </a:r>
            <a:r>
              <a:rPr lang="en-US" sz="2000" dirty="0">
                <a:latin typeface="Helvetica" pitchFamily="2" charset="0"/>
              </a:rPr>
              <a:t>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Helvetica" pitchFamily="2" charset="0"/>
              </a:rPr>
              <a:t>XGBoost</a:t>
            </a:r>
            <a:r>
              <a:rPr lang="en-US" sz="2000" dirty="0">
                <a:latin typeface="Helvetica" pitchFamily="2" charset="0"/>
              </a:rPr>
              <a:t>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900E5A-4EFC-C3B0-A297-4517C37BA384}"/>
              </a:ext>
            </a:extLst>
          </p:cNvPr>
          <p:cNvSpPr txBox="1"/>
          <p:nvPr/>
        </p:nvSpPr>
        <p:spPr>
          <a:xfrm>
            <a:off x="579120" y="3757494"/>
            <a:ext cx="1004031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>
                <a:latin typeface="Helvetica" pitchFamily="2" charset="0"/>
              </a:rPr>
              <a:t>Emerging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AMH and Baseline Total Follicles are more significant than 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AMH and Baseline Total Follicles have higher permutation importance than 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Interaction between AMH and total dose clinicians are prescribing </a:t>
            </a:r>
            <a:r>
              <a:rPr lang="en-US" sz="2000" dirty="0">
                <a:latin typeface="Helvetica" pitchFamily="2" charset="0"/>
                <a:sym typeface="Wingdings" pitchFamily="2" charset="2"/>
              </a:rPr>
              <a:t> mature oocytes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  <a:sym typeface="Wingdings" pitchFamily="2" charset="2"/>
              </a:rPr>
              <a:t>Baseline factors still significant when controlling for protocol decisions</a:t>
            </a:r>
            <a:endParaRPr lang="en-US" sz="2000" dirty="0"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Differences in feature importance between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Differences between female factor aetiology vs. unexplained aetiology </a:t>
            </a:r>
          </a:p>
        </p:txBody>
      </p:sp>
    </p:spTree>
    <p:extLst>
      <p:ext uri="{BB962C8B-B14F-4D97-AF65-F5344CB8AC3E}">
        <p14:creationId xmlns:p14="http://schemas.microsoft.com/office/powerpoint/2010/main" val="3914327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blue squares&#10;&#10;AI-generated content may be incorrect.">
            <a:extLst>
              <a:ext uri="{FF2B5EF4-FFF2-40B4-BE49-F238E27FC236}">
                <a16:creationId xmlns:a16="http://schemas.microsoft.com/office/drawing/2014/main" id="{2E437532-90CB-91B3-FC74-160D49E916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174" y="1137233"/>
            <a:ext cx="6842624" cy="4526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CCA638-A6B9-654C-B74F-7F0FD0D66966}"/>
              </a:ext>
            </a:extLst>
          </p:cNvPr>
          <p:cNvSpPr txBox="1"/>
          <p:nvPr/>
        </p:nvSpPr>
        <p:spPr>
          <a:xfrm>
            <a:off x="792480" y="350520"/>
            <a:ext cx="4514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RandomForest</a:t>
            </a:r>
            <a:r>
              <a:rPr lang="en-US" dirty="0"/>
              <a:t> with just Baseline Predictors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6D0289-7897-63C1-BF58-9E56CB66E17F}"/>
              </a:ext>
            </a:extLst>
          </p:cNvPr>
          <p:cNvSpPr txBox="1"/>
          <p:nvPr/>
        </p:nvSpPr>
        <p:spPr>
          <a:xfrm>
            <a:off x="7223760" y="1645920"/>
            <a:ext cx="47548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Median Imputing or KNN imputing (have seen papers do MICE imputing too)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GridSearchCV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 cross fold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CV validation R2 = 0.42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Training R2 = 0.78</a:t>
            </a:r>
          </a:p>
        </p:txBody>
      </p:sp>
    </p:spTree>
    <p:extLst>
      <p:ext uri="{BB962C8B-B14F-4D97-AF65-F5344CB8AC3E}">
        <p14:creationId xmlns:p14="http://schemas.microsoft.com/office/powerpoint/2010/main" val="4029600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blue and white text&#10;&#10;AI-generated content may be incorrect.">
            <a:extLst>
              <a:ext uri="{FF2B5EF4-FFF2-40B4-BE49-F238E27FC236}">
                <a16:creationId xmlns:a16="http://schemas.microsoft.com/office/drawing/2014/main" id="{8DE9EBE7-7A8B-0D40-E504-F12993079B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653" y="1253331"/>
            <a:ext cx="7481796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B0A155-7C0A-82C6-18E6-90658016C0DE}"/>
              </a:ext>
            </a:extLst>
          </p:cNvPr>
          <p:cNvSpPr txBox="1"/>
          <p:nvPr/>
        </p:nvSpPr>
        <p:spPr>
          <a:xfrm>
            <a:off x="476250" y="400050"/>
            <a:ext cx="5232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RandomForest</a:t>
            </a:r>
            <a:r>
              <a:rPr lang="en-US" dirty="0"/>
              <a:t> with Baseline + Protocol Parameters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BD0CEF-4837-A758-40AB-8282EA3C5254}"/>
              </a:ext>
            </a:extLst>
          </p:cNvPr>
          <p:cNvSpPr txBox="1"/>
          <p:nvPr/>
        </p:nvSpPr>
        <p:spPr>
          <a:xfrm>
            <a:off x="8172450" y="1905000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Validation R2 = 0.40 </a:t>
            </a:r>
          </a:p>
        </p:txBody>
      </p:sp>
    </p:spTree>
    <p:extLst>
      <p:ext uri="{BB962C8B-B14F-4D97-AF65-F5344CB8AC3E}">
        <p14:creationId xmlns:p14="http://schemas.microsoft.com/office/powerpoint/2010/main" val="3569320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C31C0E-F5A5-57BE-1BFE-7234A6868A11}"/>
              </a:ext>
            </a:extLst>
          </p:cNvPr>
          <p:cNvSpPr txBox="1"/>
          <p:nvPr/>
        </p:nvSpPr>
        <p:spPr>
          <a:xfrm>
            <a:off x="838200" y="590550"/>
            <a:ext cx="678102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>
                <a:latin typeface="Helvetica" pitchFamily="2" charset="0"/>
              </a:rPr>
              <a:t>Pre-treatment support: Classify Responder Type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Classification Model – Binary Logistic Regression + 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Low responders vs. Not low responders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High responders (OHSS risk) vs. Not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Before treatment, is the patient likely to under-respond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Look at baseline predictors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Then, extend model to include protocol choices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4449D5-A295-FC53-AE1C-98C0849631C8}"/>
              </a:ext>
            </a:extLst>
          </p:cNvPr>
          <p:cNvSpPr txBox="1"/>
          <p:nvPr/>
        </p:nvSpPr>
        <p:spPr>
          <a:xfrm>
            <a:off x="838200" y="3429000"/>
            <a:ext cx="1038257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Helvetica" pitchFamily="2" charset="0"/>
              </a:rPr>
              <a:t>Make predictions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For each patient stimulate a small set of plausible starting doses (based on literature: (150-250/300iu)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Use the fitted models to predict mature oocytes, low-response probability, high-response probability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Try to create a framework which recommends treatment based on multiple prediction models</a:t>
            </a:r>
          </a:p>
          <a:p>
            <a:r>
              <a:rPr lang="en-US" sz="2000" dirty="0">
                <a:latin typeface="Helvetica" pitchFamily="2" charset="0"/>
                <a:sym typeface="Wingdings" pitchFamily="2" charset="2"/>
              </a:rPr>
              <a:t>Does increasing the starting FSH dose for expected poor responders help?</a:t>
            </a:r>
          </a:p>
          <a:p>
            <a:r>
              <a:rPr lang="en-US" sz="2000" dirty="0">
                <a:latin typeface="Helvetica" pitchFamily="2" charset="0"/>
                <a:sym typeface="Wingdings" pitchFamily="2" charset="2"/>
              </a:rPr>
              <a:t>Does decreasing the starting FSH dose for expected high responders (/those at risk of OHSS) help?</a:t>
            </a:r>
          </a:p>
        </p:txBody>
      </p:sp>
    </p:spTree>
    <p:extLst>
      <p:ext uri="{BB962C8B-B14F-4D97-AF65-F5344CB8AC3E}">
        <p14:creationId xmlns:p14="http://schemas.microsoft.com/office/powerpoint/2010/main" val="3937294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different colored squares&#10;&#10;AI-generated content may be incorrect.">
            <a:extLst>
              <a:ext uri="{FF2B5EF4-FFF2-40B4-BE49-F238E27FC236}">
                <a16:creationId xmlns:a16="http://schemas.microsoft.com/office/drawing/2014/main" id="{424511B5-27F3-FD3F-EE7A-0E73534C30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012" y="1837657"/>
            <a:ext cx="7335112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DE5730-3033-6307-DF6D-AA9A9913732F}"/>
              </a:ext>
            </a:extLst>
          </p:cNvPr>
          <p:cNvSpPr txBox="1"/>
          <p:nvPr/>
        </p:nvSpPr>
        <p:spPr>
          <a:xfrm>
            <a:off x="690465" y="245904"/>
            <a:ext cx="62955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latin typeface="Helvetica" pitchFamily="2" charset="0"/>
              </a:rPr>
              <a:t>Q: When looking at dose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Separate by protocol: Short Antagonist vs. Long agonist?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Separate by stimulation drug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Both will likely cause some sample size issues</a:t>
            </a:r>
          </a:p>
        </p:txBody>
      </p:sp>
      <p:pic>
        <p:nvPicPr>
          <p:cNvPr id="8" name="Picture 7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4F10CE7A-2AC8-3608-9DA0-523C76BB9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9" y="1837657"/>
            <a:ext cx="4265985" cy="1170238"/>
          </a:xfrm>
          <a:prstGeom prst="rect">
            <a:avLst/>
          </a:prstGeom>
        </p:spPr>
      </p:pic>
      <p:pic>
        <p:nvPicPr>
          <p:cNvPr id="10" name="Picture 9" descr="A close-up of a white box&#10;&#10;AI-generated content may be incorrect.">
            <a:extLst>
              <a:ext uri="{FF2B5EF4-FFF2-40B4-BE49-F238E27FC236}">
                <a16:creationId xmlns:a16="http://schemas.microsoft.com/office/drawing/2014/main" id="{1ED3777D-3C23-A764-D64C-6605CA1A5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541" y="3171784"/>
            <a:ext cx="41529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37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3096EA-7A22-2CF9-FD5F-6E6FD09C3967}"/>
              </a:ext>
            </a:extLst>
          </p:cNvPr>
          <p:cNvSpPr txBox="1"/>
          <p:nvPr/>
        </p:nvSpPr>
        <p:spPr>
          <a:xfrm>
            <a:off x="5439905" y="0"/>
            <a:ext cx="39212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>
                <a:latin typeface="Helvetica" pitchFamily="2" charset="0"/>
              </a:rPr>
              <a:t>Extra areas to explore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Split women into 2 age groups</a:t>
            </a:r>
          </a:p>
        </p:txBody>
      </p:sp>
      <p:pic>
        <p:nvPicPr>
          <p:cNvPr id="5" name="Picture 4" descr="A table of numbers and numbers&#10;&#10;AI-generated content may be incorrect.">
            <a:extLst>
              <a:ext uri="{FF2B5EF4-FFF2-40B4-BE49-F238E27FC236}">
                <a16:creationId xmlns:a16="http://schemas.microsoft.com/office/drawing/2014/main" id="{FD826DEF-B1BF-F9B4-9202-EEC09B018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3844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2C81A9-C6F3-930D-46C4-0C4605C61086}"/>
              </a:ext>
            </a:extLst>
          </p:cNvPr>
          <p:cNvSpPr txBox="1"/>
          <p:nvPr/>
        </p:nvSpPr>
        <p:spPr>
          <a:xfrm>
            <a:off x="4875214" y="1155916"/>
            <a:ext cx="6978192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latin typeface="Helvetica" pitchFamily="2" charset="0"/>
              </a:rPr>
              <a:t>Mann-Whitney U Tests for variables between 2 age groups</a:t>
            </a:r>
          </a:p>
          <a:p>
            <a:endParaRPr lang="en-US" sz="1700" dirty="0">
              <a:latin typeface="Helvetica" pitchFamily="2" charset="0"/>
            </a:endParaRPr>
          </a:p>
          <a:p>
            <a:r>
              <a:rPr lang="en-US" sz="1700" b="1" u="sng" dirty="0">
                <a:latin typeface="Helvetica" pitchFamily="2" charset="0"/>
              </a:rPr>
              <a:t>Baselines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Helvetica" pitchFamily="2" charset="0"/>
              </a:rPr>
              <a:t>Difference in baseline AMH (W=642.5, p=0.001)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Helvetica" pitchFamily="2" charset="0"/>
              </a:rPr>
              <a:t>Difference in baseline total follicles (W=894, p=0.00016)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Helvetica" pitchFamily="2" charset="0"/>
              </a:rPr>
              <a:t>No difference in Baseline endometrium or in BMI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>
              <a:latin typeface="Helvetica" pitchFamily="2" charset="0"/>
            </a:endParaRPr>
          </a:p>
          <a:p>
            <a:r>
              <a:rPr lang="en-US" sz="1700" b="1" u="sng" dirty="0">
                <a:latin typeface="Helvetica" pitchFamily="2" charset="0"/>
              </a:rPr>
              <a:t>Protocol Choices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Helvetica" pitchFamily="2" charset="0"/>
              </a:rPr>
              <a:t>Difference in total stimulation dose (W=499, p=0.0161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Helvetica" pitchFamily="2" charset="0"/>
              </a:rPr>
              <a:t>Difference in total </a:t>
            </a:r>
            <a:r>
              <a:rPr lang="en-US" sz="1700" dirty="0" err="1">
                <a:latin typeface="Helvetica" pitchFamily="2" charset="0"/>
              </a:rPr>
              <a:t>hMG</a:t>
            </a:r>
            <a:r>
              <a:rPr lang="en-US" sz="1700" dirty="0">
                <a:latin typeface="Helvetica" pitchFamily="2" charset="0"/>
              </a:rPr>
              <a:t> dose (W=561.6, p=0.0394)</a:t>
            </a:r>
          </a:p>
          <a:p>
            <a:r>
              <a:rPr lang="en-US" sz="1700" dirty="0">
                <a:latin typeface="Helvetica" pitchFamily="2" charset="0"/>
              </a:rPr>
              <a:t>No difference between total FSH dose</a:t>
            </a:r>
          </a:p>
          <a:p>
            <a:endParaRPr lang="en-US" sz="1700" dirty="0">
              <a:latin typeface="Helvetica" pitchFamily="2" charset="0"/>
            </a:endParaRPr>
          </a:p>
          <a:p>
            <a:r>
              <a:rPr lang="en-US" sz="1700" b="1" u="sng" dirty="0">
                <a:latin typeface="Helvetica" pitchFamily="2" charset="0"/>
              </a:rPr>
              <a:t>Final measures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Helvetica" pitchFamily="2" charset="0"/>
              </a:rPr>
              <a:t>Difference in final total follicles (W=964.5, p=0.00239)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Helvetica" pitchFamily="2" charset="0"/>
              </a:rPr>
              <a:t>Difference in final follicles &lt;11.9 (W=950, p=0.005732)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Helvetica" pitchFamily="2" charset="0"/>
              </a:rPr>
              <a:t>Difference in number of eggs (W=998.5, p=0.007713)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latin typeface="Helvetica" pitchFamily="2" charset="0"/>
              </a:rPr>
              <a:t>Difference in number of mature oocytes (W=1040.5, p=0.00199)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Helvetica" pitchFamily="2" charset="0"/>
              </a:rPr>
              <a:t>Difference in number of fertilized eggs (W=944, p=0.01156)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717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blue rectangular objects&#10;&#10;AI-generated content may be incorrect.">
            <a:extLst>
              <a:ext uri="{FF2B5EF4-FFF2-40B4-BE49-F238E27FC236}">
                <a16:creationId xmlns:a16="http://schemas.microsoft.com/office/drawing/2014/main" id="{3EA843AF-9E2E-77E1-9C38-C1828218F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39" y="2741331"/>
            <a:ext cx="5915610" cy="37220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C884F7-9673-5B33-E7F4-1B5869AD8C17}"/>
              </a:ext>
            </a:extLst>
          </p:cNvPr>
          <p:cNvSpPr txBox="1"/>
          <p:nvPr/>
        </p:nvSpPr>
        <p:spPr>
          <a:xfrm>
            <a:off x="317239" y="217564"/>
            <a:ext cx="9125341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Helvetica" pitchFamily="2" charset="0"/>
              </a:rPr>
              <a:t>For ageing women on the Short Antagonist Protocol, what influences mature oocyte yield?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Regression </a:t>
            </a:r>
            <a:r>
              <a:rPr lang="en-US" sz="2000" dirty="0">
                <a:latin typeface="Helvetica" pitchFamily="2" charset="0"/>
                <a:sym typeface="Wingdings" pitchFamily="2" charset="2"/>
              </a:rPr>
              <a:t> mature oocyte yield 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  <a:sym typeface="Wingdings" pitchFamily="2" charset="2"/>
              </a:rPr>
              <a:t>Binary logistic regression/Classification  create 2 groups low/high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  <a:sym typeface="Wingdings" pitchFamily="2" charset="2"/>
              </a:rPr>
              <a:t>E.g. optimum: 9-5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  <a:sym typeface="Wingdings" pitchFamily="2" charset="2"/>
              </a:rPr>
              <a:t>Low &lt;9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  <a:sym typeface="Wingdings" pitchFamily="2" charset="2"/>
              </a:rPr>
              <a:t>High &gt;15</a:t>
            </a:r>
            <a:endParaRPr lang="en-US" sz="2000" dirty="0">
              <a:latin typeface="Helvetica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449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C63450-E2B9-DAC8-0E24-D83C252A9867}"/>
              </a:ext>
            </a:extLst>
          </p:cNvPr>
          <p:cNvSpPr txBox="1"/>
          <p:nvPr/>
        </p:nvSpPr>
        <p:spPr>
          <a:xfrm>
            <a:off x="299798" y="469232"/>
            <a:ext cx="1159240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Further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ageing women with low AMH produce a different number of eggs compared to younger women with low AMH?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Are AMH levels lower in obese/overweight ageing women vs. non-non obese/overweight ageing women?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BMI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difference in BMI so likely this is necessary, just emerged in a paper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1A4E15-D2CA-55A3-FBDC-C7C8F48530BB}"/>
              </a:ext>
            </a:extLst>
          </p:cNvPr>
          <p:cNvSpPr txBox="1"/>
          <p:nvPr/>
        </p:nvSpPr>
        <p:spPr>
          <a:xfrm>
            <a:off x="299798" y="2743199"/>
            <a:ext cx="889711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OSI = Oocyte Sensitivity Index = Number of oocytes retrieved / Total FSH dose (</a:t>
            </a:r>
            <a:r>
              <a:rPr lang="en-US" dirty="0" err="1"/>
              <a:t>iu</a:t>
            </a:r>
            <a:r>
              <a:rPr lang="en-US" dirty="0"/>
              <a:t>) x 1000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can this be used?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R2 = 0.69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69074A5-6422-4CE5-FB72-59186205C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98" y="3674427"/>
            <a:ext cx="72517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832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704</Words>
  <Application>Microsoft Macintosh PowerPoint</Application>
  <PresentationFormat>Widescreen</PresentationFormat>
  <Paragraphs>89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Kristina Stoianova</dc:creator>
  <cp:lastModifiedBy>Kristina Stoianova</cp:lastModifiedBy>
  <cp:revision>1</cp:revision>
  <dcterms:created xsi:type="dcterms:W3CDTF">2026-04-08T08:48:15Z</dcterms:created>
  <dcterms:modified xsi:type="dcterms:W3CDTF">2026-04-08T11:31:35Z</dcterms:modified>
</cp:coreProperties>
</file>