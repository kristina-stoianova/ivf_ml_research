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notesSlides/notesSlide7.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notesSlides/notesSlide8.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ink/ink16.xml" ContentType="application/inkml+xml"/>
  <Override PartName="/ppt/notesSlides/notesSlide9.xml" ContentType="application/vnd.openxmlformats-officedocument.presentationml.notesSlide+xml"/>
  <Override PartName="/ppt/ink/ink17.xml" ContentType="application/inkml+xml"/>
  <Override PartName="/ppt/ink/ink18.xml" ContentType="application/inkml+xml"/>
  <Override PartName="/ppt/ink/ink19.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63" r:id="rId4"/>
    <p:sldId id="264" r:id="rId5"/>
    <p:sldId id="265" r:id="rId6"/>
    <p:sldId id="266" r:id="rId7"/>
    <p:sldId id="259" r:id="rId8"/>
    <p:sldId id="258" r:id="rId9"/>
    <p:sldId id="261" r:id="rId10"/>
    <p:sldId id="262" r:id="rId11"/>
    <p:sldId id="260" r:id="rId12"/>
    <p:sldId id="267" r:id="rId13"/>
    <p:sldId id="268" r:id="rId14"/>
    <p:sldId id="278" r:id="rId15"/>
    <p:sldId id="269" r:id="rId16"/>
    <p:sldId id="270" r:id="rId17"/>
    <p:sldId id="279" r:id="rId18"/>
    <p:sldId id="271" r:id="rId19"/>
    <p:sldId id="280" r:id="rId20"/>
    <p:sldId id="272" r:id="rId21"/>
    <p:sldId id="281" r:id="rId22"/>
    <p:sldId id="282" r:id="rId23"/>
    <p:sldId id="273" r:id="rId24"/>
    <p:sldId id="274" r:id="rId25"/>
    <p:sldId id="275" r:id="rId26"/>
    <p:sldId id="276" r:id="rId27"/>
    <p:sldId id="277" r:id="rId28"/>
    <p:sldId id="28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877"/>
    <p:restoredTop sz="78233"/>
  </p:normalViewPr>
  <p:slideViewPr>
    <p:cSldViewPr snapToGrid="0">
      <p:cViewPr varScale="1">
        <p:scale>
          <a:sx n="93" d="100"/>
          <a:sy n="93" d="100"/>
        </p:scale>
        <p:origin x="1056" y="200"/>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1T10:00:32.42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10,'65'0,"-7"0,-19 0,0 0,2 0,1 0,0 0,0 0,-3 0,-2 0,-1 0,0 0,1 0,2 0,0 0,2 0,-2 0,-5 0,-3 0,-6 0,-3 0,-1-1,-2-1,-2 0,-1-1,1 2,-1 1,3 0,0 0,0 0,0 0,1 0,1 0,1 0,0 0,-2 0,-6 0,3 0,-2 0,1 0,0 0,1 0,-2 0,4 0,-2 0,-4 0,4 0,0 0,-4 0,2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1T10:00:34.44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6,'58'0,"-1"0,-4 0,-2 0,44 0,-14 0,-1 0,-13 0,-2 0,-1 0,2 0,3 0,-4 0,-2 0,-4 0,-6 0,-3 0,-8 0,-3 0,-3 0,-2 0,1 0,-2 0,-2 0,3 0,1 0,7 0,6 0,1 0,-7 0,-9 0,-14-2,-6-1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1T10:00:37.92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1,'83'0,"-3"0,-18 0,-3 0,-3 0,-6 0,-7 0,-3 0,2 0,1 0,3 0,2 0,-1 0,2 0,1 0,-2 0,0 0,-6 0,-2 0,2 0,-1 0,2 0,-5 0,-6 0,-3 0,-5 0,-2 0,-2 0,2 0,2 0,4 0,-1 0,-2 0,-8 0,-4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1T10:00:39.84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0,'99'0,"-1"0,-12 0,2 0,0 0,-7 0,-2 0,-1 0,3 0,3 0,-3 0,-7 0,-10 0,-7 0,-7 0,-3 0,-4 0,-7 0,-5 0,-6 0,-1 0,1 0,2 0,1 0,0 0,-4 0,-4 0,-3 0,-1 0,1 0,0 0,-3 0,-2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1T08:28:47.99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1 150,'59'0,"6"0,-2 0,6 0,5 0,-6 0,-5 0,-1 0,-2 0,11 3,11 0,9 2,5 1,-2 0,-8 3,-8 0,-8 0,-5-3,-1-4,2-2,4 1,0 2,2 2,-5 2,-1 1,3-3,1-3,5-1,2-1,-2 0,-6 0,-3 0,0 0,3 0,10 0,5 0,3 0,-2 0,-4 0,1 0,-4 0,-1 0,-1 0,-3 0,-3 0,-4 0,-3 0,-2 0,-1 0,-2 0,-2 0,-3 0,-1 0,-1 0,1 0,5 0,1 0,3 0,2 0,3 0,2 0,2 0,-4 0,-4 0,-6 0,-4-1,-1-1,1-2,4-1,5-2,3 2,4-1,2 0,-1 0,-3 0,0 2,0-2,-1-1,-1-1,-4-2,-7 3,-7 1,-3 1,0 0,6 0,10 2,6-2,1 2,1 0,3 0,1 1,2-1,-5 0,-5 0,-4 3,-2 0,2 0,5-2,11-2,10 0,5-1,3 2,-6-2,-9 0,-9 2,-8 0,-8 3,-3 0,-2 0,2-2,6-1,7 0,2 1,1 0,-1-2,-1 1,-2 1,0 2,-2 0,2 0,3 0,-2 0,1 0,-3 0,-5 0,-10 0,-11 0,-8 0,1 0,8 0,9 0,2 0,-8-2,-15-17,-13 13,-8-12</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1T08:28:51.36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1 130,'82'0,"1"0,-1 0,10 0,2 0,3 0,-17 0,2 0,1 0,2 0,4 0,2 0,-1 0,0 0,-6 0,0 0,-1 0,-1 0,-1 0,0 0,-1 0,-3 0,14 0,-2 0,-4 0,-9 0,-2 0,-3 0,21 0,-4 0,-12 0,-3 0,-4 0,-2 0,-6 0,-1 0,-4 0,0 0,-3 0,-1 0,39 0,-13 0,-7 0,0 0,8 0,10 0,8 0,0 0,-1 0,1 0,2 0,-45 0,0 0,3-2,2 1,3-1,2 0,2 0,0 0,0 1,0 0,-2 0,0 2,-3-1,0 0,-1 0,-1 0,2 0,-1 0,1 0,0 0,0 0,-1 0,1 0,-1 0,-3 0,-1 0,-1 0,-1 0,-3 0,-1 0,40 0,-9 0,-11 0,-7-3,-1 0,1-1,7-1,9 2,8-1,8-1,4-1,-47 1,0 1,3 0,-1 0,0 0,-1 0,-2 1,-1 0,35 0,-14 0,-6 2,-2-2,3-2,4 0,6-2,8 1,9 2,4 1,-47 1,0 0,46-1,-7 0,-11 0,-10 3,-5 0,-3 0,-3 0,-3 0,-2 0,1 0,-3 0,5 0,8 0,10 0,13 0,9 0,0 0,-8 0,-16 0,-22 0,-17 0,-16 0,-5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1T10:10:56.37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9,'58'-2,"1"-1,9 1,4 1,17 0,2 2,4-1,1 0,-4 0,0 0,-2 0,-1 0,-6 0,-1 0,-1 0,-1 0,-1 0,-1 0,-3 0,0 0,4 0,0 0,-3 0,1 0,3 1,0 1,4 1,0 1,-2 0,-1-1,-1 1,-2-1,-6-1,-1-1,-4 0,-1-2,0 1,-1 1,1 0,1 1,2 1,2 2,-1 0,-1 3,0 0,-1 1,-1 0,0 0,-3-1,-1 1,0-2,0 0,1-1,-1 0,-1-2,-1-1,-2 0,1-2,-2 1,1 0,-2-1,1 2,2-1,1 2,0 0,1 1,-1-1,0-1,-1 0,0 0,-1 0,0 0,1-1,0-1,0 1,1 0,-2 0,0-1,-1-1,1 0,-4 0,0 0,-3 0,-1 0,45 0,-10 0,-5 0,1 0,2 0,5 0,2 0,2 0,2-3,3 0,-45-1,2 1,2 0,1-1,3 2,2 1,0-1,0 1,-2 0,0 2,-4-1,-1 0,-5 0,-1 0,44 0,-5 0,1 0,2 0,4 0,1-3,0 0,-5-1,-8 2,-7 2,1 0,4 0,13 0,-42 0,0 0,4 0,0 0,0 0,0 0,-2 0,-1 0,-3 0,-1 0,42 0,-9 0,-15 0,-12 0,-9 0,-7 0,-4 0,-5 0,-3 0,-3 0,0 0,6 0,2 0,3 0,-9-7,-49-19,18 13,-35-11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1T10:10:57.84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72,'74'0,"7"0,4 0,9 0,5 0,-2 0,-6 0,-7 0,-11 0,-8 0,-3 0,1 0,3-2,2-1,-6-1,-11 2,-13 2,-13 0,-6 0,0-4,2-2,1 1,-1 1,-2 4,0 0,-3-2,-6-15,-4-5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1T10:12:16.52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0,'66'0,"3"0,-2 0,10 0,10 0,11 0,-46 0,0 0,46 0,-9 0,-10 0,-12 0,-8 0,-7 0,-5 2,-2 1,8 2,13 2,13 1,6 2,-9 1,-19 0,-18-2,-15-3,-21-14,-6-5</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1T10:12:18.34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0,'51'0,"0"0,12 0,5 0,10 0,3 0,3 0,0 0,-3 0,-2 0,-7 0,-1 0,-7 0,-1 0,-2 0,-3 0,-5 0,-2 0,39 0,-6 0,-4 0,-2 0,-4 0,-8 0,-11 0,-9 0,-10 2,-10 1,-5 1,-6 1,-2-1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1T10:12:24.47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40,'87'0,"0"0,10 0,3 0,-28 0,2 0,0 0,2 0,-1 0,0 0,-7 0,-1 0,-2 0,25 0,-3 0,-9 0,-2 0,-5 0,0 0,1 0,0 0,-1 0,0 0,1 0,-1 0,0 0,-1 0,-4 0,0 0,-3 0,0 0,-1 0,-1 1,-1 0,0 2,4 0,0 2,4 1,2 0,3 0,0 0,4 1,0-2,2 1,0 0,1-1,0 1,0 1,0 0,1 0,-2 0,-5 0,-1 0,-6-1,-2-1,-5-1,-1-1,-5-2,0 0,1 0,1-2,3 1,2 0,6 0,1 0,5 0,1 0,3 0,2 0,2 0,1 0,-3 0,0 0,-1 0,0 0,-3 0,0 0,-2 0,0 0,0 0,0 0,-2 0,-1 0,-2 0,-1 0,-2 0,-1 0,-2 0,-1 0,-1 0,-1 0,1 0,-1 0,0 0,0 0,-3 0,-1 0,-3 0,-3 0,37 0,-7 0,10 0,-39 0,3 0,8 0,2 0,3 0,1 0,-3 0,-2 0,-5 0,-3 0,34 0,-26-2,-16-5,-10-4,-8-2,-5 0,-4 3,-5-1,0-1,1-2,-1-6,-5-8,-4 13,-5-2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1T10:12:25.75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95,'56'0,"0"0,8 0,3 0,14 0,2 0,1 0,-1 0,-1 0,0 0,-5 0,-2 0,-4 0,0 0,-4 0,0 0,-3 0,0 0,-1 0,1 0,2 0,1 0,6 0,0 0,0 0,-1 0,-5 0,-3 0,-10 0,-4 0,20 0,-28 0,-18 0,-10 0,11 0,2 0,13 0,-5 0,-6 0,-7 0,1 0,-1-4,-16-35,4 26,-18-26</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1T10:25:29.37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79,'75'0,"2"0,3 0,17 0,-38 0,2 0,10 0,2 0,2 0,2 0,2 0,-1 0,1 0,-2 0,-1 0,0 0,0 0,-1 0,-2 0,-1 0,-3 0,0 0,0 0,0 0,-1 0,1 0,-4 0,-1 0,-3 0,-2 0,-6 0,-1 0,45 0,-4 0,5 3,-43-1,1 0,4 2,1 0,5 1,1 0,2-1,2 2,-1-1,1 1,-2-2,0 0,-3 0,0-1,-6 0,-1 0,-5-1,-2 0,45 1,-7 0,-1-3,4 0,-42 0,1 0,5 0,2 0,3 0,1 0,4 0,0 0,3 0,0 0,0 0,1 0,0 0,-1 0,-2 0,0 0,-4 0,-2 0,-4 0,-1 0,-5 0,0 0,-1-1,1 0,1-1,1 1,7-1,2 0,5 0,3 1,2 0,0 0,0 1,-1 0,-3 0,-1 0,-5 0,-3 0,-3 0,-1 0,-5 0,-1 0,41 0,-2 0,3 0,-41 0,0 0,4 0,1 0,0 0,-1 0,-2 1,-2 1,39 1,-12 0,7 0,15-3,-44 0,1 0,5 0,-1 0,-5 0,-1 0,35 0,-13 0,-3 0,4-2,3-4,-7-3,-17-2,-18 2,-12 4,-8 1,-6-1,1-5,-4-4,1-3,-4-12,-4 15,-1-4</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1T10:25:30.39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61,'87'0,"0"0,10 0,2 0,0 0,1 0,-31 0,-1 0,0 0,24 0,-3 0,-12 0,-4 0,-8 0,-3 0,37 0,-19 0,-13 0,-11 0,-3 0,-2 0,-1 0,-4 0,-7 0,-10 0,-11-2,-38-23,15 17,-25-18</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1T10:27:56.19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77,'96'0,"-46"0,1 0,9 0,2 0,-1 0,0 0,-2 0,-1 0,-2 0,0 0,39 0,-15 0,-16 0,-14 0,-4 0,8 0,8 0,3 0,-10 0,-23-10,-33-16,-1 10,-14-8</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1T10:27:57.57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5,'99'0,"-1"0,-26 0,2 0,3 0,11 0,2 0,0 0,-2 0,0 0,-2 0,-6 0,-1 0,-5 0,16 0,-9 0,17 0,-46-2,-33 2,-19-2</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1T10:38:19.78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1 559,'60'0,"0"0,8 0,8 0,3 0,-4 0,3 0,4 0,2 0,-4 0,3 0,2 0,1 0,-1 0,4 0,0 0,1 0,-1 0,0 0,-5 0,0 0,-1 0,0 0,-1 0,16 0,0 0,-2 0,-2 0,-9 0,-2 0,-1 0,-2 0,19 0,-3 0,-2 0,-7 0,-3 0,0 0,-7 0,0 0,-3 0,-4 0,-1 0,-2 0,25 0,-2 0,-4 0,-2 0,-7 0,-1 0,1 0,1 0,1-2,1 0,4-1,0-2,3 0,1-1,-1 0,-1 1,-1 2,-1 0,1 1,1 0,1 0,0 1,0-2,-1 0,3-1,-1 1,-3 1,-2 0,-6 0,-1 1,-2 1,-1 0,-7 0,-1 0,-4-1,0-1,-4 1,-1-1,-1-1,-1-1,0 0,-1 0,0 0,1-1,2-1,1 0,0-1,0 1,-3 1,-1 0,46-4,-6 3,4 3,-44 1,1 1,3 1,0 0,0 0,0 0,-4 0,-1 0,38 0,-11 0,-21 0,-5 0,2 0,1-2,8-1,-2-3,1-2,4-1,8-3,2-2,4 1,-5 0,-7 3,-7 1,-11 0,-8 1,-10-4,-8-3,-4-1,-2 0,-2-1,-2 0,-1 0,-2 3,3 4,-2 2,0 1,-1-7,-6 0,-1-4,-5 1,0-5,0-3,0 8,0 3</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1T10:38:24.75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1,'81'0,"-7"0,-19 0,-5 0,3 0,1 0,4 0,-2 0,-11 0,-9 0,-6 2,0 3,4 0,7 2,2 0,-3-1,-18-1,-8-3</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01T10:38:45.03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0 119,'75'0,"0"0,4 0,0 0,0 0,-1 0,3-1,-1-1,-6-2,-1 0,-7-2,-1-1,-9-1,-3 0,37-5,-13 3,-12 4,-7 1,-11 1,-5-1,-6 0,1 0,2 0,0 0,2 0,-6 2,-6 1,-6 2,3 0,8 0,3-3,-12 3,-9-2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3FBA-28A2-B848-B6BA-D3ABDB2B0549}" type="datetimeFigureOut">
              <a:rPr lang="en-US" smtClean="0"/>
              <a:t>4/8/26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3E23EF-53B4-7145-B91E-F80D413DC0BF}" type="slidenum">
              <a:rPr lang="en-US" smtClean="0"/>
              <a:t>‹#›</a:t>
            </a:fld>
            <a:endParaRPr lang="en-US"/>
          </a:p>
        </p:txBody>
      </p:sp>
    </p:spTree>
    <p:extLst>
      <p:ext uri="{BB962C8B-B14F-4D97-AF65-F5344CB8AC3E}">
        <p14:creationId xmlns:p14="http://schemas.microsoft.com/office/powerpoint/2010/main" val="60038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C3E23EF-53B4-7145-B91E-F80D413DC0BF}" type="slidenum">
              <a:rPr lang="en-US" smtClean="0"/>
              <a:t>1</a:t>
            </a:fld>
            <a:endParaRPr lang="en-US"/>
          </a:p>
        </p:txBody>
      </p:sp>
    </p:spTree>
    <p:extLst>
      <p:ext uri="{BB962C8B-B14F-4D97-AF65-F5344CB8AC3E}">
        <p14:creationId xmlns:p14="http://schemas.microsoft.com/office/powerpoint/2010/main" val="32554246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C3E23EF-53B4-7145-B91E-F80D413DC0BF}" type="slidenum">
              <a:rPr lang="en-US" smtClean="0"/>
              <a:t>11</a:t>
            </a:fld>
            <a:endParaRPr lang="en-US"/>
          </a:p>
        </p:txBody>
      </p:sp>
    </p:spTree>
    <p:extLst>
      <p:ext uri="{BB962C8B-B14F-4D97-AF65-F5344CB8AC3E}">
        <p14:creationId xmlns:p14="http://schemas.microsoft.com/office/powerpoint/2010/main" val="1644657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got other graphs on FSH dose and </a:t>
            </a:r>
            <a:r>
              <a:rPr lang="en-US" dirty="0" err="1"/>
              <a:t>hMG</a:t>
            </a:r>
            <a:r>
              <a:rPr lang="en-US" dirty="0"/>
              <a:t> dose individually</a:t>
            </a:r>
          </a:p>
          <a:p>
            <a:r>
              <a:rPr lang="en-US" dirty="0"/>
              <a:t>Boxplots too </a:t>
            </a:r>
          </a:p>
        </p:txBody>
      </p:sp>
      <p:sp>
        <p:nvSpPr>
          <p:cNvPr id="4" name="Slide Number Placeholder 3"/>
          <p:cNvSpPr>
            <a:spLocks noGrp="1"/>
          </p:cNvSpPr>
          <p:nvPr>
            <p:ph type="sldNum" sz="quarter" idx="5"/>
          </p:nvPr>
        </p:nvSpPr>
        <p:spPr/>
        <p:txBody>
          <a:bodyPr/>
          <a:lstStyle/>
          <a:p>
            <a:fld id="{5C3E23EF-53B4-7145-B91E-F80D413DC0BF}" type="slidenum">
              <a:rPr lang="en-US" smtClean="0"/>
              <a:t>13</a:t>
            </a:fld>
            <a:endParaRPr lang="en-US"/>
          </a:p>
        </p:txBody>
      </p:sp>
    </p:spTree>
    <p:extLst>
      <p:ext uri="{BB962C8B-B14F-4D97-AF65-F5344CB8AC3E}">
        <p14:creationId xmlns:p14="http://schemas.microsoft.com/office/powerpoint/2010/main" val="26791010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Gonadotropin dosing appears to be influenced by ovarian reserve/AMH</a:t>
            </a:r>
          </a:p>
          <a:p>
            <a:r>
              <a:rPr lang="en-US" dirty="0"/>
              <a:t>Perhaps to a lesser extent by age</a:t>
            </a:r>
          </a:p>
          <a:p>
            <a:r>
              <a:rPr lang="en-US" dirty="0"/>
              <a:t>Substantial variability </a:t>
            </a:r>
            <a:r>
              <a:rPr lang="en-US" dirty="0">
                <a:sym typeface="Wingdings" pitchFamily="2" charset="2"/>
              </a:rPr>
              <a:t> inconsistency in clinical decision-making</a:t>
            </a:r>
          </a:p>
          <a:p>
            <a:endParaRPr lang="en-US" dirty="0">
              <a:sym typeface="Wingdings" pitchFamily="2" charset="2"/>
            </a:endParaRPr>
          </a:p>
          <a:p>
            <a:r>
              <a:rPr lang="en-US" dirty="0">
                <a:sym typeface="Wingdings" pitchFamily="2" charset="2"/>
              </a:rPr>
              <a:t>Negative Binomial Regression model (Mature eggs ~ AMH + Dose) did not show dose effects  AMH explains everything and dose adds little independent info</a:t>
            </a:r>
          </a:p>
          <a:p>
            <a:r>
              <a:rPr lang="en-US" dirty="0">
                <a:sym typeface="Wingdings" pitchFamily="2" charset="2"/>
              </a:rPr>
              <a:t>Model showed negative effects of </a:t>
            </a:r>
            <a:r>
              <a:rPr lang="en-US" dirty="0" err="1">
                <a:sym typeface="Wingdings" pitchFamily="2" charset="2"/>
              </a:rPr>
              <a:t>hMG</a:t>
            </a:r>
            <a:r>
              <a:rPr lang="en-US" dirty="0">
                <a:sym typeface="Wingdings" pitchFamily="2" charset="2"/>
              </a:rPr>
              <a:t> (</a:t>
            </a:r>
            <a:r>
              <a:rPr lang="en-US" dirty="0" err="1">
                <a:sym typeface="Wingdings" pitchFamily="2" charset="2"/>
              </a:rPr>
              <a:t>hMG</a:t>
            </a:r>
            <a:r>
              <a:rPr lang="en-US" dirty="0">
                <a:sym typeface="Wingdings" pitchFamily="2" charset="2"/>
              </a:rPr>
              <a:t>  fewer eggs)</a:t>
            </a:r>
          </a:p>
          <a:p>
            <a:r>
              <a:rPr lang="en-US" dirty="0">
                <a:sym typeface="Wingdings" pitchFamily="2" charset="2"/>
              </a:rPr>
              <a:t>- Low AMH  administer </a:t>
            </a:r>
            <a:r>
              <a:rPr lang="en-US" dirty="0" err="1">
                <a:sym typeface="Wingdings" pitchFamily="2" charset="2"/>
              </a:rPr>
              <a:t>hMG</a:t>
            </a:r>
            <a:r>
              <a:rPr lang="en-US" dirty="0">
                <a:sym typeface="Wingdings" pitchFamily="2" charset="2"/>
              </a:rPr>
              <a:t>  fewer eggs</a:t>
            </a:r>
          </a:p>
          <a:p>
            <a:endParaRPr lang="en-US" dirty="0">
              <a:sym typeface="Wingdings" pitchFamily="2" charset="2"/>
            </a:endParaRPr>
          </a:p>
          <a:p>
            <a:pPr marL="171450" indent="-171450">
              <a:buFontTx/>
              <a:buChar char="-"/>
            </a:pPr>
            <a:r>
              <a:rPr lang="en-US" dirty="0">
                <a:sym typeface="Wingdings" pitchFamily="2" charset="2"/>
              </a:rPr>
              <a:t>Dose is correlated with AMH</a:t>
            </a:r>
          </a:p>
          <a:p>
            <a:pPr marL="171450" indent="-171450">
              <a:buFontTx/>
              <a:buChar char="-"/>
            </a:pPr>
            <a:r>
              <a:rPr lang="en-US" dirty="0">
                <a:sym typeface="Wingdings" pitchFamily="2" charset="2"/>
              </a:rPr>
              <a:t>FSH total dose x AMH = -0.36</a:t>
            </a:r>
          </a:p>
          <a:p>
            <a:pPr marL="171450" indent="-171450">
              <a:buFontTx/>
              <a:buChar char="-"/>
            </a:pPr>
            <a:r>
              <a:rPr lang="en-US" dirty="0">
                <a:sym typeface="Wingdings" pitchFamily="2" charset="2"/>
              </a:rPr>
              <a:t>FSH final dose x AMH = -0.40</a:t>
            </a:r>
          </a:p>
          <a:p>
            <a:pPr marL="171450" indent="-171450">
              <a:buFontTx/>
              <a:buChar char="-"/>
            </a:pPr>
            <a:r>
              <a:rPr lang="en-US" dirty="0">
                <a:sym typeface="Wingdings" pitchFamily="2" charset="2"/>
              </a:rPr>
              <a:t>FSH min dose x AMH = -0.45</a:t>
            </a:r>
          </a:p>
          <a:p>
            <a:pPr marL="171450" indent="-171450">
              <a:buFontTx/>
              <a:buChar char="-"/>
            </a:pPr>
            <a:r>
              <a:rPr lang="en-US" dirty="0">
                <a:sym typeface="Wingdings" pitchFamily="2" charset="2"/>
              </a:rPr>
              <a:t>FSH dose changes x AMH = 0.41</a:t>
            </a:r>
          </a:p>
          <a:p>
            <a:pPr marL="171450" indent="-171450">
              <a:buFontTx/>
              <a:buChar char="-"/>
            </a:pPr>
            <a:r>
              <a:rPr lang="en-US" dirty="0">
                <a:sym typeface="Wingdings" pitchFamily="2" charset="2"/>
              </a:rPr>
              <a:t>FSH change day 1 = 0.40</a:t>
            </a:r>
          </a:p>
          <a:p>
            <a:pPr marL="171450" indent="-171450">
              <a:buFontTx/>
              <a:buChar char="-"/>
            </a:pPr>
            <a:r>
              <a:rPr lang="en-US" dirty="0">
                <a:sym typeface="Wingdings" pitchFamily="2" charset="2"/>
              </a:rPr>
              <a:t>FSH avg daily = -0.43</a:t>
            </a:r>
          </a:p>
          <a:p>
            <a:pPr marL="171450" indent="-171450">
              <a:buFontTx/>
              <a:buChar char="-"/>
            </a:pPr>
            <a:endParaRPr lang="en-US" dirty="0">
              <a:sym typeface="Wingdings" pitchFamily="2" charset="2"/>
            </a:endParaRPr>
          </a:p>
          <a:p>
            <a:pPr marL="171450" indent="-171450">
              <a:buFontTx/>
              <a:buChar char="-"/>
            </a:pPr>
            <a:r>
              <a:rPr lang="en-US" dirty="0" err="1">
                <a:sym typeface="Wingdings" pitchFamily="2" charset="2"/>
              </a:rPr>
              <a:t>hMG</a:t>
            </a:r>
            <a:r>
              <a:rPr lang="en-US" dirty="0">
                <a:sym typeface="Wingdings" pitchFamily="2" charset="2"/>
              </a:rPr>
              <a:t> duration = -0.34</a:t>
            </a:r>
          </a:p>
          <a:p>
            <a:pPr marL="171450" indent="-171450">
              <a:buFontTx/>
              <a:buChar char="-"/>
            </a:pPr>
            <a:r>
              <a:rPr lang="en-US" dirty="0" err="1">
                <a:sym typeface="Wingdings" pitchFamily="2" charset="2"/>
              </a:rPr>
              <a:t>hMG</a:t>
            </a:r>
            <a:r>
              <a:rPr lang="en-US" dirty="0">
                <a:sym typeface="Wingdings" pitchFamily="2" charset="2"/>
              </a:rPr>
              <a:t> total dose = -0.28</a:t>
            </a:r>
          </a:p>
          <a:p>
            <a:pPr marL="171450" indent="-171450">
              <a:buFontTx/>
              <a:buChar char="-"/>
            </a:pPr>
            <a:endParaRPr lang="en-US" dirty="0">
              <a:sym typeface="Wingdings" pitchFamily="2" charset="2"/>
            </a:endParaRPr>
          </a:p>
          <a:p>
            <a:pPr marL="171450" indent="-171450">
              <a:buFontTx/>
              <a:buChar char="-"/>
            </a:pPr>
            <a:r>
              <a:rPr lang="en-US" dirty="0">
                <a:sym typeface="Wingdings" pitchFamily="2" charset="2"/>
              </a:rPr>
              <a:t>Clinically 2 decisions: give </a:t>
            </a:r>
            <a:r>
              <a:rPr lang="en-US" dirty="0" err="1">
                <a:sym typeface="Wingdings" pitchFamily="2" charset="2"/>
              </a:rPr>
              <a:t>hMG</a:t>
            </a:r>
            <a:r>
              <a:rPr lang="en-US" dirty="0">
                <a:sym typeface="Wingdings" pitchFamily="2" charset="2"/>
              </a:rPr>
              <a:t> (y/n), if y how much?</a:t>
            </a:r>
          </a:p>
          <a:p>
            <a:pPr marL="171450" indent="-171450">
              <a:buFontTx/>
              <a:buChar char="-"/>
            </a:pPr>
            <a:r>
              <a:rPr lang="en-US" dirty="0" err="1">
                <a:sym typeface="Wingdings" pitchFamily="2" charset="2"/>
              </a:rPr>
              <a:t>hMG</a:t>
            </a:r>
            <a:r>
              <a:rPr lang="en-US" dirty="0">
                <a:sym typeface="Wingdings" pitchFamily="2" charset="2"/>
              </a:rPr>
              <a:t> likely used in poorer responders, low AMH patients, maybe older</a:t>
            </a:r>
          </a:p>
          <a:p>
            <a:pPr marL="171450" indent="-171450">
              <a:buFontTx/>
              <a:buChar char="-"/>
            </a:pPr>
            <a:endParaRPr lang="en-US" dirty="0">
              <a:sym typeface="Wingdings" pitchFamily="2" charset="2"/>
            </a:endParaRPr>
          </a:p>
          <a:p>
            <a:pPr marL="171450" indent="-171450">
              <a:buFontTx/>
              <a:buChar char="-"/>
            </a:pPr>
            <a:endParaRPr lang="en-US" dirty="0">
              <a:sym typeface="Wingdings" pitchFamily="2" charset="2"/>
            </a:endParaRPr>
          </a:p>
          <a:p>
            <a:pPr marL="171450" indent="-171450">
              <a:buFontTx/>
              <a:buChar char="-"/>
            </a:pPr>
            <a:r>
              <a:rPr lang="en-US" dirty="0">
                <a:sym typeface="Wingdings" pitchFamily="2" charset="2"/>
              </a:rPr>
              <a:t>Explore: treatment is not random --&gt; it is assigned based on patient characteristics/profile</a:t>
            </a:r>
          </a:p>
          <a:p>
            <a:pPr marL="171450" indent="-171450">
              <a:buFontTx/>
              <a:buChar char="-"/>
            </a:pPr>
            <a:r>
              <a:rPr lang="en-US" dirty="0">
                <a:sym typeface="Wingdings" pitchFamily="2" charset="2"/>
              </a:rPr>
              <a:t>Treatment assignment modelling  which patient characteristics influence the dose prescribed, model dose classes and the probability of getting a certain dose</a:t>
            </a:r>
          </a:p>
          <a:p>
            <a:pPr marL="171450" indent="-171450">
              <a:buFontTx/>
              <a:buChar char="-"/>
            </a:pPr>
            <a:r>
              <a:rPr lang="en-US" dirty="0">
                <a:sym typeface="Wingdings" pitchFamily="2" charset="2"/>
              </a:rPr>
              <a:t>P(</a:t>
            </a:r>
            <a:r>
              <a:rPr lang="en-US" dirty="0" err="1">
                <a:sym typeface="Wingdings" pitchFamily="2" charset="2"/>
              </a:rPr>
              <a:t>Dose|Patient</a:t>
            </a:r>
            <a:r>
              <a:rPr lang="en-US" dirty="0">
                <a:sym typeface="Wingdings" pitchFamily="2" charset="2"/>
              </a:rPr>
              <a:t> characteristics)</a:t>
            </a:r>
          </a:p>
          <a:p>
            <a:pPr marL="171450" indent="-171450">
              <a:buFontTx/>
              <a:buChar char="-"/>
            </a:pPr>
            <a:endParaRPr lang="en-US" dirty="0">
              <a:sym typeface="Wingdings" pitchFamily="2" charset="2"/>
            </a:endParaRPr>
          </a:p>
        </p:txBody>
      </p:sp>
      <p:sp>
        <p:nvSpPr>
          <p:cNvPr id="4" name="Slide Number Placeholder 3"/>
          <p:cNvSpPr>
            <a:spLocks noGrp="1"/>
          </p:cNvSpPr>
          <p:nvPr>
            <p:ph type="sldNum" sz="quarter" idx="5"/>
          </p:nvPr>
        </p:nvSpPr>
        <p:spPr/>
        <p:txBody>
          <a:bodyPr/>
          <a:lstStyle/>
          <a:p>
            <a:fld id="{5C3E23EF-53B4-7145-B91E-F80D413DC0BF}" type="slidenum">
              <a:rPr lang="en-US" smtClean="0"/>
              <a:t>15</a:t>
            </a:fld>
            <a:endParaRPr lang="en-US"/>
          </a:p>
        </p:txBody>
      </p:sp>
    </p:spTree>
    <p:extLst>
      <p:ext uri="{BB962C8B-B14F-4D97-AF65-F5344CB8AC3E}">
        <p14:creationId xmlns:p14="http://schemas.microsoft.com/office/powerpoint/2010/main" val="39918633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15 values dropped due to missing values </a:t>
            </a:r>
            <a:r>
              <a:rPr lang="en-US" dirty="0">
                <a:sym typeface="Wingdings" pitchFamily="2" charset="2"/>
              </a:rPr>
              <a:t> even smaller n</a:t>
            </a:r>
          </a:p>
          <a:p>
            <a:r>
              <a:rPr lang="en-US" dirty="0">
                <a:sym typeface="Wingdings" pitchFamily="2" charset="2"/>
              </a:rPr>
              <a:t>Multiple R2 higher than Adjusted R2 as expected  not massive difference therefore not massive overfitting</a:t>
            </a:r>
          </a:p>
          <a:p>
            <a:r>
              <a:rPr lang="en-US" dirty="0">
                <a:sym typeface="Wingdings" pitchFamily="2" charset="2"/>
              </a:rPr>
              <a:t>Low R2 but likely ok for this kind of clinical data and the sample size </a:t>
            </a:r>
            <a:endParaRPr lang="en-US" dirty="0"/>
          </a:p>
        </p:txBody>
      </p:sp>
      <p:sp>
        <p:nvSpPr>
          <p:cNvPr id="4" name="Slide Number Placeholder 3"/>
          <p:cNvSpPr>
            <a:spLocks noGrp="1"/>
          </p:cNvSpPr>
          <p:nvPr>
            <p:ph type="sldNum" sz="quarter" idx="5"/>
          </p:nvPr>
        </p:nvSpPr>
        <p:spPr/>
        <p:txBody>
          <a:bodyPr/>
          <a:lstStyle/>
          <a:p>
            <a:fld id="{5C3E23EF-53B4-7145-B91E-F80D413DC0BF}" type="slidenum">
              <a:rPr lang="en-US" smtClean="0"/>
              <a:t>16</a:t>
            </a:fld>
            <a:endParaRPr lang="en-US"/>
          </a:p>
        </p:txBody>
      </p:sp>
    </p:spTree>
    <p:extLst>
      <p:ext uri="{BB962C8B-B14F-4D97-AF65-F5344CB8AC3E}">
        <p14:creationId xmlns:p14="http://schemas.microsoft.com/office/powerpoint/2010/main" val="650890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Female factor patient ovarian reserve is depleted by ageing and underlying aetiology </a:t>
            </a:r>
          </a:p>
        </p:txBody>
      </p:sp>
      <p:sp>
        <p:nvSpPr>
          <p:cNvPr id="4" name="Slide Number Placeholder 3"/>
          <p:cNvSpPr>
            <a:spLocks noGrp="1"/>
          </p:cNvSpPr>
          <p:nvPr>
            <p:ph type="sldNum" sz="quarter" idx="5"/>
          </p:nvPr>
        </p:nvSpPr>
        <p:spPr/>
        <p:txBody>
          <a:bodyPr/>
          <a:lstStyle/>
          <a:p>
            <a:fld id="{5C3E23EF-53B4-7145-B91E-F80D413DC0BF}" type="slidenum">
              <a:rPr lang="en-US" smtClean="0"/>
              <a:t>17</a:t>
            </a:fld>
            <a:endParaRPr lang="en-US"/>
          </a:p>
        </p:txBody>
      </p:sp>
    </p:spTree>
    <p:extLst>
      <p:ext uri="{BB962C8B-B14F-4D97-AF65-F5344CB8AC3E}">
        <p14:creationId xmlns:p14="http://schemas.microsoft.com/office/powerpoint/2010/main" val="32289821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Including AMH + Age x Aetiology </a:t>
            </a:r>
            <a:r>
              <a:rPr lang="en-US" dirty="0">
                <a:sym typeface="Wingdings" pitchFamily="2" charset="2"/>
              </a:rPr>
              <a:t> increases AIC</a:t>
            </a:r>
            <a:endParaRPr lang="en-US" dirty="0"/>
          </a:p>
        </p:txBody>
      </p:sp>
      <p:sp>
        <p:nvSpPr>
          <p:cNvPr id="4" name="Slide Number Placeholder 3"/>
          <p:cNvSpPr>
            <a:spLocks noGrp="1"/>
          </p:cNvSpPr>
          <p:nvPr>
            <p:ph type="sldNum" sz="quarter" idx="5"/>
          </p:nvPr>
        </p:nvSpPr>
        <p:spPr/>
        <p:txBody>
          <a:bodyPr/>
          <a:lstStyle/>
          <a:p>
            <a:fld id="{5C3E23EF-53B4-7145-B91E-F80D413DC0BF}" type="slidenum">
              <a:rPr lang="en-US" smtClean="0"/>
              <a:t>19</a:t>
            </a:fld>
            <a:endParaRPr lang="en-US"/>
          </a:p>
        </p:txBody>
      </p:sp>
    </p:spTree>
    <p:extLst>
      <p:ext uri="{BB962C8B-B14F-4D97-AF65-F5344CB8AC3E}">
        <p14:creationId xmlns:p14="http://schemas.microsoft.com/office/powerpoint/2010/main" val="2967629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prediction stats</a:t>
            </a:r>
          </a:p>
          <a:p>
            <a:endParaRPr lang="en-US" dirty="0"/>
          </a:p>
        </p:txBody>
      </p:sp>
      <p:sp>
        <p:nvSpPr>
          <p:cNvPr id="4" name="Slide Number Placeholder 3"/>
          <p:cNvSpPr>
            <a:spLocks noGrp="1"/>
          </p:cNvSpPr>
          <p:nvPr>
            <p:ph type="sldNum" sz="quarter" idx="5"/>
          </p:nvPr>
        </p:nvSpPr>
        <p:spPr/>
        <p:txBody>
          <a:bodyPr/>
          <a:lstStyle/>
          <a:p>
            <a:fld id="{5C3E23EF-53B4-7145-B91E-F80D413DC0BF}" type="slidenum">
              <a:rPr lang="en-US" smtClean="0"/>
              <a:t>20</a:t>
            </a:fld>
            <a:endParaRPr lang="en-US"/>
          </a:p>
        </p:txBody>
      </p:sp>
    </p:spTree>
    <p:extLst>
      <p:ext uri="{BB962C8B-B14F-4D97-AF65-F5344CB8AC3E}">
        <p14:creationId xmlns:p14="http://schemas.microsoft.com/office/powerpoint/2010/main" val="690818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I deal with this trend?</a:t>
            </a:r>
          </a:p>
        </p:txBody>
      </p:sp>
      <p:sp>
        <p:nvSpPr>
          <p:cNvPr id="4" name="Slide Number Placeholder 3"/>
          <p:cNvSpPr>
            <a:spLocks noGrp="1"/>
          </p:cNvSpPr>
          <p:nvPr>
            <p:ph type="sldNum" sz="quarter" idx="5"/>
          </p:nvPr>
        </p:nvSpPr>
        <p:spPr/>
        <p:txBody>
          <a:bodyPr/>
          <a:lstStyle/>
          <a:p>
            <a:fld id="{5C3E23EF-53B4-7145-B91E-F80D413DC0BF}" type="slidenum">
              <a:rPr lang="en-US" smtClean="0"/>
              <a:t>22</a:t>
            </a:fld>
            <a:endParaRPr lang="en-US"/>
          </a:p>
        </p:txBody>
      </p:sp>
    </p:spTree>
    <p:extLst>
      <p:ext uri="{BB962C8B-B14F-4D97-AF65-F5344CB8AC3E}">
        <p14:creationId xmlns:p14="http://schemas.microsoft.com/office/powerpoint/2010/main" val="14910424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Looks like higher doses are producing less mature oocytes but this is not the case</a:t>
            </a:r>
          </a:p>
          <a:p>
            <a:r>
              <a:rPr lang="en-US" dirty="0"/>
              <a:t>Its because they have lower AMH, so they are given higher doses, but they aren’t responding </a:t>
            </a:r>
          </a:p>
          <a:p>
            <a:r>
              <a:rPr lang="en-US" dirty="0"/>
              <a:t>Those with high AMH get lower doses yet produce more oocytes</a:t>
            </a:r>
          </a:p>
          <a:p>
            <a:r>
              <a:rPr lang="en-US" dirty="0"/>
              <a:t>Treatment is not equally effective for all patients</a:t>
            </a:r>
          </a:p>
          <a:p>
            <a:r>
              <a:rPr lang="en-GB" sz="1200" b="0" i="0" u="none" strike="noStrike" kern="1200" dirty="0">
                <a:solidFill>
                  <a:schemeClr val="tx1"/>
                </a:solidFill>
                <a:effectLst/>
                <a:latin typeface="+mn-lt"/>
                <a:ea typeface="+mn-ea"/>
                <a:cs typeface="+mn-cs"/>
              </a:rPr>
              <a:t>The relationship between stimulation dose and mature oocyte yield varies according to baseline AMH. Patients with higher AMH demonstrate a stronger positive response to increasing stimulation, whereas those with lower AMH show limited improvement</a:t>
            </a:r>
            <a:endParaRPr lang="en-US" dirty="0"/>
          </a:p>
        </p:txBody>
      </p:sp>
      <p:sp>
        <p:nvSpPr>
          <p:cNvPr id="4" name="Slide Number Placeholder 3"/>
          <p:cNvSpPr>
            <a:spLocks noGrp="1"/>
          </p:cNvSpPr>
          <p:nvPr>
            <p:ph type="sldNum" sz="quarter" idx="5"/>
          </p:nvPr>
        </p:nvSpPr>
        <p:spPr/>
        <p:txBody>
          <a:bodyPr/>
          <a:lstStyle/>
          <a:p>
            <a:fld id="{5C3E23EF-53B4-7145-B91E-F80D413DC0BF}" type="slidenum">
              <a:rPr lang="en-US" smtClean="0"/>
              <a:t>23</a:t>
            </a:fld>
            <a:endParaRPr lang="en-US"/>
          </a:p>
        </p:txBody>
      </p:sp>
    </p:spTree>
    <p:extLst>
      <p:ext uri="{BB962C8B-B14F-4D97-AF65-F5344CB8AC3E}">
        <p14:creationId xmlns:p14="http://schemas.microsoft.com/office/powerpoint/2010/main" val="2938800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as:</a:t>
            </a:r>
          </a:p>
          <a:p>
            <a:r>
              <a:rPr lang="en-US" dirty="0"/>
              <a:t> - protocol characteristics associated with optimal mature oocyte yield in older women</a:t>
            </a:r>
          </a:p>
          <a:p>
            <a:r>
              <a:rPr lang="en-US" dirty="0"/>
              <a:t> - treatment patterns observed among older women who achieved a clinically favorable response </a:t>
            </a:r>
          </a:p>
          <a:p>
            <a:endParaRPr lang="en-US" dirty="0"/>
          </a:p>
          <a:p>
            <a:r>
              <a:rPr lang="en-US" dirty="0">
                <a:sym typeface="Wingdings" pitchFamily="2" charset="2"/>
              </a:rPr>
              <a:t>What predicts success among older women?</a:t>
            </a:r>
          </a:p>
          <a:p>
            <a:r>
              <a:rPr lang="en-US" dirty="0">
                <a:sym typeface="Wingdings" pitchFamily="2" charset="2"/>
              </a:rPr>
              <a:t>What predicts the protocol/dose older women receive?</a:t>
            </a:r>
          </a:p>
          <a:p>
            <a:r>
              <a:rPr lang="en-US" dirty="0">
                <a:sym typeface="Wingdings" pitchFamily="2" charset="2"/>
              </a:rPr>
              <a:t>For older women does the effect of treatment differ by AMH?</a:t>
            </a:r>
          </a:p>
          <a:p>
            <a:pPr marL="285750" indent="-285750">
              <a:buFont typeface="Arial" panose="020B0604020202020204" pitchFamily="34" charset="0"/>
              <a:buChar char="•"/>
            </a:pPr>
            <a:r>
              <a:rPr lang="en-US" dirty="0">
                <a:sym typeface="Wingdings" pitchFamily="2" charset="2"/>
              </a:rPr>
              <a:t>Do lower reserve older women benefit from different stimulation patterns?</a:t>
            </a:r>
          </a:p>
          <a:p>
            <a:pPr marL="285750" indent="-285750">
              <a:buFont typeface="Arial" panose="020B0604020202020204" pitchFamily="34" charset="0"/>
              <a:buChar char="•"/>
            </a:pPr>
            <a:r>
              <a:rPr lang="en-US" dirty="0">
                <a:sym typeface="Wingdings" pitchFamily="2" charset="2"/>
              </a:rPr>
              <a:t>Does a higher dose only help in certain subgroups?</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itchFamily="2" charset="2"/>
              </a:rPr>
              <a:t>NOTE: Better looking protocols in older women are not necessarily the cause of better outcomes --&gt; treatment is not randomly assigned - clinicians assign based on baselines</a:t>
            </a:r>
          </a:p>
          <a:p>
            <a:endParaRPr lang="en-US" dirty="0"/>
          </a:p>
        </p:txBody>
      </p:sp>
      <p:sp>
        <p:nvSpPr>
          <p:cNvPr id="4" name="Slide Number Placeholder 3"/>
          <p:cNvSpPr>
            <a:spLocks noGrp="1"/>
          </p:cNvSpPr>
          <p:nvPr>
            <p:ph type="sldNum" sz="quarter" idx="5"/>
          </p:nvPr>
        </p:nvSpPr>
        <p:spPr/>
        <p:txBody>
          <a:bodyPr/>
          <a:lstStyle/>
          <a:p>
            <a:fld id="{5C3E23EF-53B4-7145-B91E-F80D413DC0BF}" type="slidenum">
              <a:rPr lang="en-US" smtClean="0"/>
              <a:t>24</a:t>
            </a:fld>
            <a:endParaRPr lang="en-US"/>
          </a:p>
        </p:txBody>
      </p:sp>
    </p:spTree>
    <p:extLst>
      <p:ext uri="{BB962C8B-B14F-4D97-AF65-F5344CB8AC3E}">
        <p14:creationId xmlns:p14="http://schemas.microsoft.com/office/powerpoint/2010/main" val="1790044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C3E23EF-53B4-7145-B91E-F80D413DC0BF}" type="slidenum">
              <a:rPr lang="en-US" smtClean="0"/>
              <a:t>25</a:t>
            </a:fld>
            <a:endParaRPr lang="en-US"/>
          </a:p>
        </p:txBody>
      </p:sp>
    </p:spTree>
    <p:extLst>
      <p:ext uri="{BB962C8B-B14F-4D97-AF65-F5344CB8AC3E}">
        <p14:creationId xmlns:p14="http://schemas.microsoft.com/office/powerpoint/2010/main" val="3877658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15534C-A06E-A543-F35C-39745FED3B4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1FED909-6E52-7726-2501-6C763885BF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9B8E5F5-CDBF-062E-D36B-B945E8959513}"/>
              </a:ext>
            </a:extLst>
          </p:cNvPr>
          <p:cNvSpPr>
            <a:spLocks noGrp="1"/>
          </p:cNvSpPr>
          <p:nvPr>
            <p:ph type="dt" sz="half" idx="10"/>
          </p:nvPr>
        </p:nvSpPr>
        <p:spPr/>
        <p:txBody>
          <a:bodyPr/>
          <a:lstStyle/>
          <a:p>
            <a:fld id="{6D786B96-2C95-5B4D-8E9B-A9C3E40A50AD}" type="datetimeFigureOut">
              <a:rPr lang="en-US" smtClean="0"/>
              <a:t>4/8/26</a:t>
            </a:fld>
            <a:endParaRPr lang="en-US"/>
          </a:p>
        </p:txBody>
      </p:sp>
      <p:sp>
        <p:nvSpPr>
          <p:cNvPr id="5" name="Footer Placeholder 4">
            <a:extLst>
              <a:ext uri="{FF2B5EF4-FFF2-40B4-BE49-F238E27FC236}">
                <a16:creationId xmlns:a16="http://schemas.microsoft.com/office/drawing/2014/main" id="{A76567EE-56C5-C57B-3370-A3AD461D75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2B9CC5-493D-EF3B-A052-E07108EC3624}"/>
              </a:ext>
            </a:extLst>
          </p:cNvPr>
          <p:cNvSpPr>
            <a:spLocks noGrp="1"/>
          </p:cNvSpPr>
          <p:nvPr>
            <p:ph type="sldNum" sz="quarter" idx="12"/>
          </p:nvPr>
        </p:nvSpPr>
        <p:spPr/>
        <p:txBody>
          <a:bodyPr/>
          <a:lstStyle/>
          <a:p>
            <a:fld id="{A715FD94-B0F0-3C4A-A568-255FCB570B4D}" type="slidenum">
              <a:rPr lang="en-US" smtClean="0"/>
              <a:t>‹#›</a:t>
            </a:fld>
            <a:endParaRPr lang="en-US"/>
          </a:p>
        </p:txBody>
      </p:sp>
    </p:spTree>
    <p:extLst>
      <p:ext uri="{BB962C8B-B14F-4D97-AF65-F5344CB8AC3E}">
        <p14:creationId xmlns:p14="http://schemas.microsoft.com/office/powerpoint/2010/main" val="4228139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A94D3-4554-3CE9-BBEB-2FBC674A4A1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1B0D96A-234D-68CC-C609-58768173830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5036C3A-47B2-A544-FBC6-6655B365A520}"/>
              </a:ext>
            </a:extLst>
          </p:cNvPr>
          <p:cNvSpPr>
            <a:spLocks noGrp="1"/>
          </p:cNvSpPr>
          <p:nvPr>
            <p:ph type="dt" sz="half" idx="10"/>
          </p:nvPr>
        </p:nvSpPr>
        <p:spPr/>
        <p:txBody>
          <a:bodyPr/>
          <a:lstStyle/>
          <a:p>
            <a:fld id="{6D786B96-2C95-5B4D-8E9B-A9C3E40A50AD}" type="datetimeFigureOut">
              <a:rPr lang="en-US" smtClean="0"/>
              <a:t>4/8/26</a:t>
            </a:fld>
            <a:endParaRPr lang="en-US"/>
          </a:p>
        </p:txBody>
      </p:sp>
      <p:sp>
        <p:nvSpPr>
          <p:cNvPr id="5" name="Footer Placeholder 4">
            <a:extLst>
              <a:ext uri="{FF2B5EF4-FFF2-40B4-BE49-F238E27FC236}">
                <a16:creationId xmlns:a16="http://schemas.microsoft.com/office/drawing/2014/main" id="{00085330-A5FD-2291-1B6A-547DDAF68A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AA9F21-4233-D0D0-7F6D-337B797AEA23}"/>
              </a:ext>
            </a:extLst>
          </p:cNvPr>
          <p:cNvSpPr>
            <a:spLocks noGrp="1"/>
          </p:cNvSpPr>
          <p:nvPr>
            <p:ph type="sldNum" sz="quarter" idx="12"/>
          </p:nvPr>
        </p:nvSpPr>
        <p:spPr/>
        <p:txBody>
          <a:bodyPr/>
          <a:lstStyle/>
          <a:p>
            <a:fld id="{A715FD94-B0F0-3C4A-A568-255FCB570B4D}" type="slidenum">
              <a:rPr lang="en-US" smtClean="0"/>
              <a:t>‹#›</a:t>
            </a:fld>
            <a:endParaRPr lang="en-US"/>
          </a:p>
        </p:txBody>
      </p:sp>
    </p:spTree>
    <p:extLst>
      <p:ext uri="{BB962C8B-B14F-4D97-AF65-F5344CB8AC3E}">
        <p14:creationId xmlns:p14="http://schemas.microsoft.com/office/powerpoint/2010/main" val="359450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4301D-B6C7-3F75-8C9E-75E0DE74458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78081E7-A89B-F10C-DA77-58F7AA3C9A9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6CD9CDA-146F-B5D1-0A36-B583BC9D28D8}"/>
              </a:ext>
            </a:extLst>
          </p:cNvPr>
          <p:cNvSpPr>
            <a:spLocks noGrp="1"/>
          </p:cNvSpPr>
          <p:nvPr>
            <p:ph type="dt" sz="half" idx="10"/>
          </p:nvPr>
        </p:nvSpPr>
        <p:spPr/>
        <p:txBody>
          <a:bodyPr/>
          <a:lstStyle/>
          <a:p>
            <a:fld id="{6D786B96-2C95-5B4D-8E9B-A9C3E40A50AD}" type="datetimeFigureOut">
              <a:rPr lang="en-US" smtClean="0"/>
              <a:t>4/8/26</a:t>
            </a:fld>
            <a:endParaRPr lang="en-US"/>
          </a:p>
        </p:txBody>
      </p:sp>
      <p:sp>
        <p:nvSpPr>
          <p:cNvPr id="5" name="Footer Placeholder 4">
            <a:extLst>
              <a:ext uri="{FF2B5EF4-FFF2-40B4-BE49-F238E27FC236}">
                <a16:creationId xmlns:a16="http://schemas.microsoft.com/office/drawing/2014/main" id="{309BEB41-C434-66AE-E2DA-32D0E8122B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753B0D-4E37-9CAC-3395-A50408B1B1B0}"/>
              </a:ext>
            </a:extLst>
          </p:cNvPr>
          <p:cNvSpPr>
            <a:spLocks noGrp="1"/>
          </p:cNvSpPr>
          <p:nvPr>
            <p:ph type="sldNum" sz="quarter" idx="12"/>
          </p:nvPr>
        </p:nvSpPr>
        <p:spPr/>
        <p:txBody>
          <a:bodyPr/>
          <a:lstStyle/>
          <a:p>
            <a:fld id="{A715FD94-B0F0-3C4A-A568-255FCB570B4D}" type="slidenum">
              <a:rPr lang="en-US" smtClean="0"/>
              <a:t>‹#›</a:t>
            </a:fld>
            <a:endParaRPr lang="en-US"/>
          </a:p>
        </p:txBody>
      </p:sp>
    </p:spTree>
    <p:extLst>
      <p:ext uri="{BB962C8B-B14F-4D97-AF65-F5344CB8AC3E}">
        <p14:creationId xmlns:p14="http://schemas.microsoft.com/office/powerpoint/2010/main" val="3858382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F050A-F72C-7555-A58A-AD9D49AAF35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1141CCE-F642-36D4-D9FB-E75A5599424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9895693-BDC2-9106-15C8-A9342991E7D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350F1765-1859-4C81-A0CE-8957A54F515A}"/>
              </a:ext>
            </a:extLst>
          </p:cNvPr>
          <p:cNvSpPr>
            <a:spLocks noGrp="1"/>
          </p:cNvSpPr>
          <p:nvPr>
            <p:ph type="dt" sz="half" idx="10"/>
          </p:nvPr>
        </p:nvSpPr>
        <p:spPr/>
        <p:txBody>
          <a:bodyPr/>
          <a:lstStyle/>
          <a:p>
            <a:fld id="{6D786B96-2C95-5B4D-8E9B-A9C3E40A50AD}" type="datetimeFigureOut">
              <a:rPr lang="en-US" smtClean="0"/>
              <a:t>4/8/26</a:t>
            </a:fld>
            <a:endParaRPr lang="en-US"/>
          </a:p>
        </p:txBody>
      </p:sp>
      <p:sp>
        <p:nvSpPr>
          <p:cNvPr id="6" name="Footer Placeholder 5">
            <a:extLst>
              <a:ext uri="{FF2B5EF4-FFF2-40B4-BE49-F238E27FC236}">
                <a16:creationId xmlns:a16="http://schemas.microsoft.com/office/drawing/2014/main" id="{CDA0525C-828D-33DF-F4EA-F3774DAE00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B6917C-73C4-0480-C068-3EB1C1A24621}"/>
              </a:ext>
            </a:extLst>
          </p:cNvPr>
          <p:cNvSpPr>
            <a:spLocks noGrp="1"/>
          </p:cNvSpPr>
          <p:nvPr>
            <p:ph type="sldNum" sz="quarter" idx="12"/>
          </p:nvPr>
        </p:nvSpPr>
        <p:spPr/>
        <p:txBody>
          <a:bodyPr/>
          <a:lstStyle/>
          <a:p>
            <a:fld id="{A715FD94-B0F0-3C4A-A568-255FCB570B4D}" type="slidenum">
              <a:rPr lang="en-US" smtClean="0"/>
              <a:t>‹#›</a:t>
            </a:fld>
            <a:endParaRPr lang="en-US"/>
          </a:p>
        </p:txBody>
      </p:sp>
    </p:spTree>
    <p:extLst>
      <p:ext uri="{BB962C8B-B14F-4D97-AF65-F5344CB8AC3E}">
        <p14:creationId xmlns:p14="http://schemas.microsoft.com/office/powerpoint/2010/main" val="28941535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3C9E7-ED48-F3CD-6C1B-B6343F5D698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A553BA6-00E7-83BE-77A5-96EB9A9029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C024B75-9B59-1B94-8A66-657626A76E1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3EB7453-321C-7DC9-7312-2824E39575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C5BDA14-584B-5B99-4139-83D48F05ED3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7253B2F-464A-BA64-7149-1C97F4A5A889}"/>
              </a:ext>
            </a:extLst>
          </p:cNvPr>
          <p:cNvSpPr>
            <a:spLocks noGrp="1"/>
          </p:cNvSpPr>
          <p:nvPr>
            <p:ph type="dt" sz="half" idx="10"/>
          </p:nvPr>
        </p:nvSpPr>
        <p:spPr/>
        <p:txBody>
          <a:bodyPr/>
          <a:lstStyle/>
          <a:p>
            <a:fld id="{6D786B96-2C95-5B4D-8E9B-A9C3E40A50AD}" type="datetimeFigureOut">
              <a:rPr lang="en-US" smtClean="0"/>
              <a:t>4/8/26</a:t>
            </a:fld>
            <a:endParaRPr lang="en-US"/>
          </a:p>
        </p:txBody>
      </p:sp>
      <p:sp>
        <p:nvSpPr>
          <p:cNvPr id="8" name="Footer Placeholder 7">
            <a:extLst>
              <a:ext uri="{FF2B5EF4-FFF2-40B4-BE49-F238E27FC236}">
                <a16:creationId xmlns:a16="http://schemas.microsoft.com/office/drawing/2014/main" id="{1FEB0CA9-8E77-38DE-E38C-958EC7FC66E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B0EF871-FEF0-3519-75BA-0B29315DE5B3}"/>
              </a:ext>
            </a:extLst>
          </p:cNvPr>
          <p:cNvSpPr>
            <a:spLocks noGrp="1"/>
          </p:cNvSpPr>
          <p:nvPr>
            <p:ph type="sldNum" sz="quarter" idx="12"/>
          </p:nvPr>
        </p:nvSpPr>
        <p:spPr/>
        <p:txBody>
          <a:bodyPr/>
          <a:lstStyle/>
          <a:p>
            <a:fld id="{A715FD94-B0F0-3C4A-A568-255FCB570B4D}" type="slidenum">
              <a:rPr lang="en-US" smtClean="0"/>
              <a:t>‹#›</a:t>
            </a:fld>
            <a:endParaRPr lang="en-US"/>
          </a:p>
        </p:txBody>
      </p:sp>
    </p:spTree>
    <p:extLst>
      <p:ext uri="{BB962C8B-B14F-4D97-AF65-F5344CB8AC3E}">
        <p14:creationId xmlns:p14="http://schemas.microsoft.com/office/powerpoint/2010/main" val="3134800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6BEE8-E153-AE88-548D-76F3445D9C1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5283D44D-D015-F1D2-B9A6-6C685ACA4884}"/>
              </a:ext>
            </a:extLst>
          </p:cNvPr>
          <p:cNvSpPr>
            <a:spLocks noGrp="1"/>
          </p:cNvSpPr>
          <p:nvPr>
            <p:ph type="dt" sz="half" idx="10"/>
          </p:nvPr>
        </p:nvSpPr>
        <p:spPr/>
        <p:txBody>
          <a:bodyPr/>
          <a:lstStyle/>
          <a:p>
            <a:fld id="{6D786B96-2C95-5B4D-8E9B-A9C3E40A50AD}" type="datetimeFigureOut">
              <a:rPr lang="en-US" smtClean="0"/>
              <a:t>4/8/26</a:t>
            </a:fld>
            <a:endParaRPr lang="en-US"/>
          </a:p>
        </p:txBody>
      </p:sp>
      <p:sp>
        <p:nvSpPr>
          <p:cNvPr id="4" name="Footer Placeholder 3">
            <a:extLst>
              <a:ext uri="{FF2B5EF4-FFF2-40B4-BE49-F238E27FC236}">
                <a16:creationId xmlns:a16="http://schemas.microsoft.com/office/drawing/2014/main" id="{F058E578-D526-2989-4DA5-CD85C1FB332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80BAD2-3714-B598-D6DA-04994D75785E}"/>
              </a:ext>
            </a:extLst>
          </p:cNvPr>
          <p:cNvSpPr>
            <a:spLocks noGrp="1"/>
          </p:cNvSpPr>
          <p:nvPr>
            <p:ph type="sldNum" sz="quarter" idx="12"/>
          </p:nvPr>
        </p:nvSpPr>
        <p:spPr/>
        <p:txBody>
          <a:bodyPr/>
          <a:lstStyle/>
          <a:p>
            <a:fld id="{A715FD94-B0F0-3C4A-A568-255FCB570B4D}" type="slidenum">
              <a:rPr lang="en-US" smtClean="0"/>
              <a:t>‹#›</a:t>
            </a:fld>
            <a:endParaRPr lang="en-US"/>
          </a:p>
        </p:txBody>
      </p:sp>
    </p:spTree>
    <p:extLst>
      <p:ext uri="{BB962C8B-B14F-4D97-AF65-F5344CB8AC3E}">
        <p14:creationId xmlns:p14="http://schemas.microsoft.com/office/powerpoint/2010/main" val="3364727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615E15-E3D7-B9A1-9A8B-C05E14E3AE49}"/>
              </a:ext>
            </a:extLst>
          </p:cNvPr>
          <p:cNvSpPr>
            <a:spLocks noGrp="1"/>
          </p:cNvSpPr>
          <p:nvPr>
            <p:ph type="dt" sz="half" idx="10"/>
          </p:nvPr>
        </p:nvSpPr>
        <p:spPr/>
        <p:txBody>
          <a:bodyPr/>
          <a:lstStyle/>
          <a:p>
            <a:fld id="{6D786B96-2C95-5B4D-8E9B-A9C3E40A50AD}" type="datetimeFigureOut">
              <a:rPr lang="en-US" smtClean="0"/>
              <a:t>4/8/26</a:t>
            </a:fld>
            <a:endParaRPr lang="en-US"/>
          </a:p>
        </p:txBody>
      </p:sp>
      <p:sp>
        <p:nvSpPr>
          <p:cNvPr id="3" name="Footer Placeholder 2">
            <a:extLst>
              <a:ext uri="{FF2B5EF4-FFF2-40B4-BE49-F238E27FC236}">
                <a16:creationId xmlns:a16="http://schemas.microsoft.com/office/drawing/2014/main" id="{C6C000CF-8AE8-E36C-6135-7DC5B69678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AE4D6E-E4D7-066A-C814-3819DC346110}"/>
              </a:ext>
            </a:extLst>
          </p:cNvPr>
          <p:cNvSpPr>
            <a:spLocks noGrp="1"/>
          </p:cNvSpPr>
          <p:nvPr>
            <p:ph type="sldNum" sz="quarter" idx="12"/>
          </p:nvPr>
        </p:nvSpPr>
        <p:spPr/>
        <p:txBody>
          <a:bodyPr/>
          <a:lstStyle/>
          <a:p>
            <a:fld id="{A715FD94-B0F0-3C4A-A568-255FCB570B4D}" type="slidenum">
              <a:rPr lang="en-US" smtClean="0"/>
              <a:t>‹#›</a:t>
            </a:fld>
            <a:endParaRPr lang="en-US"/>
          </a:p>
        </p:txBody>
      </p:sp>
    </p:spTree>
    <p:extLst>
      <p:ext uri="{BB962C8B-B14F-4D97-AF65-F5344CB8AC3E}">
        <p14:creationId xmlns:p14="http://schemas.microsoft.com/office/powerpoint/2010/main" val="543811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E2665-E3BF-FEA9-9EF9-5FE9FC6451A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D418E4C-ABBF-E4DF-52CC-F43DE4FF14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9169A4D-207D-F63D-31F8-EFC37518E4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50FC701-7813-AA45-B0B5-D59AB26C05D5}"/>
              </a:ext>
            </a:extLst>
          </p:cNvPr>
          <p:cNvSpPr>
            <a:spLocks noGrp="1"/>
          </p:cNvSpPr>
          <p:nvPr>
            <p:ph type="dt" sz="half" idx="10"/>
          </p:nvPr>
        </p:nvSpPr>
        <p:spPr/>
        <p:txBody>
          <a:bodyPr/>
          <a:lstStyle/>
          <a:p>
            <a:fld id="{6D786B96-2C95-5B4D-8E9B-A9C3E40A50AD}" type="datetimeFigureOut">
              <a:rPr lang="en-US" smtClean="0"/>
              <a:t>4/8/26</a:t>
            </a:fld>
            <a:endParaRPr lang="en-US"/>
          </a:p>
        </p:txBody>
      </p:sp>
      <p:sp>
        <p:nvSpPr>
          <p:cNvPr id="6" name="Footer Placeholder 5">
            <a:extLst>
              <a:ext uri="{FF2B5EF4-FFF2-40B4-BE49-F238E27FC236}">
                <a16:creationId xmlns:a16="http://schemas.microsoft.com/office/drawing/2014/main" id="{F18F794D-4965-B772-6B66-999F5ABA1A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09AABE-7AB6-A98A-CEA4-096994F74E7F}"/>
              </a:ext>
            </a:extLst>
          </p:cNvPr>
          <p:cNvSpPr>
            <a:spLocks noGrp="1"/>
          </p:cNvSpPr>
          <p:nvPr>
            <p:ph type="sldNum" sz="quarter" idx="12"/>
          </p:nvPr>
        </p:nvSpPr>
        <p:spPr/>
        <p:txBody>
          <a:bodyPr/>
          <a:lstStyle/>
          <a:p>
            <a:fld id="{A715FD94-B0F0-3C4A-A568-255FCB570B4D}" type="slidenum">
              <a:rPr lang="en-US" smtClean="0"/>
              <a:t>‹#›</a:t>
            </a:fld>
            <a:endParaRPr lang="en-US"/>
          </a:p>
        </p:txBody>
      </p:sp>
    </p:spTree>
    <p:extLst>
      <p:ext uri="{BB962C8B-B14F-4D97-AF65-F5344CB8AC3E}">
        <p14:creationId xmlns:p14="http://schemas.microsoft.com/office/powerpoint/2010/main" val="390896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B2F2A-1E70-2FC8-4872-087C674D901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9718ABE-BDE0-FE58-5116-D9615BFD9C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911D933-3787-3E49-3DF6-4F9D1C17DE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26A22E9-F7E1-3E61-6089-2A4F9DA7522A}"/>
              </a:ext>
            </a:extLst>
          </p:cNvPr>
          <p:cNvSpPr>
            <a:spLocks noGrp="1"/>
          </p:cNvSpPr>
          <p:nvPr>
            <p:ph type="dt" sz="half" idx="10"/>
          </p:nvPr>
        </p:nvSpPr>
        <p:spPr/>
        <p:txBody>
          <a:bodyPr/>
          <a:lstStyle/>
          <a:p>
            <a:fld id="{6D786B96-2C95-5B4D-8E9B-A9C3E40A50AD}" type="datetimeFigureOut">
              <a:rPr lang="en-US" smtClean="0"/>
              <a:t>4/8/26</a:t>
            </a:fld>
            <a:endParaRPr lang="en-US"/>
          </a:p>
        </p:txBody>
      </p:sp>
      <p:sp>
        <p:nvSpPr>
          <p:cNvPr id="6" name="Footer Placeholder 5">
            <a:extLst>
              <a:ext uri="{FF2B5EF4-FFF2-40B4-BE49-F238E27FC236}">
                <a16:creationId xmlns:a16="http://schemas.microsoft.com/office/drawing/2014/main" id="{B55981E9-0E9C-7EE7-FAF6-A0BD99245C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6CD912-626D-BABC-2798-1668C9697859}"/>
              </a:ext>
            </a:extLst>
          </p:cNvPr>
          <p:cNvSpPr>
            <a:spLocks noGrp="1"/>
          </p:cNvSpPr>
          <p:nvPr>
            <p:ph type="sldNum" sz="quarter" idx="12"/>
          </p:nvPr>
        </p:nvSpPr>
        <p:spPr/>
        <p:txBody>
          <a:bodyPr/>
          <a:lstStyle/>
          <a:p>
            <a:fld id="{A715FD94-B0F0-3C4A-A568-255FCB570B4D}" type="slidenum">
              <a:rPr lang="en-US" smtClean="0"/>
              <a:t>‹#›</a:t>
            </a:fld>
            <a:endParaRPr lang="en-US"/>
          </a:p>
        </p:txBody>
      </p:sp>
    </p:spTree>
    <p:extLst>
      <p:ext uri="{BB962C8B-B14F-4D97-AF65-F5344CB8AC3E}">
        <p14:creationId xmlns:p14="http://schemas.microsoft.com/office/powerpoint/2010/main" val="725944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D74A3-A20C-67DE-7CBD-CF771BD2B26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37F76C6-8C4A-678A-101F-D91B1589A62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D6E90EB-4B94-D580-9FBD-DACA144CF1A8}"/>
              </a:ext>
            </a:extLst>
          </p:cNvPr>
          <p:cNvSpPr>
            <a:spLocks noGrp="1"/>
          </p:cNvSpPr>
          <p:nvPr>
            <p:ph type="dt" sz="half" idx="10"/>
          </p:nvPr>
        </p:nvSpPr>
        <p:spPr/>
        <p:txBody>
          <a:bodyPr/>
          <a:lstStyle/>
          <a:p>
            <a:fld id="{6D786B96-2C95-5B4D-8E9B-A9C3E40A50AD}" type="datetimeFigureOut">
              <a:rPr lang="en-US" smtClean="0"/>
              <a:t>4/8/26</a:t>
            </a:fld>
            <a:endParaRPr lang="en-US"/>
          </a:p>
        </p:txBody>
      </p:sp>
      <p:sp>
        <p:nvSpPr>
          <p:cNvPr id="5" name="Footer Placeholder 4">
            <a:extLst>
              <a:ext uri="{FF2B5EF4-FFF2-40B4-BE49-F238E27FC236}">
                <a16:creationId xmlns:a16="http://schemas.microsoft.com/office/drawing/2014/main" id="{08A42725-80D9-26C7-A407-B343CC930C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56B765-98C1-62A0-84EB-D85855A3F7A0}"/>
              </a:ext>
            </a:extLst>
          </p:cNvPr>
          <p:cNvSpPr>
            <a:spLocks noGrp="1"/>
          </p:cNvSpPr>
          <p:nvPr>
            <p:ph type="sldNum" sz="quarter" idx="12"/>
          </p:nvPr>
        </p:nvSpPr>
        <p:spPr/>
        <p:txBody>
          <a:bodyPr/>
          <a:lstStyle/>
          <a:p>
            <a:fld id="{A715FD94-B0F0-3C4A-A568-255FCB570B4D}" type="slidenum">
              <a:rPr lang="en-US" smtClean="0"/>
              <a:t>‹#›</a:t>
            </a:fld>
            <a:endParaRPr lang="en-US"/>
          </a:p>
        </p:txBody>
      </p:sp>
    </p:spTree>
    <p:extLst>
      <p:ext uri="{BB962C8B-B14F-4D97-AF65-F5344CB8AC3E}">
        <p14:creationId xmlns:p14="http://schemas.microsoft.com/office/powerpoint/2010/main" val="2615124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E26F00-5D87-97C9-09AE-D94C330F2E9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A9C522A-9155-5B17-DC8B-E331EF82066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82B58AC-7038-F59D-F1C3-43ECB5A17626}"/>
              </a:ext>
            </a:extLst>
          </p:cNvPr>
          <p:cNvSpPr>
            <a:spLocks noGrp="1"/>
          </p:cNvSpPr>
          <p:nvPr>
            <p:ph type="dt" sz="half" idx="10"/>
          </p:nvPr>
        </p:nvSpPr>
        <p:spPr/>
        <p:txBody>
          <a:bodyPr/>
          <a:lstStyle/>
          <a:p>
            <a:fld id="{6D786B96-2C95-5B4D-8E9B-A9C3E40A50AD}" type="datetimeFigureOut">
              <a:rPr lang="en-US" smtClean="0"/>
              <a:t>4/8/26</a:t>
            </a:fld>
            <a:endParaRPr lang="en-US"/>
          </a:p>
        </p:txBody>
      </p:sp>
      <p:sp>
        <p:nvSpPr>
          <p:cNvPr id="5" name="Footer Placeholder 4">
            <a:extLst>
              <a:ext uri="{FF2B5EF4-FFF2-40B4-BE49-F238E27FC236}">
                <a16:creationId xmlns:a16="http://schemas.microsoft.com/office/drawing/2014/main" id="{7A960F61-7D70-E806-2C6E-C5C88F5C0C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30CF17-53E7-E10A-A377-5645887EEBB7}"/>
              </a:ext>
            </a:extLst>
          </p:cNvPr>
          <p:cNvSpPr>
            <a:spLocks noGrp="1"/>
          </p:cNvSpPr>
          <p:nvPr>
            <p:ph type="sldNum" sz="quarter" idx="12"/>
          </p:nvPr>
        </p:nvSpPr>
        <p:spPr/>
        <p:txBody>
          <a:bodyPr/>
          <a:lstStyle/>
          <a:p>
            <a:fld id="{A715FD94-B0F0-3C4A-A568-255FCB570B4D}" type="slidenum">
              <a:rPr lang="en-US" smtClean="0"/>
              <a:t>‹#›</a:t>
            </a:fld>
            <a:endParaRPr lang="en-US"/>
          </a:p>
        </p:txBody>
      </p:sp>
    </p:spTree>
    <p:extLst>
      <p:ext uri="{BB962C8B-B14F-4D97-AF65-F5344CB8AC3E}">
        <p14:creationId xmlns:p14="http://schemas.microsoft.com/office/powerpoint/2010/main" val="1669619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4706FC-E72B-E32C-E368-BB0FCBFC78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07A3870-6A1D-895D-4F10-F16E42111D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68FE3EC-92FB-B91A-52A7-033199EB4A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786B96-2C95-5B4D-8E9B-A9C3E40A50AD}" type="datetimeFigureOut">
              <a:rPr lang="en-US" smtClean="0"/>
              <a:t>4/8/26</a:t>
            </a:fld>
            <a:endParaRPr lang="en-US"/>
          </a:p>
        </p:txBody>
      </p:sp>
      <p:sp>
        <p:nvSpPr>
          <p:cNvPr id="5" name="Footer Placeholder 4">
            <a:extLst>
              <a:ext uri="{FF2B5EF4-FFF2-40B4-BE49-F238E27FC236}">
                <a16:creationId xmlns:a16="http://schemas.microsoft.com/office/drawing/2014/main" id="{07F60DDD-F2BA-7213-C116-BAEE883CB7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D994B1A-D1A0-052C-7FD5-5848D269A6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15FD94-B0F0-3C4A-A568-255FCB570B4D}" type="slidenum">
              <a:rPr lang="en-US" smtClean="0"/>
              <a:t>‹#›</a:t>
            </a:fld>
            <a:endParaRPr lang="en-US"/>
          </a:p>
        </p:txBody>
      </p:sp>
    </p:spTree>
    <p:extLst>
      <p:ext uri="{BB962C8B-B14F-4D97-AF65-F5344CB8AC3E}">
        <p14:creationId xmlns:p14="http://schemas.microsoft.com/office/powerpoint/2010/main" val="30983858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4.png"/><Relationship Id="rId7" Type="http://schemas.openxmlformats.org/officeDocument/2006/relationships/customXml" Target="../ink/ink2.xml"/><Relationship Id="rId12" Type="http://schemas.openxmlformats.org/officeDocument/2006/relationships/image" Target="../media/image4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6.png"/><Relationship Id="rId11" Type="http://schemas.openxmlformats.org/officeDocument/2006/relationships/customXml" Target="../ink/ink4.xml"/><Relationship Id="rId5" Type="http://schemas.openxmlformats.org/officeDocument/2006/relationships/customXml" Target="../ink/ink1.xml"/><Relationship Id="rId10" Type="http://schemas.openxmlformats.org/officeDocument/2006/relationships/image" Target="../media/image48.png"/><Relationship Id="rId4" Type="http://schemas.openxmlformats.org/officeDocument/2006/relationships/image" Target="../media/image45.png"/><Relationship Id="rId9" Type="http://schemas.openxmlformats.org/officeDocument/2006/relationships/customXml" Target="../ink/ink3.xml"/></Relationships>
</file>

<file path=ppt/slides/_rels/slide18.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53.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customXml" Target="../ink/ink6.xml"/><Relationship Id="rId5" Type="http://schemas.openxmlformats.org/officeDocument/2006/relationships/image" Target="../media/image52.png"/><Relationship Id="rId4" Type="http://schemas.openxmlformats.org/officeDocument/2006/relationships/customXml" Target="../ink/ink5.xml"/></Relationships>
</file>

<file path=ppt/slides/_rels/slide19.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customXml" Target="../ink/ink11.xml"/><Relationship Id="rId3" Type="http://schemas.openxmlformats.org/officeDocument/2006/relationships/image" Target="../media/image50.png"/><Relationship Id="rId7" Type="http://schemas.openxmlformats.org/officeDocument/2006/relationships/customXml" Target="../ink/ink8.xml"/><Relationship Id="rId12" Type="http://schemas.openxmlformats.org/officeDocument/2006/relationships/image" Target="../media/image57.png"/><Relationship Id="rId2" Type="http://schemas.openxmlformats.org/officeDocument/2006/relationships/notesSlide" Target="../notesSlides/notesSlide7.xml"/><Relationship Id="rId16"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54.png"/><Relationship Id="rId11" Type="http://schemas.openxmlformats.org/officeDocument/2006/relationships/customXml" Target="../ink/ink10.xml"/><Relationship Id="rId5" Type="http://schemas.openxmlformats.org/officeDocument/2006/relationships/customXml" Target="../ink/ink7.xml"/><Relationship Id="rId15" Type="http://schemas.openxmlformats.org/officeDocument/2006/relationships/customXml" Target="../ink/ink12.xml"/><Relationship Id="rId10" Type="http://schemas.openxmlformats.org/officeDocument/2006/relationships/image" Target="../media/image56.png"/><Relationship Id="rId4" Type="http://schemas.openxmlformats.org/officeDocument/2006/relationships/image" Target="../media/image51.png"/><Relationship Id="rId9" Type="http://schemas.openxmlformats.org/officeDocument/2006/relationships/customXml" Target="../ink/ink9.xml"/><Relationship Id="rId14" Type="http://schemas.openxmlformats.org/officeDocument/2006/relationships/image" Target="../media/image5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customXml" Target="../ink/ink15.xml"/><Relationship Id="rId3" Type="http://schemas.openxmlformats.org/officeDocument/2006/relationships/customXml" Target="../ink/ink13.xml"/><Relationship Id="rId7" Type="http://schemas.openxmlformats.org/officeDocument/2006/relationships/image" Target="../media/image63.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62.png"/><Relationship Id="rId11" Type="http://schemas.openxmlformats.org/officeDocument/2006/relationships/image" Target="../media/image65.png"/><Relationship Id="rId5" Type="http://schemas.openxmlformats.org/officeDocument/2006/relationships/customXml" Target="../ink/ink14.xml"/><Relationship Id="rId10" Type="http://schemas.openxmlformats.org/officeDocument/2006/relationships/customXml" Target="../ink/ink16.xml"/><Relationship Id="rId4" Type="http://schemas.openxmlformats.org/officeDocument/2006/relationships/image" Target="../media/image61.png"/><Relationship Id="rId9" Type="http://schemas.openxmlformats.org/officeDocument/2006/relationships/image" Target="../media/image64.png"/></Relationships>
</file>

<file path=ppt/slides/_rels/slide22.xml.rels><?xml version="1.0" encoding="UTF-8" standalone="yes"?>
<Relationships xmlns="http://schemas.openxmlformats.org/package/2006/relationships"><Relationship Id="rId8" Type="http://schemas.openxmlformats.org/officeDocument/2006/relationships/customXml" Target="../ink/ink19.xml"/><Relationship Id="rId3" Type="http://schemas.openxmlformats.org/officeDocument/2006/relationships/image" Target="../media/image66.png"/><Relationship Id="rId7" Type="http://schemas.openxmlformats.org/officeDocument/2006/relationships/image" Target="../media/image6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customXml" Target="../ink/ink18.xml"/><Relationship Id="rId5" Type="http://schemas.openxmlformats.org/officeDocument/2006/relationships/image" Target="../media/image67.png"/><Relationship Id="rId4" Type="http://schemas.openxmlformats.org/officeDocument/2006/relationships/customXml" Target="../ink/ink17.xml"/><Relationship Id="rId9" Type="http://schemas.openxmlformats.org/officeDocument/2006/relationships/image" Target="../media/image69.png"/></Relationships>
</file>

<file path=ppt/slides/_rels/slide2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74.png"/></Relationships>
</file>

<file path=ppt/slides/_rels/slide2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954D9D6-895A-CF23-CD1C-8EA80ACD8DA5}"/>
              </a:ext>
            </a:extLst>
          </p:cNvPr>
          <p:cNvSpPr txBox="1"/>
          <p:nvPr/>
        </p:nvSpPr>
        <p:spPr>
          <a:xfrm>
            <a:off x="158750" y="203200"/>
            <a:ext cx="11874499" cy="6524863"/>
          </a:xfrm>
          <a:prstGeom prst="rect">
            <a:avLst/>
          </a:prstGeom>
          <a:noFill/>
        </p:spPr>
        <p:txBody>
          <a:bodyPr wrap="square" rtlCol="0">
            <a:spAutoFit/>
          </a:bodyPr>
          <a:lstStyle/>
          <a:p>
            <a:r>
              <a:rPr lang="en-US" sz="1600" b="1" dirty="0">
                <a:latin typeface="Helvetica" pitchFamily="2" charset="0"/>
              </a:rPr>
              <a:t>Notes on data</a:t>
            </a:r>
          </a:p>
          <a:p>
            <a:pPr marL="285750" indent="-285750">
              <a:buFont typeface="Arial" panose="020B0604020202020204" pitchFamily="34" charset="0"/>
              <a:buChar char="•"/>
            </a:pPr>
            <a:r>
              <a:rPr lang="en-US" sz="1600" dirty="0">
                <a:latin typeface="Helvetica" pitchFamily="2" charset="0"/>
              </a:rPr>
              <a:t>I am using the original manually extracted small dataset as it has all correct information needed</a:t>
            </a:r>
          </a:p>
          <a:p>
            <a:endParaRPr lang="en-US" sz="1600" dirty="0">
              <a:latin typeface="Helvetica" pitchFamily="2" charset="0"/>
            </a:endParaRPr>
          </a:p>
          <a:p>
            <a:r>
              <a:rPr lang="en-US" sz="1600" b="1" dirty="0">
                <a:latin typeface="Helvetica" pitchFamily="2" charset="0"/>
              </a:rPr>
              <a:t>Issues with updated large dataset:</a:t>
            </a:r>
          </a:p>
          <a:p>
            <a:pPr marL="285750" indent="-285750">
              <a:buFont typeface="Arial" panose="020B0604020202020204" pitchFamily="34" charset="0"/>
              <a:buChar char="•"/>
            </a:pPr>
            <a:r>
              <a:rPr lang="en-US" sz="1600" dirty="0">
                <a:latin typeface="Helvetica" pitchFamily="2" charset="0"/>
              </a:rPr>
              <a:t>Many follicle measures that do not add up </a:t>
            </a:r>
            <a:r>
              <a:rPr lang="en-US" sz="1600" dirty="0">
                <a:latin typeface="Helvetica" pitchFamily="2" charset="0"/>
                <a:sym typeface="Wingdings" pitchFamily="2" charset="2"/>
              </a:rPr>
              <a:t> new dates for the different follicle count/size scans, dates do not match between the 2 datasets, needs to be clarified, all measures for one follicle parameter should be from the same date for it to be consistent, cannot use any extra info without knowing if all of the measures are from the same scan</a:t>
            </a:r>
          </a:p>
          <a:p>
            <a:pPr marL="285750" indent="-285750">
              <a:buFont typeface="Arial" panose="020B0604020202020204" pitchFamily="34" charset="0"/>
              <a:buChar char="•"/>
            </a:pPr>
            <a:r>
              <a:rPr lang="en-US" sz="1600" dirty="0">
                <a:latin typeface="Helvetica" pitchFamily="2" charset="0"/>
                <a:sym typeface="Wingdings" pitchFamily="2" charset="2"/>
              </a:rPr>
              <a:t>Follicle counts per size do not add up to total baseline or final follicle count? Possibly from some other scan? Or missing info?</a:t>
            </a:r>
          </a:p>
          <a:p>
            <a:pPr marL="742950" lvl="1" indent="-285750">
              <a:buFont typeface="Arial" panose="020B0604020202020204" pitchFamily="34" charset="0"/>
              <a:buChar char="•"/>
            </a:pPr>
            <a:r>
              <a:rPr lang="en-US" sz="1600" dirty="0">
                <a:latin typeface="Helvetica" pitchFamily="2" charset="0"/>
                <a:sym typeface="Wingdings" pitchFamily="2" charset="2"/>
              </a:rPr>
              <a:t>Natural follicle count in new dataset = Baseline total follicle info in manual small dataset</a:t>
            </a:r>
          </a:p>
          <a:p>
            <a:pPr marL="742950" lvl="1" indent="-285750">
              <a:buFont typeface="Arial" panose="020B0604020202020204" pitchFamily="34" charset="0"/>
              <a:buChar char="•"/>
            </a:pPr>
            <a:r>
              <a:rPr lang="en-US" sz="1600" dirty="0">
                <a:latin typeface="Helvetica" pitchFamily="2" charset="0"/>
                <a:sym typeface="Wingdings" pitchFamily="2" charset="2"/>
              </a:rPr>
              <a:t>But basically, all missing</a:t>
            </a:r>
          </a:p>
          <a:p>
            <a:pPr marL="285750" indent="-285750">
              <a:buFont typeface="Arial" panose="020B0604020202020204" pitchFamily="34" charset="0"/>
              <a:buChar char="•"/>
            </a:pPr>
            <a:r>
              <a:rPr lang="en-US" sz="1600" dirty="0">
                <a:latin typeface="Helvetica" pitchFamily="2" charset="0"/>
                <a:sym typeface="Wingdings" pitchFamily="2" charset="2"/>
              </a:rPr>
              <a:t>Although there is info on if the patient had multiple cycles (in the form of dates and patient entered into multiple rows), there is no parameter telling me the cycle number  the first entered cycle might actually be their 2</a:t>
            </a:r>
            <a:r>
              <a:rPr lang="en-US" sz="1600" baseline="30000" dirty="0">
                <a:latin typeface="Helvetica" pitchFamily="2" charset="0"/>
                <a:sym typeface="Wingdings" pitchFamily="2" charset="2"/>
              </a:rPr>
              <a:t>nd</a:t>
            </a:r>
            <a:r>
              <a:rPr lang="en-US" sz="1600" dirty="0">
                <a:latin typeface="Helvetica" pitchFamily="2" charset="0"/>
                <a:sym typeface="Wingdings" pitchFamily="2" charset="2"/>
              </a:rPr>
              <a:t>/3</a:t>
            </a:r>
            <a:r>
              <a:rPr lang="en-US" sz="1600" baseline="30000" dirty="0">
                <a:latin typeface="Helvetica" pitchFamily="2" charset="0"/>
                <a:sym typeface="Wingdings" pitchFamily="2" charset="2"/>
              </a:rPr>
              <a:t>rd</a:t>
            </a:r>
            <a:r>
              <a:rPr lang="en-US" sz="1600" dirty="0">
                <a:latin typeface="Helvetica" pitchFamily="2" charset="0"/>
                <a:sym typeface="Wingdings" pitchFamily="2" charset="2"/>
              </a:rPr>
              <a:t> etc.  the manual dataset tells us this, sometimes a patient was entered for the first time on their 3</a:t>
            </a:r>
            <a:r>
              <a:rPr lang="en-US" sz="1600" baseline="30000" dirty="0">
                <a:latin typeface="Helvetica" pitchFamily="2" charset="0"/>
                <a:sym typeface="Wingdings" pitchFamily="2" charset="2"/>
              </a:rPr>
              <a:t>rd</a:t>
            </a:r>
            <a:r>
              <a:rPr lang="en-US" sz="1600" dirty="0">
                <a:latin typeface="Helvetica" pitchFamily="2" charset="0"/>
                <a:sym typeface="Wingdings" pitchFamily="2" charset="2"/>
              </a:rPr>
              <a:t> cycle, so I exclude from the first analysis </a:t>
            </a:r>
          </a:p>
          <a:p>
            <a:pPr marL="742950" lvl="1" indent="-285750">
              <a:buFont typeface="Arial" panose="020B0604020202020204" pitchFamily="34" charset="0"/>
              <a:buChar char="•"/>
            </a:pPr>
            <a:r>
              <a:rPr lang="en-US" sz="1600" dirty="0">
                <a:latin typeface="Helvetica" pitchFamily="2" charset="0"/>
                <a:sym typeface="Wingdings" pitchFamily="2" charset="2"/>
              </a:rPr>
              <a:t>Cannot just assume - important to know and differentiate between the cycles as that will inform protocol choices</a:t>
            </a:r>
          </a:p>
          <a:p>
            <a:pPr marL="285750" indent="-285750">
              <a:buFont typeface="Arial" panose="020B0604020202020204" pitchFamily="34" charset="0"/>
              <a:buChar char="•"/>
            </a:pPr>
            <a:r>
              <a:rPr lang="en-US" sz="1600" dirty="0">
                <a:latin typeface="Helvetica" pitchFamily="2" charset="0"/>
                <a:sym typeface="Wingdings" pitchFamily="2" charset="2"/>
              </a:rPr>
              <a:t>Large dataset has no info on FSH/</a:t>
            </a:r>
            <a:r>
              <a:rPr lang="en-US" sz="1600" dirty="0" err="1">
                <a:latin typeface="Helvetica" pitchFamily="2" charset="0"/>
                <a:sym typeface="Wingdings" pitchFamily="2" charset="2"/>
              </a:rPr>
              <a:t>hMG</a:t>
            </a:r>
            <a:r>
              <a:rPr lang="en-US" sz="1600" dirty="0">
                <a:latin typeface="Helvetica" pitchFamily="2" charset="0"/>
                <a:sym typeface="Wingdings" pitchFamily="2" charset="2"/>
              </a:rPr>
              <a:t> dose changes  just tells us total dose, cannot make assumptions on daily doses, and days of stimulation</a:t>
            </a:r>
          </a:p>
          <a:p>
            <a:pPr marL="742950" lvl="1" indent="-285750">
              <a:buFont typeface="Arial" panose="020B0604020202020204" pitchFamily="34" charset="0"/>
              <a:buChar char="•"/>
            </a:pPr>
            <a:r>
              <a:rPr lang="en-US" sz="1600" dirty="0">
                <a:latin typeface="Helvetica" pitchFamily="2" charset="0"/>
                <a:sym typeface="Wingdings" pitchFamily="2" charset="2"/>
              </a:rPr>
              <a:t>Sometimes says the starting protocol dose</a:t>
            </a:r>
          </a:p>
          <a:p>
            <a:pPr marL="742950" lvl="1" indent="-285750">
              <a:buFont typeface="Arial" panose="020B0604020202020204" pitchFamily="34" charset="0"/>
              <a:buChar char="•"/>
            </a:pPr>
            <a:r>
              <a:rPr lang="en-US" sz="1600" dirty="0">
                <a:latin typeface="Helvetica" pitchFamily="2" charset="0"/>
                <a:sym typeface="Wingdings" pitchFamily="2" charset="2"/>
              </a:rPr>
              <a:t>But dividing total/starting dose to calculate days of stim gives decimals, suggesting the dose was changed</a:t>
            </a:r>
          </a:p>
          <a:p>
            <a:pPr marL="285750" indent="-285750">
              <a:buFont typeface="Arial" panose="020B0604020202020204" pitchFamily="34" charset="0"/>
              <a:buChar char="•"/>
            </a:pPr>
            <a:r>
              <a:rPr lang="en-US" sz="1600" dirty="0">
                <a:latin typeface="Helvetica" pitchFamily="2" charset="0"/>
                <a:sym typeface="Wingdings" pitchFamily="2" charset="2"/>
              </a:rPr>
              <a:t>Large dataset has no info on days of stim  cannot assume doses and they are mainly missing</a:t>
            </a:r>
          </a:p>
          <a:p>
            <a:pPr marL="285750" indent="-285750">
              <a:buFont typeface="Arial" panose="020B0604020202020204" pitchFamily="34" charset="0"/>
              <a:buChar char="•"/>
            </a:pPr>
            <a:r>
              <a:rPr lang="en-US" sz="1600" dirty="0">
                <a:latin typeface="Helvetica" pitchFamily="2" charset="0"/>
                <a:sym typeface="Wingdings" pitchFamily="2" charset="2"/>
              </a:rPr>
              <a:t>The large dataset has no information on </a:t>
            </a:r>
            <a:r>
              <a:rPr lang="en-US" sz="1600" dirty="0" err="1">
                <a:latin typeface="Helvetica" pitchFamily="2" charset="0"/>
                <a:sym typeface="Wingdings" pitchFamily="2" charset="2"/>
              </a:rPr>
              <a:t>Fyramadel</a:t>
            </a:r>
            <a:r>
              <a:rPr lang="en-US" sz="1600" dirty="0">
                <a:latin typeface="Helvetica" pitchFamily="2" charset="0"/>
                <a:sym typeface="Wingdings" pitchFamily="2" charset="2"/>
              </a:rPr>
              <a:t>/GnRH antagonist (always starts from day 6), could calculate duration if we knew days of stim, but this is missing, do not know dose either</a:t>
            </a:r>
          </a:p>
          <a:p>
            <a:pPr marL="285750" indent="-285750">
              <a:buFont typeface="Arial" panose="020B0604020202020204" pitchFamily="34" charset="0"/>
              <a:buChar char="•"/>
            </a:pPr>
            <a:r>
              <a:rPr lang="en-US" sz="1600" dirty="0">
                <a:latin typeface="Helvetica" pitchFamily="2" charset="0"/>
                <a:sym typeface="Wingdings" pitchFamily="2" charset="2"/>
              </a:rPr>
              <a:t>No information on whether the patient had a dual trigger (</a:t>
            </a:r>
            <a:r>
              <a:rPr lang="en-US" sz="1600" dirty="0" err="1">
                <a:latin typeface="Helvetica" pitchFamily="2" charset="0"/>
                <a:sym typeface="Wingdings" pitchFamily="2" charset="2"/>
              </a:rPr>
              <a:t>hCG</a:t>
            </a:r>
            <a:r>
              <a:rPr lang="en-US" sz="1600" dirty="0">
                <a:latin typeface="Helvetica" pitchFamily="2" charset="0"/>
                <a:sym typeface="Wingdings" pitchFamily="2" charset="2"/>
              </a:rPr>
              <a:t> &amp; GnRH)  just says a single trigger medication and dose, in the manual patient dataset there was this info, so datasets do not add up</a:t>
            </a:r>
          </a:p>
          <a:p>
            <a:pPr marL="285750" indent="-285750">
              <a:buFont typeface="Arial" panose="020B0604020202020204" pitchFamily="34" charset="0"/>
              <a:buChar char="•"/>
            </a:pPr>
            <a:r>
              <a:rPr lang="en-US" sz="1600" dirty="0">
                <a:latin typeface="Helvetica" pitchFamily="2" charset="0"/>
                <a:sym typeface="Wingdings" pitchFamily="2" charset="2"/>
              </a:rPr>
              <a:t>Number of mature oocytes (D0, D16), number inseminated  lots of oocyte measures which don’t add up/make sense</a:t>
            </a:r>
          </a:p>
          <a:p>
            <a:pPr marL="285750" indent="-285750">
              <a:buFont typeface="Arial" panose="020B0604020202020204" pitchFamily="34" charset="0"/>
              <a:buChar char="•"/>
            </a:pPr>
            <a:r>
              <a:rPr lang="en-US" sz="1600" dirty="0">
                <a:latin typeface="Helvetica" pitchFamily="2" charset="0"/>
                <a:sym typeface="Wingdings" pitchFamily="2" charset="2"/>
              </a:rPr>
              <a:t>Age of patients: in manual dataset: 36.4, in big dataset 36.5  possibly some rounding issue during extraction?</a:t>
            </a:r>
          </a:p>
          <a:p>
            <a:pPr marL="285750" indent="-285750">
              <a:buFont typeface="Arial" panose="020B0604020202020204" pitchFamily="34" charset="0"/>
              <a:buChar char="•"/>
            </a:pPr>
            <a:endParaRPr lang="en-US" dirty="0">
              <a:sym typeface="Wingdings" pitchFamily="2" charset="2"/>
            </a:endParaRPr>
          </a:p>
        </p:txBody>
      </p:sp>
    </p:spTree>
    <p:extLst>
      <p:ext uri="{BB962C8B-B14F-4D97-AF65-F5344CB8AC3E}">
        <p14:creationId xmlns:p14="http://schemas.microsoft.com/office/powerpoint/2010/main" val="3147134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close-up of a price tag&#10;&#10;AI-generated content may be incorrect.">
            <a:extLst>
              <a:ext uri="{FF2B5EF4-FFF2-40B4-BE49-F238E27FC236}">
                <a16:creationId xmlns:a16="http://schemas.microsoft.com/office/drawing/2014/main" id="{9943F8C7-3B70-44C5-67F3-AD3EF6C520D7}"/>
              </a:ext>
            </a:extLst>
          </p:cNvPr>
          <p:cNvPicPr>
            <a:picLocks noChangeAspect="1"/>
          </p:cNvPicPr>
          <p:nvPr/>
        </p:nvPicPr>
        <p:blipFill>
          <a:blip r:embed="rId2"/>
          <a:stretch>
            <a:fillRect/>
          </a:stretch>
        </p:blipFill>
        <p:spPr>
          <a:xfrm>
            <a:off x="7979471" y="719666"/>
            <a:ext cx="3115991" cy="899596"/>
          </a:xfrm>
          <a:prstGeom prst="rect">
            <a:avLst/>
          </a:prstGeom>
        </p:spPr>
      </p:pic>
      <p:pic>
        <p:nvPicPr>
          <p:cNvPr id="11" name="Picture 10" descr="A white rectangular box with black text&#10;&#10;AI-generated content may be incorrect.">
            <a:extLst>
              <a:ext uri="{FF2B5EF4-FFF2-40B4-BE49-F238E27FC236}">
                <a16:creationId xmlns:a16="http://schemas.microsoft.com/office/drawing/2014/main" id="{0A7F2396-FA4C-FB31-C7D6-FAA9A5649A22}"/>
              </a:ext>
            </a:extLst>
          </p:cNvPr>
          <p:cNvPicPr>
            <a:picLocks noChangeAspect="1"/>
          </p:cNvPicPr>
          <p:nvPr/>
        </p:nvPicPr>
        <p:blipFill>
          <a:blip r:embed="rId3"/>
          <a:stretch>
            <a:fillRect/>
          </a:stretch>
        </p:blipFill>
        <p:spPr>
          <a:xfrm>
            <a:off x="8244623" y="1699790"/>
            <a:ext cx="2605513" cy="877233"/>
          </a:xfrm>
          <a:prstGeom prst="rect">
            <a:avLst/>
          </a:prstGeom>
        </p:spPr>
      </p:pic>
      <p:sp>
        <p:nvSpPr>
          <p:cNvPr id="12" name="TextBox 11">
            <a:extLst>
              <a:ext uri="{FF2B5EF4-FFF2-40B4-BE49-F238E27FC236}">
                <a16:creationId xmlns:a16="http://schemas.microsoft.com/office/drawing/2014/main" id="{2C26C21B-69C4-12F9-F773-95996C8B8E5A}"/>
              </a:ext>
            </a:extLst>
          </p:cNvPr>
          <p:cNvSpPr txBox="1"/>
          <p:nvPr/>
        </p:nvSpPr>
        <p:spPr>
          <a:xfrm>
            <a:off x="7865327" y="3356517"/>
            <a:ext cx="3754246" cy="1477328"/>
          </a:xfrm>
          <a:prstGeom prst="rect">
            <a:avLst/>
          </a:prstGeom>
          <a:noFill/>
        </p:spPr>
        <p:txBody>
          <a:bodyPr wrap="square" rtlCol="0">
            <a:spAutoFit/>
          </a:bodyPr>
          <a:lstStyle/>
          <a:p>
            <a:pPr marL="285750" indent="-285750">
              <a:buFont typeface="Arial" panose="020B0604020202020204" pitchFamily="34" charset="0"/>
              <a:buChar char="•"/>
            </a:pPr>
            <a:r>
              <a:rPr lang="en-US" dirty="0"/>
              <a:t>Rightly skewed distribution</a:t>
            </a:r>
          </a:p>
          <a:p>
            <a:pPr marL="285750" indent="-285750">
              <a:buFont typeface="Arial" panose="020B0604020202020204" pitchFamily="34" charset="0"/>
              <a:buChar char="•"/>
            </a:pPr>
            <a:r>
              <a:rPr lang="en-US" dirty="0"/>
              <a:t>Mean is greater than median</a:t>
            </a:r>
          </a:p>
          <a:p>
            <a:pPr marL="285750" indent="-285750">
              <a:buFont typeface="Arial" panose="020B0604020202020204" pitchFamily="34" charset="0"/>
              <a:buChar char="•"/>
            </a:pPr>
            <a:r>
              <a:rPr lang="en-US" dirty="0"/>
              <a:t>Over dispersed data </a:t>
            </a:r>
            <a:r>
              <a:rPr lang="en-US" dirty="0">
                <a:sym typeface="Wingdings" pitchFamily="2" charset="2"/>
              </a:rPr>
              <a:t> the variance is much greater than the mean</a:t>
            </a:r>
            <a:endParaRPr lang="en-US" dirty="0"/>
          </a:p>
        </p:txBody>
      </p:sp>
      <p:sp>
        <p:nvSpPr>
          <p:cNvPr id="13" name="TextBox 12">
            <a:extLst>
              <a:ext uri="{FF2B5EF4-FFF2-40B4-BE49-F238E27FC236}">
                <a16:creationId xmlns:a16="http://schemas.microsoft.com/office/drawing/2014/main" id="{77534CFC-3975-E1E3-9E84-493A2508A2E7}"/>
              </a:ext>
            </a:extLst>
          </p:cNvPr>
          <p:cNvSpPr txBox="1"/>
          <p:nvPr/>
        </p:nvSpPr>
        <p:spPr>
          <a:xfrm>
            <a:off x="6626004" y="719666"/>
            <a:ext cx="538930" cy="276999"/>
          </a:xfrm>
          <a:prstGeom prst="rect">
            <a:avLst/>
          </a:prstGeom>
          <a:noFill/>
        </p:spPr>
        <p:txBody>
          <a:bodyPr wrap="none" rtlCol="0">
            <a:spAutoFit/>
          </a:bodyPr>
          <a:lstStyle/>
          <a:p>
            <a:r>
              <a:rPr lang="en-US" sz="1200" i="1" dirty="0"/>
              <a:t>N=78</a:t>
            </a:r>
          </a:p>
        </p:txBody>
      </p:sp>
      <p:pic>
        <p:nvPicPr>
          <p:cNvPr id="15" name="Picture 14" descr="A graph of a number of mature oocytes&#10;&#10;AI-generated content may be incorrect.">
            <a:extLst>
              <a:ext uri="{FF2B5EF4-FFF2-40B4-BE49-F238E27FC236}">
                <a16:creationId xmlns:a16="http://schemas.microsoft.com/office/drawing/2014/main" id="{A1802148-0E5F-4C46-D85C-DDDEDE109BC1}"/>
              </a:ext>
            </a:extLst>
          </p:cNvPr>
          <p:cNvPicPr>
            <a:picLocks noChangeAspect="1"/>
          </p:cNvPicPr>
          <p:nvPr/>
        </p:nvPicPr>
        <p:blipFill>
          <a:blip r:embed="rId4"/>
          <a:stretch>
            <a:fillRect/>
          </a:stretch>
        </p:blipFill>
        <p:spPr>
          <a:xfrm>
            <a:off x="228381" y="996664"/>
            <a:ext cx="6298410" cy="3943197"/>
          </a:xfrm>
          <a:prstGeom prst="rect">
            <a:avLst/>
          </a:prstGeom>
        </p:spPr>
      </p:pic>
    </p:spTree>
    <p:extLst>
      <p:ext uri="{BB962C8B-B14F-4D97-AF65-F5344CB8AC3E}">
        <p14:creationId xmlns:p14="http://schemas.microsoft.com/office/powerpoint/2010/main" val="741931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aph of ageing&#10;&#10;AI-generated content may be incorrect.">
            <a:extLst>
              <a:ext uri="{FF2B5EF4-FFF2-40B4-BE49-F238E27FC236}">
                <a16:creationId xmlns:a16="http://schemas.microsoft.com/office/drawing/2014/main" id="{261B0C03-4168-CC42-7EE8-5334EBB9AAB3}"/>
              </a:ext>
            </a:extLst>
          </p:cNvPr>
          <p:cNvPicPr>
            <a:picLocks noChangeAspect="1"/>
          </p:cNvPicPr>
          <p:nvPr/>
        </p:nvPicPr>
        <p:blipFill>
          <a:blip r:embed="rId2"/>
          <a:stretch>
            <a:fillRect/>
          </a:stretch>
        </p:blipFill>
        <p:spPr>
          <a:xfrm>
            <a:off x="90831" y="388882"/>
            <a:ext cx="3801719" cy="2374681"/>
          </a:xfrm>
          <a:prstGeom prst="rect">
            <a:avLst/>
          </a:prstGeom>
        </p:spPr>
      </p:pic>
      <p:pic>
        <p:nvPicPr>
          <p:cNvPr id="8" name="Picture 7" descr="A graph of bmi&#10;&#10;AI-generated content may be incorrect.">
            <a:extLst>
              <a:ext uri="{FF2B5EF4-FFF2-40B4-BE49-F238E27FC236}">
                <a16:creationId xmlns:a16="http://schemas.microsoft.com/office/drawing/2014/main" id="{F6D54654-D017-84E5-D151-11F6E13FA04E}"/>
              </a:ext>
            </a:extLst>
          </p:cNvPr>
          <p:cNvPicPr>
            <a:picLocks noChangeAspect="1"/>
          </p:cNvPicPr>
          <p:nvPr/>
        </p:nvPicPr>
        <p:blipFill>
          <a:blip r:embed="rId3"/>
          <a:stretch>
            <a:fillRect/>
          </a:stretch>
        </p:blipFill>
        <p:spPr>
          <a:xfrm>
            <a:off x="3969884" y="388882"/>
            <a:ext cx="3868612" cy="2374681"/>
          </a:xfrm>
          <a:prstGeom prst="rect">
            <a:avLst/>
          </a:prstGeom>
        </p:spPr>
      </p:pic>
      <p:pic>
        <p:nvPicPr>
          <p:cNvPr id="10" name="Picture 9" descr="A graph of a number of blue bars&#10;&#10;AI-generated content may be incorrect.">
            <a:extLst>
              <a:ext uri="{FF2B5EF4-FFF2-40B4-BE49-F238E27FC236}">
                <a16:creationId xmlns:a16="http://schemas.microsoft.com/office/drawing/2014/main" id="{0E46F475-1F99-D583-A65E-1BD39080DC54}"/>
              </a:ext>
            </a:extLst>
          </p:cNvPr>
          <p:cNvPicPr>
            <a:picLocks noChangeAspect="1"/>
          </p:cNvPicPr>
          <p:nvPr/>
        </p:nvPicPr>
        <p:blipFill>
          <a:blip r:embed="rId4"/>
          <a:stretch>
            <a:fillRect/>
          </a:stretch>
        </p:blipFill>
        <p:spPr>
          <a:xfrm>
            <a:off x="8038159" y="388882"/>
            <a:ext cx="3832626" cy="2374682"/>
          </a:xfrm>
          <a:prstGeom prst="rect">
            <a:avLst/>
          </a:prstGeom>
        </p:spPr>
      </p:pic>
      <p:pic>
        <p:nvPicPr>
          <p:cNvPr id="12" name="Picture 11" descr="A graph of a graph&#10;&#10;AI-generated content may be incorrect.">
            <a:extLst>
              <a:ext uri="{FF2B5EF4-FFF2-40B4-BE49-F238E27FC236}">
                <a16:creationId xmlns:a16="http://schemas.microsoft.com/office/drawing/2014/main" id="{551356A2-C756-0B67-8EBE-279666847783}"/>
              </a:ext>
            </a:extLst>
          </p:cNvPr>
          <p:cNvPicPr>
            <a:picLocks noChangeAspect="1"/>
          </p:cNvPicPr>
          <p:nvPr/>
        </p:nvPicPr>
        <p:blipFill>
          <a:blip r:embed="rId5"/>
          <a:stretch>
            <a:fillRect/>
          </a:stretch>
        </p:blipFill>
        <p:spPr>
          <a:xfrm>
            <a:off x="90831" y="2904359"/>
            <a:ext cx="3745520" cy="2374681"/>
          </a:xfrm>
          <a:prstGeom prst="rect">
            <a:avLst/>
          </a:prstGeom>
        </p:spPr>
      </p:pic>
      <p:pic>
        <p:nvPicPr>
          <p:cNvPr id="14" name="Picture 13" descr="A graph of a number of blue bars&#10;&#10;AI-generated content may be incorrect.">
            <a:extLst>
              <a:ext uri="{FF2B5EF4-FFF2-40B4-BE49-F238E27FC236}">
                <a16:creationId xmlns:a16="http://schemas.microsoft.com/office/drawing/2014/main" id="{BBCF3E6A-DA55-3FDD-C886-873AA60BC4F5}"/>
              </a:ext>
            </a:extLst>
          </p:cNvPr>
          <p:cNvPicPr>
            <a:picLocks noChangeAspect="1"/>
          </p:cNvPicPr>
          <p:nvPr/>
        </p:nvPicPr>
        <p:blipFill>
          <a:blip r:embed="rId6"/>
          <a:stretch>
            <a:fillRect/>
          </a:stretch>
        </p:blipFill>
        <p:spPr>
          <a:xfrm>
            <a:off x="4002246" y="2904358"/>
            <a:ext cx="3803887" cy="2374681"/>
          </a:xfrm>
          <a:prstGeom prst="rect">
            <a:avLst/>
          </a:prstGeom>
        </p:spPr>
      </p:pic>
    </p:spTree>
    <p:extLst>
      <p:ext uri="{BB962C8B-B14F-4D97-AF65-F5344CB8AC3E}">
        <p14:creationId xmlns:p14="http://schemas.microsoft.com/office/powerpoint/2010/main" val="3451946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with text on it&#10;&#10;AI-generated content may be incorrect.">
            <a:extLst>
              <a:ext uri="{FF2B5EF4-FFF2-40B4-BE49-F238E27FC236}">
                <a16:creationId xmlns:a16="http://schemas.microsoft.com/office/drawing/2014/main" id="{845E29BE-B753-8DA4-0A07-E99A179EA6B0}"/>
              </a:ext>
            </a:extLst>
          </p:cNvPr>
          <p:cNvPicPr>
            <a:picLocks noGrp="1" noChangeAspect="1"/>
          </p:cNvPicPr>
          <p:nvPr>
            <p:ph idx="1"/>
          </p:nvPr>
        </p:nvPicPr>
        <p:blipFill>
          <a:blip r:embed="rId2"/>
          <a:stretch>
            <a:fillRect/>
          </a:stretch>
        </p:blipFill>
        <p:spPr>
          <a:xfrm>
            <a:off x="172326" y="313259"/>
            <a:ext cx="3331034" cy="2125141"/>
          </a:xfrm>
          <a:prstGeom prst="rect">
            <a:avLst/>
          </a:prstGeom>
        </p:spPr>
      </p:pic>
      <p:pic>
        <p:nvPicPr>
          <p:cNvPr id="7" name="Picture 6" descr="A graph with blue bars&#10;&#10;AI-generated content may be incorrect.">
            <a:extLst>
              <a:ext uri="{FF2B5EF4-FFF2-40B4-BE49-F238E27FC236}">
                <a16:creationId xmlns:a16="http://schemas.microsoft.com/office/drawing/2014/main" id="{668DB7A9-FFCF-33CD-5272-079724E1CBE3}"/>
              </a:ext>
            </a:extLst>
          </p:cNvPr>
          <p:cNvPicPr>
            <a:picLocks noChangeAspect="1"/>
          </p:cNvPicPr>
          <p:nvPr/>
        </p:nvPicPr>
        <p:blipFill>
          <a:blip r:embed="rId3"/>
          <a:stretch>
            <a:fillRect/>
          </a:stretch>
        </p:blipFill>
        <p:spPr>
          <a:xfrm>
            <a:off x="3709773" y="331363"/>
            <a:ext cx="3499659" cy="2125141"/>
          </a:xfrm>
          <a:prstGeom prst="rect">
            <a:avLst/>
          </a:prstGeom>
        </p:spPr>
      </p:pic>
      <p:pic>
        <p:nvPicPr>
          <p:cNvPr id="9" name="Picture 8" descr="A graph with blue bars&#10;&#10;AI-generated content may be incorrect.">
            <a:extLst>
              <a:ext uri="{FF2B5EF4-FFF2-40B4-BE49-F238E27FC236}">
                <a16:creationId xmlns:a16="http://schemas.microsoft.com/office/drawing/2014/main" id="{646D6EBF-5D1E-45EB-AC2D-FDA87DDB9FC6}"/>
              </a:ext>
            </a:extLst>
          </p:cNvPr>
          <p:cNvPicPr>
            <a:picLocks noChangeAspect="1"/>
          </p:cNvPicPr>
          <p:nvPr/>
        </p:nvPicPr>
        <p:blipFill>
          <a:blip r:embed="rId4"/>
          <a:stretch>
            <a:fillRect/>
          </a:stretch>
        </p:blipFill>
        <p:spPr>
          <a:xfrm>
            <a:off x="7603496" y="313258"/>
            <a:ext cx="3417866" cy="2107037"/>
          </a:xfrm>
          <a:prstGeom prst="rect">
            <a:avLst/>
          </a:prstGeom>
        </p:spPr>
      </p:pic>
      <p:pic>
        <p:nvPicPr>
          <p:cNvPr id="11" name="Picture 10" descr="A graph with blue bars&#10;&#10;AI-generated content may be incorrect.">
            <a:extLst>
              <a:ext uri="{FF2B5EF4-FFF2-40B4-BE49-F238E27FC236}">
                <a16:creationId xmlns:a16="http://schemas.microsoft.com/office/drawing/2014/main" id="{5869ABB0-FB2F-B77A-FA09-E101529B4230}"/>
              </a:ext>
            </a:extLst>
          </p:cNvPr>
          <p:cNvPicPr>
            <a:picLocks noChangeAspect="1"/>
          </p:cNvPicPr>
          <p:nvPr/>
        </p:nvPicPr>
        <p:blipFill>
          <a:blip r:embed="rId5"/>
          <a:stretch>
            <a:fillRect/>
          </a:stretch>
        </p:blipFill>
        <p:spPr>
          <a:xfrm>
            <a:off x="451288" y="3229905"/>
            <a:ext cx="4457700" cy="2755900"/>
          </a:xfrm>
          <a:prstGeom prst="rect">
            <a:avLst/>
          </a:prstGeom>
        </p:spPr>
      </p:pic>
    </p:spTree>
    <p:extLst>
      <p:ext uri="{BB962C8B-B14F-4D97-AF65-F5344CB8AC3E}">
        <p14:creationId xmlns:p14="http://schemas.microsoft.com/office/powerpoint/2010/main" val="7522802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a number of blue bars&#10;&#10;AI-generated content may be incorrect.">
            <a:extLst>
              <a:ext uri="{FF2B5EF4-FFF2-40B4-BE49-F238E27FC236}">
                <a16:creationId xmlns:a16="http://schemas.microsoft.com/office/drawing/2014/main" id="{B09CB5DF-D88E-DEB7-3EEB-CBEF825E9A64}"/>
              </a:ext>
            </a:extLst>
          </p:cNvPr>
          <p:cNvPicPr>
            <a:picLocks noChangeAspect="1"/>
          </p:cNvPicPr>
          <p:nvPr/>
        </p:nvPicPr>
        <p:blipFill>
          <a:blip r:embed="rId2"/>
          <a:stretch>
            <a:fillRect/>
          </a:stretch>
        </p:blipFill>
        <p:spPr>
          <a:xfrm>
            <a:off x="151541" y="4534197"/>
            <a:ext cx="3635247" cy="2254907"/>
          </a:xfrm>
          <a:prstGeom prst="rect">
            <a:avLst/>
          </a:prstGeom>
        </p:spPr>
      </p:pic>
      <p:pic>
        <p:nvPicPr>
          <p:cNvPr id="7" name="Picture 6" descr="A graph with blue bars&#10;&#10;AI-generated content may be incorrect.">
            <a:extLst>
              <a:ext uri="{FF2B5EF4-FFF2-40B4-BE49-F238E27FC236}">
                <a16:creationId xmlns:a16="http://schemas.microsoft.com/office/drawing/2014/main" id="{27413A27-0757-C6DA-AC23-6FA0BC0AEA85}"/>
              </a:ext>
            </a:extLst>
          </p:cNvPr>
          <p:cNvPicPr>
            <a:picLocks noChangeAspect="1"/>
          </p:cNvPicPr>
          <p:nvPr/>
        </p:nvPicPr>
        <p:blipFill>
          <a:blip r:embed="rId3"/>
          <a:stretch>
            <a:fillRect/>
          </a:stretch>
        </p:blipFill>
        <p:spPr>
          <a:xfrm>
            <a:off x="103045" y="176947"/>
            <a:ext cx="3257130" cy="1998693"/>
          </a:xfrm>
          <a:prstGeom prst="rect">
            <a:avLst/>
          </a:prstGeom>
        </p:spPr>
      </p:pic>
      <p:pic>
        <p:nvPicPr>
          <p:cNvPr id="9" name="Picture 8" descr="A graph of a number of blue bars&#10;&#10;AI-generated content may be incorrect.">
            <a:extLst>
              <a:ext uri="{FF2B5EF4-FFF2-40B4-BE49-F238E27FC236}">
                <a16:creationId xmlns:a16="http://schemas.microsoft.com/office/drawing/2014/main" id="{4BA4AB7F-5D42-09E4-4E4C-C6887F633FF4}"/>
              </a:ext>
            </a:extLst>
          </p:cNvPr>
          <p:cNvPicPr>
            <a:picLocks noChangeAspect="1"/>
          </p:cNvPicPr>
          <p:nvPr/>
        </p:nvPicPr>
        <p:blipFill>
          <a:blip r:embed="rId4"/>
          <a:stretch>
            <a:fillRect/>
          </a:stretch>
        </p:blipFill>
        <p:spPr>
          <a:xfrm>
            <a:off x="3470189" y="176947"/>
            <a:ext cx="3418904" cy="2109952"/>
          </a:xfrm>
          <a:prstGeom prst="rect">
            <a:avLst/>
          </a:prstGeom>
        </p:spPr>
      </p:pic>
      <p:pic>
        <p:nvPicPr>
          <p:cNvPr id="11" name="Picture 10" descr="A graph with blue bars&#10;&#10;AI-generated content may be incorrect.">
            <a:extLst>
              <a:ext uri="{FF2B5EF4-FFF2-40B4-BE49-F238E27FC236}">
                <a16:creationId xmlns:a16="http://schemas.microsoft.com/office/drawing/2014/main" id="{C874329E-84E1-F583-6711-7CB21C8DD567}"/>
              </a:ext>
            </a:extLst>
          </p:cNvPr>
          <p:cNvPicPr>
            <a:picLocks noChangeAspect="1"/>
          </p:cNvPicPr>
          <p:nvPr/>
        </p:nvPicPr>
        <p:blipFill>
          <a:blip r:embed="rId5"/>
          <a:stretch>
            <a:fillRect/>
          </a:stretch>
        </p:blipFill>
        <p:spPr>
          <a:xfrm>
            <a:off x="6999107" y="303071"/>
            <a:ext cx="3457152" cy="2109952"/>
          </a:xfrm>
          <a:prstGeom prst="rect">
            <a:avLst/>
          </a:prstGeom>
        </p:spPr>
      </p:pic>
      <p:pic>
        <p:nvPicPr>
          <p:cNvPr id="13" name="Picture 12" descr="A graph with blue bars&#10;&#10;AI-generated content may be incorrect.">
            <a:extLst>
              <a:ext uri="{FF2B5EF4-FFF2-40B4-BE49-F238E27FC236}">
                <a16:creationId xmlns:a16="http://schemas.microsoft.com/office/drawing/2014/main" id="{FD759BC0-CFA6-ACFB-DE89-B27A25D7A337}"/>
              </a:ext>
            </a:extLst>
          </p:cNvPr>
          <p:cNvPicPr>
            <a:picLocks noChangeAspect="1"/>
          </p:cNvPicPr>
          <p:nvPr/>
        </p:nvPicPr>
        <p:blipFill>
          <a:blip r:embed="rId6"/>
          <a:stretch>
            <a:fillRect/>
          </a:stretch>
        </p:blipFill>
        <p:spPr>
          <a:xfrm>
            <a:off x="174021" y="2352905"/>
            <a:ext cx="3590288" cy="2152189"/>
          </a:xfrm>
          <a:prstGeom prst="rect">
            <a:avLst/>
          </a:prstGeom>
        </p:spPr>
      </p:pic>
      <p:pic>
        <p:nvPicPr>
          <p:cNvPr id="15" name="Picture 14" descr="A graph of a number of blue bars&#10;&#10;AI-generated content may be incorrect.">
            <a:extLst>
              <a:ext uri="{FF2B5EF4-FFF2-40B4-BE49-F238E27FC236}">
                <a16:creationId xmlns:a16="http://schemas.microsoft.com/office/drawing/2014/main" id="{FBC9EA36-E9F1-750E-A708-647218BD0A0F}"/>
              </a:ext>
            </a:extLst>
          </p:cNvPr>
          <p:cNvPicPr>
            <a:picLocks noChangeAspect="1"/>
          </p:cNvPicPr>
          <p:nvPr/>
        </p:nvPicPr>
        <p:blipFill>
          <a:blip r:embed="rId7"/>
          <a:stretch>
            <a:fillRect/>
          </a:stretch>
        </p:blipFill>
        <p:spPr>
          <a:xfrm>
            <a:off x="3753241" y="2382008"/>
            <a:ext cx="3245866" cy="2062970"/>
          </a:xfrm>
          <a:prstGeom prst="rect">
            <a:avLst/>
          </a:prstGeom>
        </p:spPr>
      </p:pic>
      <p:pic>
        <p:nvPicPr>
          <p:cNvPr id="17" name="Picture 16" descr="A graph with blue squares&#10;&#10;AI-generated content may be incorrect.">
            <a:extLst>
              <a:ext uri="{FF2B5EF4-FFF2-40B4-BE49-F238E27FC236}">
                <a16:creationId xmlns:a16="http://schemas.microsoft.com/office/drawing/2014/main" id="{3A49B542-FB9E-FB03-E8F6-3F33D9C5B980}"/>
              </a:ext>
            </a:extLst>
          </p:cNvPr>
          <p:cNvPicPr>
            <a:picLocks noChangeAspect="1"/>
          </p:cNvPicPr>
          <p:nvPr/>
        </p:nvPicPr>
        <p:blipFill>
          <a:blip r:embed="rId8"/>
          <a:stretch>
            <a:fillRect/>
          </a:stretch>
        </p:blipFill>
        <p:spPr>
          <a:xfrm>
            <a:off x="7343529" y="2474534"/>
            <a:ext cx="3078922" cy="1908932"/>
          </a:xfrm>
          <a:prstGeom prst="rect">
            <a:avLst/>
          </a:prstGeom>
        </p:spPr>
      </p:pic>
      <p:pic>
        <p:nvPicPr>
          <p:cNvPr id="2" name="Picture 1" descr="A graph of a number of blue bars&#10;&#10;AI-generated content may be incorrect.">
            <a:extLst>
              <a:ext uri="{FF2B5EF4-FFF2-40B4-BE49-F238E27FC236}">
                <a16:creationId xmlns:a16="http://schemas.microsoft.com/office/drawing/2014/main" id="{96DBFF8F-4DCF-9F88-A7A7-AF4C43F15C00}"/>
              </a:ext>
            </a:extLst>
          </p:cNvPr>
          <p:cNvPicPr>
            <a:picLocks noChangeAspect="1"/>
          </p:cNvPicPr>
          <p:nvPr/>
        </p:nvPicPr>
        <p:blipFill>
          <a:blip r:embed="rId9"/>
          <a:stretch>
            <a:fillRect/>
          </a:stretch>
        </p:blipFill>
        <p:spPr>
          <a:xfrm>
            <a:off x="7119044" y="4684010"/>
            <a:ext cx="3303407" cy="2017207"/>
          </a:xfrm>
          <a:prstGeom prst="rect">
            <a:avLst/>
          </a:prstGeom>
        </p:spPr>
      </p:pic>
    </p:spTree>
    <p:extLst>
      <p:ext uri="{BB962C8B-B14F-4D97-AF65-F5344CB8AC3E}">
        <p14:creationId xmlns:p14="http://schemas.microsoft.com/office/powerpoint/2010/main" val="3747628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a number of eggs&#10;&#10;AI-generated content may be incorrect.">
            <a:extLst>
              <a:ext uri="{FF2B5EF4-FFF2-40B4-BE49-F238E27FC236}">
                <a16:creationId xmlns:a16="http://schemas.microsoft.com/office/drawing/2014/main" id="{5EDC6572-5538-7B3D-D050-46D196265A72}"/>
              </a:ext>
            </a:extLst>
          </p:cNvPr>
          <p:cNvPicPr>
            <a:picLocks noChangeAspect="1"/>
          </p:cNvPicPr>
          <p:nvPr/>
        </p:nvPicPr>
        <p:blipFill>
          <a:blip r:embed="rId2"/>
          <a:stretch>
            <a:fillRect/>
          </a:stretch>
        </p:blipFill>
        <p:spPr>
          <a:xfrm>
            <a:off x="132324" y="325821"/>
            <a:ext cx="4084952" cy="2547226"/>
          </a:xfrm>
          <a:prstGeom prst="rect">
            <a:avLst/>
          </a:prstGeom>
        </p:spPr>
      </p:pic>
      <p:pic>
        <p:nvPicPr>
          <p:cNvPr id="7" name="Picture 6" descr="A graph of eggs and eggs&#10;&#10;AI-generated content may be incorrect.">
            <a:extLst>
              <a:ext uri="{FF2B5EF4-FFF2-40B4-BE49-F238E27FC236}">
                <a16:creationId xmlns:a16="http://schemas.microsoft.com/office/drawing/2014/main" id="{A2A1ECCD-443C-16DD-02A1-BEF441912B8C}"/>
              </a:ext>
            </a:extLst>
          </p:cNvPr>
          <p:cNvPicPr>
            <a:picLocks noChangeAspect="1"/>
          </p:cNvPicPr>
          <p:nvPr/>
        </p:nvPicPr>
        <p:blipFill>
          <a:blip r:embed="rId3"/>
          <a:stretch>
            <a:fillRect/>
          </a:stretch>
        </p:blipFill>
        <p:spPr>
          <a:xfrm>
            <a:off x="4506091" y="325821"/>
            <a:ext cx="4196475" cy="2615367"/>
          </a:xfrm>
          <a:prstGeom prst="rect">
            <a:avLst/>
          </a:prstGeom>
        </p:spPr>
      </p:pic>
      <p:pic>
        <p:nvPicPr>
          <p:cNvPr id="9" name="Picture 8" descr="A graph of a number of blue bars&#10;&#10;AI-generated content may be incorrect.">
            <a:extLst>
              <a:ext uri="{FF2B5EF4-FFF2-40B4-BE49-F238E27FC236}">
                <a16:creationId xmlns:a16="http://schemas.microsoft.com/office/drawing/2014/main" id="{F9D70546-6B8F-F286-028F-67A395C47F0D}"/>
              </a:ext>
            </a:extLst>
          </p:cNvPr>
          <p:cNvPicPr>
            <a:picLocks noChangeAspect="1"/>
          </p:cNvPicPr>
          <p:nvPr/>
        </p:nvPicPr>
        <p:blipFill>
          <a:blip r:embed="rId4"/>
          <a:stretch>
            <a:fillRect/>
          </a:stretch>
        </p:blipFill>
        <p:spPr>
          <a:xfrm>
            <a:off x="106638" y="3306596"/>
            <a:ext cx="4136323" cy="2547227"/>
          </a:xfrm>
          <a:prstGeom prst="rect">
            <a:avLst/>
          </a:prstGeom>
        </p:spPr>
      </p:pic>
      <p:pic>
        <p:nvPicPr>
          <p:cNvPr id="11" name="Picture 10" descr="A graph of fertilization&#10;&#10;AI-generated content may be incorrect.">
            <a:extLst>
              <a:ext uri="{FF2B5EF4-FFF2-40B4-BE49-F238E27FC236}">
                <a16:creationId xmlns:a16="http://schemas.microsoft.com/office/drawing/2014/main" id="{A6D1CB35-EBC6-962A-740D-DFE5381A0907}"/>
              </a:ext>
            </a:extLst>
          </p:cNvPr>
          <p:cNvPicPr>
            <a:picLocks noChangeAspect="1"/>
          </p:cNvPicPr>
          <p:nvPr/>
        </p:nvPicPr>
        <p:blipFill>
          <a:blip r:embed="rId5"/>
          <a:stretch>
            <a:fillRect/>
          </a:stretch>
        </p:blipFill>
        <p:spPr>
          <a:xfrm>
            <a:off x="4517482" y="3421729"/>
            <a:ext cx="4185084" cy="2608096"/>
          </a:xfrm>
          <a:prstGeom prst="rect">
            <a:avLst/>
          </a:prstGeom>
        </p:spPr>
      </p:pic>
    </p:spTree>
    <p:extLst>
      <p:ext uri="{BB962C8B-B14F-4D97-AF65-F5344CB8AC3E}">
        <p14:creationId xmlns:p14="http://schemas.microsoft.com/office/powerpoint/2010/main" val="191890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showing a number of data&#10;&#10;AI-generated content may be incorrect.">
            <a:extLst>
              <a:ext uri="{FF2B5EF4-FFF2-40B4-BE49-F238E27FC236}">
                <a16:creationId xmlns:a16="http://schemas.microsoft.com/office/drawing/2014/main" id="{505E393B-4429-DE92-DFDD-D432F6EA7C02}"/>
              </a:ext>
            </a:extLst>
          </p:cNvPr>
          <p:cNvPicPr>
            <a:picLocks noChangeAspect="1"/>
          </p:cNvPicPr>
          <p:nvPr/>
        </p:nvPicPr>
        <p:blipFill>
          <a:blip r:embed="rId2"/>
          <a:stretch>
            <a:fillRect/>
          </a:stretch>
        </p:blipFill>
        <p:spPr>
          <a:xfrm>
            <a:off x="507514" y="383540"/>
            <a:ext cx="10859181" cy="6474460"/>
          </a:xfrm>
          <a:prstGeom prst="rect">
            <a:avLst/>
          </a:prstGeom>
        </p:spPr>
      </p:pic>
    </p:spTree>
    <p:extLst>
      <p:ext uri="{BB962C8B-B14F-4D97-AF65-F5344CB8AC3E}">
        <p14:creationId xmlns:p14="http://schemas.microsoft.com/office/powerpoint/2010/main" val="3584454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6ABEE-4B6B-3478-571B-AA68FE48EBDD}"/>
              </a:ext>
            </a:extLst>
          </p:cNvPr>
          <p:cNvSpPr>
            <a:spLocks noGrp="1"/>
          </p:cNvSpPr>
          <p:nvPr>
            <p:ph type="title"/>
          </p:nvPr>
        </p:nvSpPr>
        <p:spPr>
          <a:xfrm>
            <a:off x="838200" y="130950"/>
            <a:ext cx="10515600" cy="683089"/>
          </a:xfrm>
        </p:spPr>
        <p:txBody>
          <a:bodyPr>
            <a:normAutofit fontScale="90000"/>
          </a:bodyPr>
          <a:lstStyle/>
          <a:p>
            <a:r>
              <a:rPr lang="en-US" dirty="0"/>
              <a:t>Missingness</a:t>
            </a:r>
          </a:p>
        </p:txBody>
      </p:sp>
      <p:pic>
        <p:nvPicPr>
          <p:cNvPr id="5" name="Picture 4" descr="A table with numbers and a few missing numbers&#10;&#10;AI-generated content may be incorrect.">
            <a:extLst>
              <a:ext uri="{FF2B5EF4-FFF2-40B4-BE49-F238E27FC236}">
                <a16:creationId xmlns:a16="http://schemas.microsoft.com/office/drawing/2014/main" id="{5D89A03C-5EA6-6240-1AF9-7FBA63822493}"/>
              </a:ext>
            </a:extLst>
          </p:cNvPr>
          <p:cNvPicPr>
            <a:picLocks noChangeAspect="1"/>
          </p:cNvPicPr>
          <p:nvPr/>
        </p:nvPicPr>
        <p:blipFill>
          <a:blip r:embed="rId2"/>
          <a:stretch>
            <a:fillRect/>
          </a:stretch>
        </p:blipFill>
        <p:spPr>
          <a:xfrm>
            <a:off x="398559" y="1471529"/>
            <a:ext cx="3543801" cy="3914942"/>
          </a:xfrm>
          <a:prstGeom prst="rect">
            <a:avLst/>
          </a:prstGeom>
        </p:spPr>
      </p:pic>
      <p:pic>
        <p:nvPicPr>
          <p:cNvPr id="10" name="Content Placeholder 3">
            <a:extLst>
              <a:ext uri="{FF2B5EF4-FFF2-40B4-BE49-F238E27FC236}">
                <a16:creationId xmlns:a16="http://schemas.microsoft.com/office/drawing/2014/main" id="{C1AE14A9-0D70-3B9B-FD89-323DC26B5CF5}"/>
              </a:ext>
            </a:extLst>
          </p:cNvPr>
          <p:cNvPicPr>
            <a:picLocks noGrp="1" noChangeAspect="1"/>
          </p:cNvPicPr>
          <p:nvPr>
            <p:ph idx="1"/>
          </p:nvPr>
        </p:nvPicPr>
        <p:blipFill>
          <a:blip r:embed="rId3"/>
          <a:stretch>
            <a:fillRect/>
          </a:stretch>
        </p:blipFill>
        <p:spPr>
          <a:xfrm>
            <a:off x="4072426" y="1107223"/>
            <a:ext cx="7865981" cy="4871545"/>
          </a:xfrm>
          <a:prstGeom prst="rect">
            <a:avLst/>
          </a:prstGeom>
        </p:spPr>
      </p:pic>
    </p:spTree>
    <p:extLst>
      <p:ext uri="{BB962C8B-B14F-4D97-AF65-F5344CB8AC3E}">
        <p14:creationId xmlns:p14="http://schemas.microsoft.com/office/powerpoint/2010/main" val="2668027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number of different colored squares&#10;&#10;AI-generated content may be incorrect.">
            <a:extLst>
              <a:ext uri="{FF2B5EF4-FFF2-40B4-BE49-F238E27FC236}">
                <a16:creationId xmlns:a16="http://schemas.microsoft.com/office/drawing/2014/main" id="{92519500-15A9-1672-332C-4B85837243BD}"/>
              </a:ext>
            </a:extLst>
          </p:cNvPr>
          <p:cNvPicPr>
            <a:picLocks noChangeAspect="1"/>
          </p:cNvPicPr>
          <p:nvPr/>
        </p:nvPicPr>
        <p:blipFill>
          <a:blip r:embed="rId2"/>
          <a:stretch>
            <a:fillRect/>
          </a:stretch>
        </p:blipFill>
        <p:spPr>
          <a:xfrm>
            <a:off x="467929" y="973770"/>
            <a:ext cx="4524484" cy="4910459"/>
          </a:xfrm>
          <a:prstGeom prst="rect">
            <a:avLst/>
          </a:prstGeom>
        </p:spPr>
      </p:pic>
      <p:pic>
        <p:nvPicPr>
          <p:cNvPr id="7" name="Picture 6" descr="A diagram of a number of data&#10;&#10;AI-generated content may be incorrect.">
            <a:extLst>
              <a:ext uri="{FF2B5EF4-FFF2-40B4-BE49-F238E27FC236}">
                <a16:creationId xmlns:a16="http://schemas.microsoft.com/office/drawing/2014/main" id="{E8C0E38E-F03E-0464-2955-11A8EA040F07}"/>
              </a:ext>
            </a:extLst>
          </p:cNvPr>
          <p:cNvPicPr>
            <a:picLocks noChangeAspect="1"/>
          </p:cNvPicPr>
          <p:nvPr/>
        </p:nvPicPr>
        <p:blipFill>
          <a:blip r:embed="rId3"/>
          <a:stretch>
            <a:fillRect/>
          </a:stretch>
        </p:blipFill>
        <p:spPr>
          <a:xfrm>
            <a:off x="5612743" y="881773"/>
            <a:ext cx="6370580" cy="5434944"/>
          </a:xfrm>
          <a:prstGeom prst="rect">
            <a:avLst/>
          </a:prstGeom>
        </p:spPr>
      </p:pic>
      <p:sp>
        <p:nvSpPr>
          <p:cNvPr id="8" name="TextBox 7">
            <a:extLst>
              <a:ext uri="{FF2B5EF4-FFF2-40B4-BE49-F238E27FC236}">
                <a16:creationId xmlns:a16="http://schemas.microsoft.com/office/drawing/2014/main" id="{5BC8B162-AA2F-33BA-24C0-CEC16B8B3904}"/>
              </a:ext>
            </a:extLst>
          </p:cNvPr>
          <p:cNvSpPr txBox="1"/>
          <p:nvPr/>
        </p:nvSpPr>
        <p:spPr>
          <a:xfrm>
            <a:off x="483476" y="451945"/>
            <a:ext cx="2239074" cy="369332"/>
          </a:xfrm>
          <a:prstGeom prst="rect">
            <a:avLst/>
          </a:prstGeom>
          <a:noFill/>
        </p:spPr>
        <p:txBody>
          <a:bodyPr wrap="none" rtlCol="0">
            <a:spAutoFit/>
          </a:bodyPr>
          <a:lstStyle/>
          <a:p>
            <a:r>
              <a:rPr lang="en-US" dirty="0"/>
              <a:t>Baseline parameters</a:t>
            </a:r>
          </a:p>
        </p:txBody>
      </p:sp>
      <p:sp>
        <p:nvSpPr>
          <p:cNvPr id="9" name="TextBox 8">
            <a:extLst>
              <a:ext uri="{FF2B5EF4-FFF2-40B4-BE49-F238E27FC236}">
                <a16:creationId xmlns:a16="http://schemas.microsoft.com/office/drawing/2014/main" id="{76343213-C407-4A78-768B-6CF08968167C}"/>
              </a:ext>
            </a:extLst>
          </p:cNvPr>
          <p:cNvSpPr txBox="1"/>
          <p:nvPr/>
        </p:nvSpPr>
        <p:spPr>
          <a:xfrm>
            <a:off x="6705600" y="388883"/>
            <a:ext cx="2219710" cy="369332"/>
          </a:xfrm>
          <a:prstGeom prst="rect">
            <a:avLst/>
          </a:prstGeom>
          <a:noFill/>
        </p:spPr>
        <p:txBody>
          <a:bodyPr wrap="none" rtlCol="0">
            <a:spAutoFit/>
          </a:bodyPr>
          <a:lstStyle/>
          <a:p>
            <a:r>
              <a:rPr lang="en-US" dirty="0"/>
              <a:t>Protocol parameters</a:t>
            </a:r>
          </a:p>
        </p:txBody>
      </p:sp>
    </p:spTree>
    <p:extLst>
      <p:ext uri="{BB962C8B-B14F-4D97-AF65-F5344CB8AC3E}">
        <p14:creationId xmlns:p14="http://schemas.microsoft.com/office/powerpoint/2010/main" val="23697566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diagram&#10;&#10;AI-generated content may be incorrect.">
            <a:extLst>
              <a:ext uri="{FF2B5EF4-FFF2-40B4-BE49-F238E27FC236}">
                <a16:creationId xmlns:a16="http://schemas.microsoft.com/office/drawing/2014/main" id="{C5CBD11B-397C-CF6C-37AE-1FBA3EB1C4DB}"/>
              </a:ext>
            </a:extLst>
          </p:cNvPr>
          <p:cNvPicPr>
            <a:picLocks noChangeAspect="1"/>
          </p:cNvPicPr>
          <p:nvPr/>
        </p:nvPicPr>
        <p:blipFill>
          <a:blip r:embed="rId2"/>
          <a:stretch>
            <a:fillRect/>
          </a:stretch>
        </p:blipFill>
        <p:spPr>
          <a:xfrm>
            <a:off x="565587" y="1308646"/>
            <a:ext cx="5357851" cy="5041353"/>
          </a:xfrm>
          <a:prstGeom prst="rect">
            <a:avLst/>
          </a:prstGeom>
        </p:spPr>
      </p:pic>
      <p:sp>
        <p:nvSpPr>
          <p:cNvPr id="6" name="TextBox 5">
            <a:extLst>
              <a:ext uri="{FF2B5EF4-FFF2-40B4-BE49-F238E27FC236}">
                <a16:creationId xmlns:a16="http://schemas.microsoft.com/office/drawing/2014/main" id="{ADDD72DE-612F-BBBB-4DE9-87EE398FFAE0}"/>
              </a:ext>
            </a:extLst>
          </p:cNvPr>
          <p:cNvSpPr txBox="1"/>
          <p:nvPr/>
        </p:nvSpPr>
        <p:spPr>
          <a:xfrm>
            <a:off x="893379" y="924910"/>
            <a:ext cx="1867178" cy="369332"/>
          </a:xfrm>
          <a:prstGeom prst="rect">
            <a:avLst/>
          </a:prstGeom>
          <a:noFill/>
        </p:spPr>
        <p:txBody>
          <a:bodyPr wrap="none" rtlCol="0">
            <a:spAutoFit/>
          </a:bodyPr>
          <a:lstStyle/>
          <a:p>
            <a:r>
              <a:rPr lang="en-US" dirty="0"/>
              <a:t>Male parameters</a:t>
            </a:r>
          </a:p>
        </p:txBody>
      </p:sp>
    </p:spTree>
    <p:extLst>
      <p:ext uri="{BB962C8B-B14F-4D97-AF65-F5344CB8AC3E}">
        <p14:creationId xmlns:p14="http://schemas.microsoft.com/office/powerpoint/2010/main" val="4152952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graph&#10;&#10;AI-generated content may be incorrect.">
            <a:extLst>
              <a:ext uri="{FF2B5EF4-FFF2-40B4-BE49-F238E27FC236}">
                <a16:creationId xmlns:a16="http://schemas.microsoft.com/office/drawing/2014/main" id="{D0D38B51-783A-E9E7-812B-A476BC05F871}"/>
              </a:ext>
            </a:extLst>
          </p:cNvPr>
          <p:cNvPicPr>
            <a:picLocks noGrp="1" noChangeAspect="1"/>
          </p:cNvPicPr>
          <p:nvPr>
            <p:ph idx="1"/>
          </p:nvPr>
        </p:nvPicPr>
        <p:blipFill>
          <a:blip r:embed="rId3"/>
          <a:stretch>
            <a:fillRect/>
          </a:stretch>
        </p:blipFill>
        <p:spPr>
          <a:xfrm>
            <a:off x="0" y="35574"/>
            <a:ext cx="6968359" cy="6822426"/>
          </a:xfrm>
          <a:prstGeom prst="rect">
            <a:avLst/>
          </a:prstGeom>
        </p:spPr>
      </p:pic>
      <p:sp>
        <p:nvSpPr>
          <p:cNvPr id="6" name="TextBox 5">
            <a:extLst>
              <a:ext uri="{FF2B5EF4-FFF2-40B4-BE49-F238E27FC236}">
                <a16:creationId xmlns:a16="http://schemas.microsoft.com/office/drawing/2014/main" id="{E3C2ECA0-E3B3-E76B-0EAE-8D4AF4FDC289}"/>
              </a:ext>
            </a:extLst>
          </p:cNvPr>
          <p:cNvSpPr txBox="1"/>
          <p:nvPr/>
        </p:nvSpPr>
        <p:spPr>
          <a:xfrm>
            <a:off x="6968358" y="1566041"/>
            <a:ext cx="4498428" cy="923330"/>
          </a:xfrm>
          <a:prstGeom prst="rect">
            <a:avLst/>
          </a:prstGeom>
          <a:noFill/>
        </p:spPr>
        <p:txBody>
          <a:bodyPr wrap="square" rtlCol="0">
            <a:spAutoFit/>
          </a:bodyPr>
          <a:lstStyle/>
          <a:p>
            <a:r>
              <a:rPr lang="en-US" dirty="0"/>
              <a:t>All parameters – including near end parameters which will be excluded from analyses</a:t>
            </a:r>
          </a:p>
        </p:txBody>
      </p:sp>
    </p:spTree>
    <p:extLst>
      <p:ext uri="{BB962C8B-B14F-4D97-AF65-F5344CB8AC3E}">
        <p14:creationId xmlns:p14="http://schemas.microsoft.com/office/powerpoint/2010/main" val="2169984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with blue dots&#10;&#10;AI-generated content may be incorrect.">
            <a:extLst>
              <a:ext uri="{FF2B5EF4-FFF2-40B4-BE49-F238E27FC236}">
                <a16:creationId xmlns:a16="http://schemas.microsoft.com/office/drawing/2014/main" id="{EB1C416C-895B-D0ED-4E7D-AE54365F88BA}"/>
              </a:ext>
            </a:extLst>
          </p:cNvPr>
          <p:cNvPicPr>
            <a:picLocks noChangeAspect="1"/>
          </p:cNvPicPr>
          <p:nvPr/>
        </p:nvPicPr>
        <p:blipFill>
          <a:blip r:embed="rId2"/>
          <a:stretch>
            <a:fillRect/>
          </a:stretch>
        </p:blipFill>
        <p:spPr>
          <a:xfrm>
            <a:off x="196631" y="253563"/>
            <a:ext cx="5195176" cy="3221590"/>
          </a:xfrm>
          <a:prstGeom prst="rect">
            <a:avLst/>
          </a:prstGeom>
        </p:spPr>
      </p:pic>
      <p:pic>
        <p:nvPicPr>
          <p:cNvPr id="11" name="Picture 10" descr="A graph of blue dots&#10;&#10;AI-generated content may be incorrect.">
            <a:extLst>
              <a:ext uri="{FF2B5EF4-FFF2-40B4-BE49-F238E27FC236}">
                <a16:creationId xmlns:a16="http://schemas.microsoft.com/office/drawing/2014/main" id="{3EA0A873-4A26-8BF7-0BDE-644CF6CC5D7A}"/>
              </a:ext>
            </a:extLst>
          </p:cNvPr>
          <p:cNvPicPr>
            <a:picLocks noChangeAspect="1"/>
          </p:cNvPicPr>
          <p:nvPr/>
        </p:nvPicPr>
        <p:blipFill>
          <a:blip r:embed="rId3"/>
          <a:stretch>
            <a:fillRect/>
          </a:stretch>
        </p:blipFill>
        <p:spPr>
          <a:xfrm>
            <a:off x="415376" y="3600231"/>
            <a:ext cx="4881837" cy="2997860"/>
          </a:xfrm>
          <a:prstGeom prst="rect">
            <a:avLst/>
          </a:prstGeom>
        </p:spPr>
      </p:pic>
      <p:pic>
        <p:nvPicPr>
          <p:cNvPr id="17" name="Picture 16" descr="A graph with a red line&#10;&#10;AI-generated content may be incorrect.">
            <a:extLst>
              <a:ext uri="{FF2B5EF4-FFF2-40B4-BE49-F238E27FC236}">
                <a16:creationId xmlns:a16="http://schemas.microsoft.com/office/drawing/2014/main" id="{D470DEFA-7E21-D7B4-2815-9C84AA8E96B8}"/>
              </a:ext>
            </a:extLst>
          </p:cNvPr>
          <p:cNvPicPr>
            <a:picLocks noChangeAspect="1"/>
          </p:cNvPicPr>
          <p:nvPr/>
        </p:nvPicPr>
        <p:blipFill>
          <a:blip r:embed="rId4"/>
          <a:stretch>
            <a:fillRect/>
          </a:stretch>
        </p:blipFill>
        <p:spPr>
          <a:xfrm>
            <a:off x="5936155" y="253563"/>
            <a:ext cx="5615379" cy="3401848"/>
          </a:xfrm>
          <a:prstGeom prst="rect">
            <a:avLst/>
          </a:prstGeom>
        </p:spPr>
      </p:pic>
      <p:pic>
        <p:nvPicPr>
          <p:cNvPr id="3" name="Picture 2" descr="A graph of a relationship between age and amh levels&#10;&#10;AI-generated content may be incorrect.">
            <a:extLst>
              <a:ext uri="{FF2B5EF4-FFF2-40B4-BE49-F238E27FC236}">
                <a16:creationId xmlns:a16="http://schemas.microsoft.com/office/drawing/2014/main" id="{31648A3C-F216-398C-C792-3597AAE654FA}"/>
              </a:ext>
            </a:extLst>
          </p:cNvPr>
          <p:cNvPicPr>
            <a:picLocks noChangeAspect="1"/>
          </p:cNvPicPr>
          <p:nvPr/>
        </p:nvPicPr>
        <p:blipFill>
          <a:blip r:embed="rId5"/>
          <a:stretch>
            <a:fillRect/>
          </a:stretch>
        </p:blipFill>
        <p:spPr>
          <a:xfrm>
            <a:off x="5936155" y="3600231"/>
            <a:ext cx="5104378" cy="3155698"/>
          </a:xfrm>
          <a:prstGeom prst="rect">
            <a:avLst/>
          </a:prstGeom>
        </p:spPr>
      </p:pic>
    </p:spTree>
    <p:extLst>
      <p:ext uri="{BB962C8B-B14F-4D97-AF65-F5344CB8AC3E}">
        <p14:creationId xmlns:p14="http://schemas.microsoft.com/office/powerpoint/2010/main" val="1055403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different colored dots&#10;&#10;AI-generated content may be incorrect.">
            <a:extLst>
              <a:ext uri="{FF2B5EF4-FFF2-40B4-BE49-F238E27FC236}">
                <a16:creationId xmlns:a16="http://schemas.microsoft.com/office/drawing/2014/main" id="{9E4C6C8B-906A-4D18-C6B7-EE5217C22203}"/>
              </a:ext>
            </a:extLst>
          </p:cNvPr>
          <p:cNvPicPr>
            <a:picLocks noChangeAspect="1"/>
          </p:cNvPicPr>
          <p:nvPr/>
        </p:nvPicPr>
        <p:blipFill>
          <a:blip r:embed="rId3"/>
          <a:stretch>
            <a:fillRect/>
          </a:stretch>
        </p:blipFill>
        <p:spPr>
          <a:xfrm>
            <a:off x="0" y="1022946"/>
            <a:ext cx="6351854" cy="4019252"/>
          </a:xfrm>
          <a:prstGeom prst="rect">
            <a:avLst/>
          </a:prstGeom>
        </p:spPr>
      </p:pic>
      <p:pic>
        <p:nvPicPr>
          <p:cNvPr id="19" name="Picture 18" descr="A graph of different colored dots&#10;&#10;AI-generated content may be incorrect.">
            <a:extLst>
              <a:ext uri="{FF2B5EF4-FFF2-40B4-BE49-F238E27FC236}">
                <a16:creationId xmlns:a16="http://schemas.microsoft.com/office/drawing/2014/main" id="{00394352-3492-9F8A-0A0C-7541D9F0329F}"/>
              </a:ext>
            </a:extLst>
          </p:cNvPr>
          <p:cNvPicPr>
            <a:picLocks noChangeAspect="1"/>
          </p:cNvPicPr>
          <p:nvPr/>
        </p:nvPicPr>
        <p:blipFill>
          <a:blip r:embed="rId4"/>
          <a:stretch>
            <a:fillRect/>
          </a:stretch>
        </p:blipFill>
        <p:spPr>
          <a:xfrm>
            <a:off x="6214188" y="1171873"/>
            <a:ext cx="5977812" cy="3721398"/>
          </a:xfrm>
          <a:prstGeom prst="rect">
            <a:avLst/>
          </a:prstGeom>
        </p:spPr>
      </p:pic>
    </p:spTree>
    <p:extLst>
      <p:ext uri="{BB962C8B-B14F-4D97-AF65-F5344CB8AC3E}">
        <p14:creationId xmlns:p14="http://schemas.microsoft.com/office/powerpoint/2010/main" val="946288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38CC48B-DA8B-BD40-817E-63C8F2CE9C02}"/>
              </a:ext>
            </a:extLst>
          </p:cNvPr>
          <p:cNvPicPr>
            <a:picLocks noChangeAspect="1"/>
          </p:cNvPicPr>
          <p:nvPr/>
        </p:nvPicPr>
        <p:blipFill>
          <a:blip r:embed="rId2"/>
          <a:stretch>
            <a:fillRect/>
          </a:stretch>
        </p:blipFill>
        <p:spPr>
          <a:xfrm>
            <a:off x="640443" y="1600200"/>
            <a:ext cx="3590396" cy="2247900"/>
          </a:xfrm>
          <a:prstGeom prst="rect">
            <a:avLst/>
          </a:prstGeom>
        </p:spPr>
      </p:pic>
      <p:pic>
        <p:nvPicPr>
          <p:cNvPr id="5" name="Picture 4" descr="A graph with colored dots&#10;&#10;AI-generated content may be incorrect.">
            <a:extLst>
              <a:ext uri="{FF2B5EF4-FFF2-40B4-BE49-F238E27FC236}">
                <a16:creationId xmlns:a16="http://schemas.microsoft.com/office/drawing/2014/main" id="{CA92EF16-2E9F-F2F5-F229-7F1F9B30135E}"/>
              </a:ext>
            </a:extLst>
          </p:cNvPr>
          <p:cNvPicPr>
            <a:picLocks noChangeAspect="1"/>
          </p:cNvPicPr>
          <p:nvPr/>
        </p:nvPicPr>
        <p:blipFill>
          <a:blip r:embed="rId3"/>
          <a:stretch>
            <a:fillRect/>
          </a:stretch>
        </p:blipFill>
        <p:spPr>
          <a:xfrm>
            <a:off x="5192485" y="1055006"/>
            <a:ext cx="6173905" cy="3770993"/>
          </a:xfrm>
          <a:prstGeom prst="rect">
            <a:avLst/>
          </a:prstGeom>
        </p:spPr>
      </p:pic>
    </p:spTree>
    <p:extLst>
      <p:ext uri="{BB962C8B-B14F-4D97-AF65-F5344CB8AC3E}">
        <p14:creationId xmlns:p14="http://schemas.microsoft.com/office/powerpoint/2010/main" val="2950555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with blue dots&#10;&#10;AI-generated content may be incorrect.">
            <a:extLst>
              <a:ext uri="{FF2B5EF4-FFF2-40B4-BE49-F238E27FC236}">
                <a16:creationId xmlns:a16="http://schemas.microsoft.com/office/drawing/2014/main" id="{E578A92A-4734-7A35-A8FE-F679641531AF}"/>
              </a:ext>
            </a:extLst>
          </p:cNvPr>
          <p:cNvPicPr>
            <a:picLocks noGrp="1" noChangeAspect="1"/>
          </p:cNvPicPr>
          <p:nvPr>
            <p:ph idx="1"/>
          </p:nvPr>
        </p:nvPicPr>
        <p:blipFill>
          <a:blip r:embed="rId3"/>
          <a:stretch>
            <a:fillRect/>
          </a:stretch>
        </p:blipFill>
        <p:spPr>
          <a:xfrm>
            <a:off x="213360" y="355124"/>
            <a:ext cx="4470400" cy="2781300"/>
          </a:xfrm>
          <a:prstGeom prst="rect">
            <a:avLst/>
          </a:prstGeom>
        </p:spPr>
      </p:pic>
      <p:pic>
        <p:nvPicPr>
          <p:cNvPr id="7" name="Picture 6" descr="A graph with blue dots&#10;&#10;AI-generated content may be incorrect.">
            <a:extLst>
              <a:ext uri="{FF2B5EF4-FFF2-40B4-BE49-F238E27FC236}">
                <a16:creationId xmlns:a16="http://schemas.microsoft.com/office/drawing/2014/main" id="{115404CF-02EB-7E67-E014-11B1B31E0A61}"/>
              </a:ext>
            </a:extLst>
          </p:cNvPr>
          <p:cNvPicPr>
            <a:picLocks noChangeAspect="1"/>
          </p:cNvPicPr>
          <p:nvPr/>
        </p:nvPicPr>
        <p:blipFill>
          <a:blip r:embed="rId4"/>
          <a:stretch>
            <a:fillRect/>
          </a:stretch>
        </p:blipFill>
        <p:spPr>
          <a:xfrm>
            <a:off x="4683760" y="355124"/>
            <a:ext cx="4508500" cy="2794000"/>
          </a:xfrm>
          <a:prstGeom prst="rect">
            <a:avLst/>
          </a:prstGeom>
        </p:spPr>
      </p:pic>
      <p:pic>
        <p:nvPicPr>
          <p:cNvPr id="9" name="Picture 8" descr="A graph of blue dots&#10;&#10;AI-generated content may be incorrect.">
            <a:extLst>
              <a:ext uri="{FF2B5EF4-FFF2-40B4-BE49-F238E27FC236}">
                <a16:creationId xmlns:a16="http://schemas.microsoft.com/office/drawing/2014/main" id="{AF97349A-DF79-8C17-FDE7-F484DD112C98}"/>
              </a:ext>
            </a:extLst>
          </p:cNvPr>
          <p:cNvPicPr>
            <a:picLocks noChangeAspect="1"/>
          </p:cNvPicPr>
          <p:nvPr/>
        </p:nvPicPr>
        <p:blipFill>
          <a:blip r:embed="rId5"/>
          <a:stretch>
            <a:fillRect/>
          </a:stretch>
        </p:blipFill>
        <p:spPr>
          <a:xfrm>
            <a:off x="213360" y="3429000"/>
            <a:ext cx="4470400" cy="2882900"/>
          </a:xfrm>
          <a:prstGeom prst="rect">
            <a:avLst/>
          </a:prstGeom>
        </p:spPr>
      </p:pic>
      <p:pic>
        <p:nvPicPr>
          <p:cNvPr id="11" name="Picture 10" descr="A graph of a number of people with their age&#10;&#10;AI-generated content may be incorrect.">
            <a:extLst>
              <a:ext uri="{FF2B5EF4-FFF2-40B4-BE49-F238E27FC236}">
                <a16:creationId xmlns:a16="http://schemas.microsoft.com/office/drawing/2014/main" id="{0C27A0B6-EE46-E12F-BB22-F2000BE3C5CC}"/>
              </a:ext>
            </a:extLst>
          </p:cNvPr>
          <p:cNvPicPr>
            <a:picLocks noChangeAspect="1"/>
          </p:cNvPicPr>
          <p:nvPr/>
        </p:nvPicPr>
        <p:blipFill>
          <a:blip r:embed="rId6"/>
          <a:stretch>
            <a:fillRect/>
          </a:stretch>
        </p:blipFill>
        <p:spPr>
          <a:xfrm>
            <a:off x="4860290" y="3418364"/>
            <a:ext cx="4483100" cy="2857500"/>
          </a:xfrm>
          <a:prstGeom prst="rect">
            <a:avLst/>
          </a:prstGeom>
        </p:spPr>
      </p:pic>
      <p:sp>
        <p:nvSpPr>
          <p:cNvPr id="13" name="TextBox 12">
            <a:extLst>
              <a:ext uri="{FF2B5EF4-FFF2-40B4-BE49-F238E27FC236}">
                <a16:creationId xmlns:a16="http://schemas.microsoft.com/office/drawing/2014/main" id="{08580F74-77AD-13B4-9F77-70CC1AF1D1AF}"/>
              </a:ext>
            </a:extLst>
          </p:cNvPr>
          <p:cNvSpPr txBox="1"/>
          <p:nvPr/>
        </p:nvSpPr>
        <p:spPr>
          <a:xfrm>
            <a:off x="9343390" y="0"/>
            <a:ext cx="2560320" cy="6694140"/>
          </a:xfrm>
          <a:prstGeom prst="rect">
            <a:avLst/>
          </a:prstGeom>
          <a:noFill/>
        </p:spPr>
        <p:txBody>
          <a:bodyPr wrap="square" rtlCol="0">
            <a:spAutoFit/>
          </a:bodyPr>
          <a:lstStyle/>
          <a:p>
            <a:pPr marL="285750" indent="-285750">
              <a:buFontTx/>
              <a:buChar char="-"/>
            </a:pPr>
            <a:r>
              <a:rPr lang="en-US" sz="1300" dirty="0">
                <a:latin typeface="Helvetica" pitchFamily="2" charset="0"/>
              </a:rPr>
              <a:t>Dose is not random</a:t>
            </a:r>
          </a:p>
          <a:p>
            <a:pPr marL="285750" indent="-285750">
              <a:buFontTx/>
              <a:buChar char="-"/>
            </a:pPr>
            <a:r>
              <a:rPr lang="en-US" sz="1300" dirty="0">
                <a:latin typeface="Helvetica" pitchFamily="2" charset="0"/>
              </a:rPr>
              <a:t>Very high variability</a:t>
            </a:r>
          </a:p>
          <a:p>
            <a:r>
              <a:rPr lang="en-US" sz="1300" dirty="0">
                <a:latin typeface="Helvetica" pitchFamily="2" charset="0"/>
              </a:rPr>
              <a:t>FSH</a:t>
            </a:r>
          </a:p>
          <a:p>
            <a:pPr marL="285750" indent="-285750">
              <a:buFontTx/>
              <a:buChar char="-"/>
            </a:pPr>
            <a:r>
              <a:rPr lang="en-US" sz="1300" dirty="0">
                <a:latin typeface="Helvetica" pitchFamily="2" charset="0"/>
              </a:rPr>
              <a:t>Low AMH </a:t>
            </a:r>
            <a:r>
              <a:rPr lang="en-US" sz="1300" dirty="0">
                <a:latin typeface="Helvetica" pitchFamily="2" charset="0"/>
                <a:sym typeface="Wingdings" pitchFamily="2" charset="2"/>
              </a:rPr>
              <a:t> wide range of doses</a:t>
            </a:r>
          </a:p>
          <a:p>
            <a:pPr marL="285750" indent="-285750">
              <a:buFontTx/>
              <a:buChar char="-"/>
            </a:pPr>
            <a:r>
              <a:rPr lang="en-US" sz="1300" dirty="0">
                <a:latin typeface="Helvetica" pitchFamily="2" charset="0"/>
                <a:sym typeface="Wingdings" pitchFamily="2" charset="2"/>
              </a:rPr>
              <a:t>Higher AMH  slightly lower doses </a:t>
            </a:r>
          </a:p>
          <a:p>
            <a:pPr marL="285750" indent="-285750">
              <a:buFontTx/>
              <a:buChar char="-"/>
            </a:pPr>
            <a:r>
              <a:rPr lang="en-US" sz="1300" dirty="0">
                <a:latin typeface="Helvetica" pitchFamily="2" charset="0"/>
                <a:sym typeface="Wingdings" pitchFamily="2" charset="2"/>
              </a:rPr>
              <a:t>Clinicians may adjust dose based on ovarian reserve/AMH</a:t>
            </a:r>
          </a:p>
          <a:p>
            <a:pPr marL="285750" indent="-285750">
              <a:buFontTx/>
              <a:buChar char="-"/>
            </a:pPr>
            <a:r>
              <a:rPr lang="en-US" sz="1300" dirty="0">
                <a:latin typeface="Helvetica" pitchFamily="2" charset="0"/>
                <a:sym typeface="Wingdings" pitchFamily="2" charset="2"/>
              </a:rPr>
              <a:t>Very large spread  inconsistent decision making</a:t>
            </a:r>
          </a:p>
          <a:p>
            <a:pPr marL="285750" indent="-285750">
              <a:buFontTx/>
              <a:buChar char="-"/>
            </a:pPr>
            <a:r>
              <a:rPr lang="en-US" sz="1300" dirty="0">
                <a:latin typeface="Helvetica" pitchFamily="2" charset="0"/>
                <a:sym typeface="Wingdings" pitchFamily="2" charset="2"/>
              </a:rPr>
              <a:t>Probs something else involved</a:t>
            </a:r>
          </a:p>
          <a:p>
            <a:pPr marL="285750" indent="-285750">
              <a:buFontTx/>
              <a:buChar char="-"/>
            </a:pPr>
            <a:r>
              <a:rPr lang="en-US" sz="1300" dirty="0">
                <a:latin typeface="Helvetica" pitchFamily="2" charset="0"/>
                <a:sym typeface="Wingdings" pitchFamily="2" charset="2"/>
              </a:rPr>
              <a:t>Older patients  slightly higher dose of FSH? Noisy</a:t>
            </a:r>
          </a:p>
          <a:p>
            <a:r>
              <a:rPr lang="en-US" sz="1300" dirty="0" err="1">
                <a:latin typeface="Helvetica" pitchFamily="2" charset="0"/>
                <a:sym typeface="Wingdings" pitchFamily="2" charset="2"/>
              </a:rPr>
              <a:t>hMG</a:t>
            </a:r>
            <a:endParaRPr lang="en-US" sz="1300" dirty="0">
              <a:latin typeface="Helvetica" pitchFamily="2" charset="0"/>
              <a:sym typeface="Wingdings" pitchFamily="2" charset="2"/>
            </a:endParaRPr>
          </a:p>
          <a:p>
            <a:pPr marL="285750" indent="-285750">
              <a:buFontTx/>
              <a:buChar char="-"/>
            </a:pPr>
            <a:r>
              <a:rPr lang="en-US" sz="1300" dirty="0">
                <a:latin typeface="Helvetica" pitchFamily="2" charset="0"/>
                <a:sym typeface="Wingdings" pitchFamily="2" charset="2"/>
              </a:rPr>
              <a:t>Not used in many patients</a:t>
            </a:r>
          </a:p>
          <a:p>
            <a:pPr marL="285750" indent="-285750">
              <a:buFontTx/>
              <a:buChar char="-"/>
            </a:pPr>
            <a:r>
              <a:rPr lang="en-US" sz="1300" dirty="0" err="1">
                <a:latin typeface="Helvetica" pitchFamily="2" charset="0"/>
                <a:sym typeface="Wingdings" pitchFamily="2" charset="2"/>
              </a:rPr>
              <a:t>hMG</a:t>
            </a:r>
            <a:r>
              <a:rPr lang="en-US" sz="1300" dirty="0">
                <a:latin typeface="Helvetica" pitchFamily="2" charset="0"/>
                <a:sym typeface="Wingdings" pitchFamily="2" charset="2"/>
              </a:rPr>
              <a:t> doses appear more in lower AMH patients</a:t>
            </a:r>
          </a:p>
          <a:p>
            <a:pPr marL="285750" indent="-285750">
              <a:buFontTx/>
              <a:buChar char="-"/>
            </a:pPr>
            <a:r>
              <a:rPr lang="en-US" sz="1300" dirty="0" err="1">
                <a:latin typeface="Helvetica" pitchFamily="2" charset="0"/>
                <a:sym typeface="Wingdings" pitchFamily="2" charset="2"/>
              </a:rPr>
              <a:t>hMG</a:t>
            </a:r>
            <a:r>
              <a:rPr lang="en-US" sz="1300" dirty="0">
                <a:latin typeface="Helvetica" pitchFamily="2" charset="0"/>
                <a:sym typeface="Wingdings" pitchFamily="2" charset="2"/>
              </a:rPr>
              <a:t> is likely used selectively, in patients with low ovarian reserve/AMH or poor responders?</a:t>
            </a:r>
          </a:p>
          <a:p>
            <a:pPr marL="285750" indent="-285750">
              <a:buFontTx/>
              <a:buChar char="-"/>
            </a:pPr>
            <a:r>
              <a:rPr lang="en-US" sz="1300" dirty="0">
                <a:latin typeface="Helvetica" pitchFamily="2" charset="0"/>
                <a:sym typeface="Wingdings" pitchFamily="2" charset="2"/>
              </a:rPr>
              <a:t>In model </a:t>
            </a:r>
            <a:r>
              <a:rPr lang="en-US" sz="1300" dirty="0" err="1">
                <a:latin typeface="Helvetica" pitchFamily="2" charset="0"/>
                <a:sym typeface="Wingdings" pitchFamily="2" charset="2"/>
              </a:rPr>
              <a:t>hMG</a:t>
            </a:r>
            <a:r>
              <a:rPr lang="en-US" sz="1300" dirty="0">
                <a:latin typeface="Helvetica" pitchFamily="2" charset="0"/>
                <a:sym typeface="Wingdings" pitchFamily="2" charset="2"/>
              </a:rPr>
              <a:t> had a negative association with outcome because it is given to worse prognosis patients?</a:t>
            </a:r>
          </a:p>
          <a:p>
            <a:pPr marL="285750" indent="-285750">
              <a:buFontTx/>
              <a:buChar char="-"/>
            </a:pPr>
            <a:r>
              <a:rPr lang="en-US" sz="1300" dirty="0">
                <a:latin typeface="Helvetica" pitchFamily="2" charset="0"/>
                <a:sym typeface="Wingdings" pitchFamily="2" charset="2"/>
              </a:rPr>
              <a:t>Appears slightly more frequent in older patients</a:t>
            </a:r>
          </a:p>
          <a:p>
            <a:pPr marL="285750" indent="-285750">
              <a:buFontTx/>
              <a:buChar char="-"/>
            </a:pPr>
            <a:endParaRPr lang="en-US" sz="1300" dirty="0"/>
          </a:p>
        </p:txBody>
      </p:sp>
      <p:sp>
        <p:nvSpPr>
          <p:cNvPr id="14" name="TextBox 13">
            <a:extLst>
              <a:ext uri="{FF2B5EF4-FFF2-40B4-BE49-F238E27FC236}">
                <a16:creationId xmlns:a16="http://schemas.microsoft.com/office/drawing/2014/main" id="{6A6C32FA-D291-7C0B-5BC8-B67FD4697EFA}"/>
              </a:ext>
            </a:extLst>
          </p:cNvPr>
          <p:cNvSpPr txBox="1"/>
          <p:nvPr/>
        </p:nvSpPr>
        <p:spPr>
          <a:xfrm>
            <a:off x="3017392" y="6330166"/>
            <a:ext cx="5801359" cy="523220"/>
          </a:xfrm>
          <a:prstGeom prst="rect">
            <a:avLst/>
          </a:prstGeom>
          <a:noFill/>
        </p:spPr>
        <p:txBody>
          <a:bodyPr wrap="square" rtlCol="0">
            <a:spAutoFit/>
          </a:bodyPr>
          <a:lstStyle/>
          <a:p>
            <a:r>
              <a:rPr lang="en-US" sz="1400" dirty="0">
                <a:latin typeface="Helvetica" pitchFamily="2" charset="0"/>
              </a:rPr>
              <a:t>Dose may not be predictive as clinicians adjust dose based on profile --&gt; effect is confounded</a:t>
            </a:r>
          </a:p>
        </p:txBody>
      </p:sp>
    </p:spTree>
    <p:extLst>
      <p:ext uri="{BB962C8B-B14F-4D97-AF65-F5344CB8AC3E}">
        <p14:creationId xmlns:p14="http://schemas.microsoft.com/office/powerpoint/2010/main" val="38145484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44C7382-91F3-573F-2AED-C2A1BABDB1FB}"/>
              </a:ext>
            </a:extLst>
          </p:cNvPr>
          <p:cNvSpPr txBox="1"/>
          <p:nvPr/>
        </p:nvSpPr>
        <p:spPr>
          <a:xfrm>
            <a:off x="355600" y="342900"/>
            <a:ext cx="9857232" cy="2893100"/>
          </a:xfrm>
          <a:prstGeom prst="rect">
            <a:avLst/>
          </a:prstGeom>
          <a:noFill/>
        </p:spPr>
        <p:txBody>
          <a:bodyPr wrap="square" rtlCol="0">
            <a:spAutoFit/>
          </a:bodyPr>
          <a:lstStyle/>
          <a:p>
            <a:r>
              <a:rPr lang="en-US" sz="2000" b="1" dirty="0">
                <a:latin typeface="Helvetica" pitchFamily="2" charset="0"/>
              </a:rPr>
              <a:t>Statistical Modelling – Understanding the underlying biology</a:t>
            </a:r>
          </a:p>
          <a:p>
            <a:pPr marL="285750" indent="-285750">
              <a:buFont typeface="Arial" panose="020B0604020202020204" pitchFamily="34" charset="0"/>
              <a:buChar char="•"/>
            </a:pPr>
            <a:r>
              <a:rPr lang="en-US" dirty="0">
                <a:latin typeface="Helvetica" pitchFamily="2" charset="0"/>
              </a:rPr>
              <a:t>Multiple linear regression</a:t>
            </a:r>
          </a:p>
          <a:p>
            <a:r>
              <a:rPr lang="en-US" dirty="0">
                <a:latin typeface="Helvetica" pitchFamily="2" charset="0"/>
              </a:rPr>
              <a:t>Predicting log(Baseline AMH) based on Age and Aetiology</a:t>
            </a:r>
          </a:p>
          <a:p>
            <a:pPr marL="285750" indent="-285750">
              <a:buFont typeface="Arial" panose="020B0604020202020204" pitchFamily="34" charset="0"/>
              <a:buChar char="•"/>
            </a:pPr>
            <a:r>
              <a:rPr lang="en-US" dirty="0">
                <a:latin typeface="Helvetica" pitchFamily="2" charset="0"/>
              </a:rPr>
              <a:t>Using log(AMH) </a:t>
            </a:r>
            <a:r>
              <a:rPr lang="en-US" dirty="0">
                <a:latin typeface="Helvetica" pitchFamily="2" charset="0"/>
                <a:sym typeface="Wingdings" pitchFamily="2" charset="2"/>
              </a:rPr>
              <a:t> better meets the assumption of the GLM (normality of residuals and homoscedasticity)</a:t>
            </a:r>
            <a:endParaRPr lang="en-US" dirty="0">
              <a:latin typeface="Helvetica" pitchFamily="2" charset="0"/>
            </a:endParaRPr>
          </a:p>
          <a:p>
            <a:pPr marL="285750" indent="-285750">
              <a:buFont typeface="Arial" panose="020B0604020202020204" pitchFamily="34" charset="0"/>
              <a:buChar char="•"/>
            </a:pPr>
            <a:r>
              <a:rPr lang="en-US" dirty="0">
                <a:latin typeface="Helvetica" pitchFamily="2" charset="0"/>
              </a:rPr>
              <a:t>Aetiology has been grouped into 4 levels:</a:t>
            </a:r>
          </a:p>
          <a:p>
            <a:pPr marL="742950" lvl="1" indent="-285750">
              <a:buFont typeface="Arial" panose="020B0604020202020204" pitchFamily="34" charset="0"/>
              <a:buChar char="•"/>
            </a:pPr>
            <a:r>
              <a:rPr lang="en-US" dirty="0">
                <a:latin typeface="Helvetica" pitchFamily="2" charset="0"/>
              </a:rPr>
              <a:t>Female Factor  </a:t>
            </a:r>
            <a:r>
              <a:rPr lang="en-US" dirty="0">
                <a:latin typeface="Helvetica" pitchFamily="2" charset="0"/>
                <a:sym typeface="Wingdings" pitchFamily="2" charset="2"/>
              </a:rPr>
              <a:t> Tubal factor, DOR, Endometriosis, Uterine factor, PCO </a:t>
            </a:r>
            <a:endParaRPr lang="en-US" dirty="0">
              <a:latin typeface="Helvetica" pitchFamily="2" charset="0"/>
            </a:endParaRPr>
          </a:p>
          <a:p>
            <a:pPr marL="742950" lvl="1" indent="-285750">
              <a:buFont typeface="Arial" panose="020B0604020202020204" pitchFamily="34" charset="0"/>
              <a:buChar char="•"/>
            </a:pPr>
            <a:r>
              <a:rPr lang="en-US" dirty="0">
                <a:latin typeface="Helvetica" pitchFamily="2" charset="0"/>
              </a:rPr>
              <a:t>Other </a:t>
            </a:r>
            <a:r>
              <a:rPr lang="en-US" dirty="0">
                <a:latin typeface="Helvetica" pitchFamily="2" charset="0"/>
                <a:sym typeface="Wingdings" pitchFamily="2" charset="2"/>
              </a:rPr>
              <a:t> Other, Same sex relationship, Fertility preservation, Single woman, Surrogate</a:t>
            </a:r>
            <a:endParaRPr lang="en-US" dirty="0">
              <a:latin typeface="Helvetica" pitchFamily="2" charset="0"/>
            </a:endParaRPr>
          </a:p>
          <a:p>
            <a:pPr marL="742950" lvl="1" indent="-285750">
              <a:buFont typeface="Arial" panose="020B0604020202020204" pitchFamily="34" charset="0"/>
              <a:buChar char="•"/>
            </a:pPr>
            <a:r>
              <a:rPr lang="en-US" dirty="0">
                <a:latin typeface="Helvetica" pitchFamily="2" charset="0"/>
              </a:rPr>
              <a:t>No Female Factor </a:t>
            </a:r>
            <a:r>
              <a:rPr lang="en-US" dirty="0">
                <a:latin typeface="Helvetica" pitchFamily="2" charset="0"/>
                <a:sym typeface="Wingdings" pitchFamily="2" charset="2"/>
              </a:rPr>
              <a:t> Male factors (Azoospermia, Oligozoospermia), PGD</a:t>
            </a:r>
            <a:endParaRPr lang="en-US" dirty="0">
              <a:latin typeface="Helvetica" pitchFamily="2" charset="0"/>
            </a:endParaRPr>
          </a:p>
          <a:p>
            <a:pPr marL="742950" lvl="1" indent="-285750">
              <a:buFont typeface="Arial" panose="020B0604020202020204" pitchFamily="34" charset="0"/>
              <a:buChar char="•"/>
            </a:pPr>
            <a:r>
              <a:rPr lang="en-US" dirty="0">
                <a:latin typeface="Helvetica" pitchFamily="2" charset="0"/>
              </a:rPr>
              <a:t>Unexplained</a:t>
            </a:r>
          </a:p>
        </p:txBody>
      </p:sp>
      <p:sp>
        <p:nvSpPr>
          <p:cNvPr id="15" name="TextBox 14">
            <a:extLst>
              <a:ext uri="{FF2B5EF4-FFF2-40B4-BE49-F238E27FC236}">
                <a16:creationId xmlns:a16="http://schemas.microsoft.com/office/drawing/2014/main" id="{B360F5D5-B78C-4984-73BA-52AC041EA5F4}"/>
              </a:ext>
            </a:extLst>
          </p:cNvPr>
          <p:cNvSpPr txBox="1"/>
          <p:nvPr/>
        </p:nvSpPr>
        <p:spPr>
          <a:xfrm>
            <a:off x="508000" y="3907979"/>
            <a:ext cx="6753772" cy="830997"/>
          </a:xfrm>
          <a:prstGeom prst="rect">
            <a:avLst/>
          </a:prstGeom>
          <a:noFill/>
        </p:spPr>
        <p:txBody>
          <a:bodyPr wrap="none" rtlCol="0">
            <a:spAutoFit/>
          </a:bodyPr>
          <a:lstStyle/>
          <a:p>
            <a:r>
              <a:rPr lang="en-US" sz="1600" dirty="0">
                <a:latin typeface="Helvetica" pitchFamily="2" charset="0"/>
              </a:rPr>
              <a:t>2 models</a:t>
            </a:r>
          </a:p>
          <a:p>
            <a:pPr marL="342900" indent="-342900">
              <a:buAutoNum type="arabicPeriod"/>
            </a:pPr>
            <a:r>
              <a:rPr lang="en-US" sz="1600" dirty="0">
                <a:latin typeface="Helvetica" pitchFamily="2" charset="0"/>
              </a:rPr>
              <a:t>Using age alone to predict log(Baseline AMH)</a:t>
            </a:r>
          </a:p>
          <a:p>
            <a:pPr marL="342900" indent="-342900">
              <a:buAutoNum type="arabicPeriod"/>
            </a:pPr>
            <a:r>
              <a:rPr lang="en-US" sz="1600" dirty="0">
                <a:latin typeface="Helvetica" pitchFamily="2" charset="0"/>
              </a:rPr>
              <a:t>Using Age x Aetiology group interaction to predict log(Baseline AMH)</a:t>
            </a:r>
          </a:p>
        </p:txBody>
      </p:sp>
    </p:spTree>
    <p:extLst>
      <p:ext uri="{BB962C8B-B14F-4D97-AF65-F5344CB8AC3E}">
        <p14:creationId xmlns:p14="http://schemas.microsoft.com/office/powerpoint/2010/main" val="2958250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of age on amh across aeiology groups&#10;&#10;AI-generated content may be incorrect.">
            <a:extLst>
              <a:ext uri="{FF2B5EF4-FFF2-40B4-BE49-F238E27FC236}">
                <a16:creationId xmlns:a16="http://schemas.microsoft.com/office/drawing/2014/main" id="{49D8DEE9-1BB4-C47B-9120-1B8F5434F16F}"/>
              </a:ext>
            </a:extLst>
          </p:cNvPr>
          <p:cNvPicPr>
            <a:picLocks noChangeAspect="1"/>
          </p:cNvPicPr>
          <p:nvPr/>
        </p:nvPicPr>
        <p:blipFill>
          <a:blip r:embed="rId3"/>
          <a:stretch>
            <a:fillRect/>
          </a:stretch>
        </p:blipFill>
        <p:spPr>
          <a:xfrm>
            <a:off x="157434" y="96257"/>
            <a:ext cx="5938566" cy="3713743"/>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0A4A84B3-0312-0BA6-F167-816290A28BAA}"/>
              </a:ext>
            </a:extLst>
          </p:cNvPr>
          <p:cNvPicPr>
            <a:picLocks noChangeAspect="1"/>
          </p:cNvPicPr>
          <p:nvPr/>
        </p:nvPicPr>
        <p:blipFill>
          <a:blip r:embed="rId4"/>
          <a:stretch>
            <a:fillRect/>
          </a:stretch>
        </p:blipFill>
        <p:spPr>
          <a:xfrm>
            <a:off x="6940545" y="286756"/>
            <a:ext cx="4578629" cy="3332743"/>
          </a:xfrm>
          <a:prstGeom prst="rect">
            <a:avLst/>
          </a:prstGeom>
        </p:spPr>
      </p:pic>
      <p:sp>
        <p:nvSpPr>
          <p:cNvPr id="7" name="TextBox 6">
            <a:extLst>
              <a:ext uri="{FF2B5EF4-FFF2-40B4-BE49-F238E27FC236}">
                <a16:creationId xmlns:a16="http://schemas.microsoft.com/office/drawing/2014/main" id="{177618A0-297D-0B5C-0CE5-AB5E4E749EDD}"/>
              </a:ext>
            </a:extLst>
          </p:cNvPr>
          <p:cNvSpPr txBox="1"/>
          <p:nvPr/>
        </p:nvSpPr>
        <p:spPr>
          <a:xfrm>
            <a:off x="157434" y="3810000"/>
            <a:ext cx="7640366" cy="3093154"/>
          </a:xfrm>
          <a:prstGeom prst="rect">
            <a:avLst/>
          </a:prstGeom>
          <a:noFill/>
        </p:spPr>
        <p:txBody>
          <a:bodyPr wrap="square" rtlCol="0">
            <a:spAutoFit/>
          </a:bodyPr>
          <a:lstStyle/>
          <a:p>
            <a:r>
              <a:rPr lang="en-US" sz="1500" dirty="0">
                <a:latin typeface="Helvetica" pitchFamily="2" charset="0"/>
              </a:rPr>
              <a:t>Model 1: beta = -0.083, p = 0.0008, Radj = 0.137</a:t>
            </a:r>
          </a:p>
          <a:p>
            <a:pPr marL="285750" indent="-285750">
              <a:buFont typeface="Arial" panose="020B0604020202020204" pitchFamily="34" charset="0"/>
              <a:buChar char="•"/>
            </a:pPr>
            <a:r>
              <a:rPr lang="en-US" sz="1500" dirty="0">
                <a:latin typeface="Helvetica" pitchFamily="2" charset="0"/>
              </a:rPr>
              <a:t>For every 1-year increase in age, log(AMH) decreases by 8%</a:t>
            </a:r>
          </a:p>
          <a:p>
            <a:pPr marL="285750" indent="-285750">
              <a:buFont typeface="Arial" panose="020B0604020202020204" pitchFamily="34" charset="0"/>
              <a:buChar char="•"/>
            </a:pPr>
            <a:endParaRPr lang="en-US" sz="1500" dirty="0">
              <a:latin typeface="Helvetica" pitchFamily="2" charset="0"/>
            </a:endParaRPr>
          </a:p>
          <a:p>
            <a:r>
              <a:rPr lang="en-US" sz="1500" dirty="0">
                <a:latin typeface="Helvetica" pitchFamily="2" charset="0"/>
              </a:rPr>
              <a:t>Model 2 (interaction)  Radj = 0.195</a:t>
            </a:r>
          </a:p>
          <a:p>
            <a:pPr marL="285750" indent="-285750">
              <a:buFont typeface="Arial" panose="020B0604020202020204" pitchFamily="34" charset="0"/>
              <a:buChar char="•"/>
            </a:pPr>
            <a:r>
              <a:rPr lang="en-US" sz="1500" dirty="0">
                <a:latin typeface="Helvetica" pitchFamily="2" charset="0"/>
              </a:rPr>
              <a:t>Reference group = Female factor</a:t>
            </a:r>
          </a:p>
          <a:p>
            <a:pPr marL="285750" indent="-285750">
              <a:buFont typeface="Arial" panose="020B0604020202020204" pitchFamily="34" charset="0"/>
              <a:buChar char="•"/>
            </a:pPr>
            <a:r>
              <a:rPr lang="en-US" sz="1500" dirty="0">
                <a:latin typeface="Helvetica" pitchFamily="2" charset="0"/>
              </a:rPr>
              <a:t>In the Female factor group each year of age is associated with a 0.225 (20%) decline in AMH, significant</a:t>
            </a:r>
          </a:p>
          <a:p>
            <a:pPr marL="285750" indent="-285750">
              <a:buFont typeface="Arial" panose="020B0604020202020204" pitchFamily="34" charset="0"/>
              <a:buChar char="•"/>
            </a:pPr>
            <a:r>
              <a:rPr lang="en-US" sz="1500" dirty="0">
                <a:latin typeface="Helvetica" pitchFamily="2" charset="0"/>
              </a:rPr>
              <a:t>Relationship between age and AMH differs by aetiology </a:t>
            </a:r>
          </a:p>
          <a:p>
            <a:pPr marL="285750" indent="-285750">
              <a:buFont typeface="Arial" panose="020B0604020202020204" pitchFamily="34" charset="0"/>
              <a:buChar char="•"/>
            </a:pPr>
            <a:r>
              <a:rPr lang="en-US" sz="1500" dirty="0">
                <a:latin typeface="Helvetica" pitchFamily="2" charset="0"/>
              </a:rPr>
              <a:t>In the no female factor group each year of age is associated with a 0.054 (5%) decline in AMH (-0.255 + 0.171) </a:t>
            </a:r>
            <a:r>
              <a:rPr lang="en-US" sz="1500" dirty="0">
                <a:latin typeface="Helvetica" pitchFamily="2" charset="0"/>
                <a:sym typeface="Wingdings" pitchFamily="2" charset="2"/>
              </a:rPr>
              <a:t> smaller degree of age related AMH decline (p=0.006)</a:t>
            </a:r>
          </a:p>
          <a:p>
            <a:pPr marL="285750" indent="-285750">
              <a:buFont typeface="Arial" panose="020B0604020202020204" pitchFamily="34" charset="0"/>
              <a:buChar char="•"/>
            </a:pPr>
            <a:r>
              <a:rPr lang="en-US" sz="1500" dirty="0">
                <a:latin typeface="Helvetica" pitchFamily="2" charset="0"/>
              </a:rPr>
              <a:t>Steepest decline for women in female factor group</a:t>
            </a:r>
          </a:p>
          <a:p>
            <a:pPr marL="285750" indent="-285750">
              <a:buFont typeface="Arial" panose="020B0604020202020204" pitchFamily="34" charset="0"/>
              <a:buChar char="•"/>
            </a:pPr>
            <a:r>
              <a:rPr lang="en-US" sz="1500" dirty="0">
                <a:latin typeface="Helvetica" pitchFamily="2" charset="0"/>
              </a:rPr>
              <a:t>Female factor pathology maybe accelerates AMH depletion alongside ageing.</a:t>
            </a:r>
          </a:p>
        </p:txBody>
      </p:sp>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25E6B48A-96F7-EA1C-8880-C2BA6B05DE66}"/>
                  </a:ext>
                </a:extLst>
              </p14:cNvPr>
              <p14:cNvContentPartPr/>
              <p14:nvPr/>
            </p14:nvContentPartPr>
            <p14:xfrm>
              <a:off x="8750700" y="1524460"/>
              <a:ext cx="479160" cy="3600"/>
            </p14:xfrm>
          </p:contentPart>
        </mc:Choice>
        <mc:Fallback xmlns="">
          <p:pic>
            <p:nvPicPr>
              <p:cNvPr id="8" name="Ink 7">
                <a:extLst>
                  <a:ext uri="{FF2B5EF4-FFF2-40B4-BE49-F238E27FC236}">
                    <a16:creationId xmlns:a16="http://schemas.microsoft.com/office/drawing/2014/main" id="{25E6B48A-96F7-EA1C-8880-C2BA6B05DE66}"/>
                  </a:ext>
                </a:extLst>
              </p:cNvPr>
              <p:cNvPicPr/>
              <p:nvPr/>
            </p:nvPicPr>
            <p:blipFill>
              <a:blip r:embed="rId6"/>
              <a:stretch>
                <a:fillRect/>
              </a:stretch>
            </p:blipFill>
            <p:spPr>
              <a:xfrm>
                <a:off x="8696700" y="1416820"/>
                <a:ext cx="58680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5FDA545E-6CD8-C70B-1A52-AB2ED241BDCD}"/>
                  </a:ext>
                </a:extLst>
              </p14:cNvPr>
              <p14:cNvContentPartPr/>
              <p14:nvPr/>
            </p14:nvContentPartPr>
            <p14:xfrm>
              <a:off x="10307340" y="1520500"/>
              <a:ext cx="598320" cy="2160"/>
            </p14:xfrm>
          </p:contentPart>
        </mc:Choice>
        <mc:Fallback xmlns="">
          <p:pic>
            <p:nvPicPr>
              <p:cNvPr id="9" name="Ink 8">
                <a:extLst>
                  <a:ext uri="{FF2B5EF4-FFF2-40B4-BE49-F238E27FC236}">
                    <a16:creationId xmlns:a16="http://schemas.microsoft.com/office/drawing/2014/main" id="{5FDA545E-6CD8-C70B-1A52-AB2ED241BDCD}"/>
                  </a:ext>
                </a:extLst>
              </p:cNvPr>
              <p:cNvPicPr/>
              <p:nvPr/>
            </p:nvPicPr>
            <p:blipFill>
              <a:blip r:embed="rId8"/>
              <a:stretch>
                <a:fillRect/>
              </a:stretch>
            </p:blipFill>
            <p:spPr>
              <a:xfrm>
                <a:off x="10253340" y="1412860"/>
                <a:ext cx="70596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B62A87A0-39AD-61FC-2099-E5B341DA220A}"/>
                  </a:ext>
                </a:extLst>
              </p14:cNvPr>
              <p14:cNvContentPartPr/>
              <p14:nvPr/>
            </p14:nvContentPartPr>
            <p14:xfrm>
              <a:off x="8776620" y="2064100"/>
              <a:ext cx="512640" cy="360"/>
            </p14:xfrm>
          </p:contentPart>
        </mc:Choice>
        <mc:Fallback xmlns="">
          <p:pic>
            <p:nvPicPr>
              <p:cNvPr id="10" name="Ink 9">
                <a:extLst>
                  <a:ext uri="{FF2B5EF4-FFF2-40B4-BE49-F238E27FC236}">
                    <a16:creationId xmlns:a16="http://schemas.microsoft.com/office/drawing/2014/main" id="{B62A87A0-39AD-61FC-2099-E5B341DA220A}"/>
                  </a:ext>
                </a:extLst>
              </p:cNvPr>
              <p:cNvPicPr/>
              <p:nvPr/>
            </p:nvPicPr>
            <p:blipFill>
              <a:blip r:embed="rId10"/>
              <a:stretch>
                <a:fillRect/>
              </a:stretch>
            </p:blipFill>
            <p:spPr>
              <a:xfrm>
                <a:off x="8722980" y="1956460"/>
                <a:ext cx="6202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34DAFD5B-2C87-5DD9-739C-9D66E79E420B}"/>
                  </a:ext>
                </a:extLst>
              </p14:cNvPr>
              <p14:cNvContentPartPr/>
              <p14:nvPr/>
            </p14:nvContentPartPr>
            <p14:xfrm>
              <a:off x="10358460" y="2061580"/>
              <a:ext cx="590400" cy="360"/>
            </p14:xfrm>
          </p:contentPart>
        </mc:Choice>
        <mc:Fallback xmlns="">
          <p:pic>
            <p:nvPicPr>
              <p:cNvPr id="11" name="Ink 10">
                <a:extLst>
                  <a:ext uri="{FF2B5EF4-FFF2-40B4-BE49-F238E27FC236}">
                    <a16:creationId xmlns:a16="http://schemas.microsoft.com/office/drawing/2014/main" id="{34DAFD5B-2C87-5DD9-739C-9D66E79E420B}"/>
                  </a:ext>
                </a:extLst>
              </p:cNvPr>
              <p:cNvPicPr/>
              <p:nvPr/>
            </p:nvPicPr>
            <p:blipFill>
              <a:blip r:embed="rId12"/>
              <a:stretch>
                <a:fillRect/>
              </a:stretch>
            </p:blipFill>
            <p:spPr>
              <a:xfrm>
                <a:off x="10304460" y="1953580"/>
                <a:ext cx="698040" cy="216000"/>
              </a:xfrm>
              <a:prstGeom prst="rect">
                <a:avLst/>
              </a:prstGeom>
            </p:spPr>
          </p:pic>
        </mc:Fallback>
      </mc:AlternateContent>
    </p:spTree>
    <p:extLst>
      <p:ext uri="{BB962C8B-B14F-4D97-AF65-F5344CB8AC3E}">
        <p14:creationId xmlns:p14="http://schemas.microsoft.com/office/powerpoint/2010/main" val="3840783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FA8F698-A173-42EE-64FE-C2ADEB0361FE}"/>
              </a:ext>
            </a:extLst>
          </p:cNvPr>
          <p:cNvSpPr txBox="1"/>
          <p:nvPr/>
        </p:nvSpPr>
        <p:spPr>
          <a:xfrm>
            <a:off x="180474" y="108285"/>
            <a:ext cx="7194598" cy="1585049"/>
          </a:xfrm>
          <a:prstGeom prst="rect">
            <a:avLst/>
          </a:prstGeom>
          <a:noFill/>
        </p:spPr>
        <p:txBody>
          <a:bodyPr wrap="none" rtlCol="0">
            <a:spAutoFit/>
          </a:bodyPr>
          <a:lstStyle/>
          <a:p>
            <a:r>
              <a:rPr lang="en-US" sz="1700" b="1" dirty="0">
                <a:latin typeface="Helvetica" pitchFamily="2" charset="0"/>
              </a:rPr>
              <a:t>Statistical Modelling </a:t>
            </a:r>
            <a:r>
              <a:rPr lang="en-US" sz="1700" b="1" dirty="0">
                <a:latin typeface="Helvetica" pitchFamily="2" charset="0"/>
                <a:sym typeface="Wingdings" pitchFamily="2" charset="2"/>
              </a:rPr>
              <a:t> Mature Oocytes and Baseline Factors</a:t>
            </a:r>
          </a:p>
          <a:p>
            <a:pPr marL="285750" indent="-285750">
              <a:buFont typeface="Arial" panose="020B0604020202020204" pitchFamily="34" charset="0"/>
              <a:buChar char="•"/>
            </a:pPr>
            <a:r>
              <a:rPr lang="en-US" sz="1600" dirty="0">
                <a:latin typeface="Helvetica" pitchFamily="2" charset="0"/>
                <a:sym typeface="Wingdings" pitchFamily="2" charset="2"/>
              </a:rPr>
              <a:t>Negative Binomial Regression Model</a:t>
            </a:r>
          </a:p>
          <a:p>
            <a:pPr marL="285750" indent="-285750">
              <a:buFont typeface="Arial" panose="020B0604020202020204" pitchFamily="34" charset="0"/>
              <a:buChar char="•"/>
            </a:pPr>
            <a:r>
              <a:rPr lang="en-US" sz="1600" dirty="0">
                <a:latin typeface="Helvetica" pitchFamily="2" charset="0"/>
                <a:sym typeface="Wingdings" pitchFamily="2" charset="2"/>
              </a:rPr>
              <a:t>Predicting the number of mature oocytes</a:t>
            </a:r>
          </a:p>
          <a:p>
            <a:pPr marL="742950" lvl="1" indent="-285750">
              <a:buFont typeface="Arial" panose="020B0604020202020204" pitchFamily="34" charset="0"/>
              <a:buChar char="•"/>
            </a:pPr>
            <a:r>
              <a:rPr lang="en-US" sz="1600" dirty="0">
                <a:latin typeface="Helvetica" pitchFamily="2" charset="0"/>
                <a:sym typeface="Wingdings" pitchFamily="2" charset="2"/>
              </a:rPr>
              <a:t>Number of mature oocytes = count data which is very over-dispersed</a:t>
            </a:r>
          </a:p>
          <a:p>
            <a:pPr marL="742950" lvl="1" indent="-285750">
              <a:buFont typeface="Arial" panose="020B0604020202020204" pitchFamily="34" charset="0"/>
              <a:buChar char="•"/>
            </a:pPr>
            <a:r>
              <a:rPr lang="en-US" sz="1600" dirty="0">
                <a:latin typeface="Helvetica" pitchFamily="2" charset="0"/>
                <a:sym typeface="Wingdings" pitchFamily="2" charset="2"/>
              </a:rPr>
              <a:t>Variance (66.29) &gt; Mean (11.24)</a:t>
            </a:r>
          </a:p>
          <a:p>
            <a:pPr marL="742950" lvl="1" indent="-285750">
              <a:buFont typeface="Arial" panose="020B0604020202020204" pitchFamily="34" charset="0"/>
              <a:buChar char="•"/>
            </a:pPr>
            <a:r>
              <a:rPr lang="en-US" sz="1600" dirty="0">
                <a:latin typeface="Helvetica" pitchFamily="2" charset="0"/>
                <a:sym typeface="Wingdings" pitchFamily="2" charset="2"/>
              </a:rPr>
              <a:t>Models which include AMH and do not</a:t>
            </a:r>
          </a:p>
        </p:txBody>
      </p:sp>
      <p:pic>
        <p:nvPicPr>
          <p:cNvPr id="7" name="Picture 6" descr="A screenshot of a computer&#10;&#10;AI-generated content may be incorrect.">
            <a:extLst>
              <a:ext uri="{FF2B5EF4-FFF2-40B4-BE49-F238E27FC236}">
                <a16:creationId xmlns:a16="http://schemas.microsoft.com/office/drawing/2014/main" id="{028F64ED-2BDD-DFE6-0681-D0CC9D9FE329}"/>
              </a:ext>
            </a:extLst>
          </p:cNvPr>
          <p:cNvPicPr>
            <a:picLocks noChangeAspect="1"/>
          </p:cNvPicPr>
          <p:nvPr/>
        </p:nvPicPr>
        <p:blipFill>
          <a:blip r:embed="rId2"/>
          <a:stretch>
            <a:fillRect/>
          </a:stretch>
        </p:blipFill>
        <p:spPr>
          <a:xfrm>
            <a:off x="7646691" y="165916"/>
            <a:ext cx="3422362" cy="3180377"/>
          </a:xfrm>
          <a:prstGeom prst="rect">
            <a:avLst/>
          </a:prstGeom>
        </p:spPr>
      </p:pic>
      <p:sp>
        <p:nvSpPr>
          <p:cNvPr id="9" name="TextBox 8">
            <a:extLst>
              <a:ext uri="{FF2B5EF4-FFF2-40B4-BE49-F238E27FC236}">
                <a16:creationId xmlns:a16="http://schemas.microsoft.com/office/drawing/2014/main" id="{921D19D6-7542-9368-01A9-117FF1362261}"/>
              </a:ext>
            </a:extLst>
          </p:cNvPr>
          <p:cNvSpPr txBox="1"/>
          <p:nvPr/>
        </p:nvSpPr>
        <p:spPr>
          <a:xfrm>
            <a:off x="232611" y="3075568"/>
            <a:ext cx="6998369" cy="2677656"/>
          </a:xfrm>
          <a:prstGeom prst="rect">
            <a:avLst/>
          </a:prstGeom>
          <a:noFill/>
        </p:spPr>
        <p:txBody>
          <a:bodyPr wrap="square" rtlCol="0">
            <a:spAutoFit/>
          </a:bodyPr>
          <a:lstStyle/>
          <a:p>
            <a:r>
              <a:rPr lang="en-US" sz="1500" dirty="0">
                <a:latin typeface="Helvetica" pitchFamily="2" charset="0"/>
              </a:rPr>
              <a:t>Including AMH in the model leads to decrease in AIC (better model) </a:t>
            </a:r>
            <a:r>
              <a:rPr lang="en-US" sz="1500" dirty="0">
                <a:latin typeface="Helvetica" pitchFamily="2" charset="0"/>
                <a:sym typeface="Wingdings" pitchFamily="2" charset="2"/>
              </a:rPr>
              <a:t> Baseline AMH is an important predictor</a:t>
            </a:r>
          </a:p>
          <a:p>
            <a:pPr marL="285750" indent="-285750">
              <a:buFont typeface="Arial" panose="020B0604020202020204" pitchFamily="34" charset="0"/>
              <a:buChar char="•"/>
            </a:pPr>
            <a:r>
              <a:rPr lang="en-US" sz="1500" dirty="0">
                <a:latin typeface="Helvetica" pitchFamily="2" charset="0"/>
                <a:sym typeface="Wingdings" pitchFamily="2" charset="2"/>
              </a:rPr>
              <a:t>Age remains a significant independent predictor (smaller effect)</a:t>
            </a:r>
          </a:p>
          <a:p>
            <a:pPr marL="285750" indent="-285750">
              <a:buFont typeface="Arial" panose="020B0604020202020204" pitchFamily="34" charset="0"/>
              <a:buChar char="•"/>
            </a:pPr>
            <a:r>
              <a:rPr lang="en-US" sz="1500" dirty="0">
                <a:latin typeface="Helvetica" pitchFamily="2" charset="0"/>
                <a:sym typeface="Wingdings" pitchFamily="2" charset="2"/>
              </a:rPr>
              <a:t>Effect of age is reduced in the model which includes AMH (-0.0119 --&gt; -0.0393)  the effect of age on oocyte yield through AMH rather than independently? </a:t>
            </a:r>
          </a:p>
          <a:p>
            <a:pPr marL="285750" indent="-285750">
              <a:buFont typeface="Arial" panose="020B0604020202020204" pitchFamily="34" charset="0"/>
              <a:buChar char="•"/>
            </a:pPr>
            <a:r>
              <a:rPr lang="en-US" sz="1500" dirty="0">
                <a:latin typeface="Helvetica" pitchFamily="2" charset="0"/>
                <a:sym typeface="Wingdings" pitchFamily="2" charset="2"/>
              </a:rPr>
              <a:t>Log(AMH) = strongest predictor (p&lt;0.0001), double AMH = 78% more mature oocytes</a:t>
            </a:r>
          </a:p>
          <a:p>
            <a:pPr marL="285750" indent="-285750">
              <a:buFont typeface="Arial" panose="020B0604020202020204" pitchFamily="34" charset="0"/>
              <a:buChar char="•"/>
            </a:pPr>
            <a:r>
              <a:rPr lang="en-US" sz="1500" dirty="0">
                <a:latin typeface="Helvetica" pitchFamily="2" charset="0"/>
                <a:sym typeface="Wingdings" pitchFamily="2" charset="2"/>
              </a:rPr>
              <a:t>Women within the unexplained aetiology group yield more mature oocytes vs. female factor group, even when controlling for age and baseline AMH</a:t>
            </a:r>
            <a:endParaRPr lang="en-US" sz="1500" dirty="0">
              <a:latin typeface="Helvetica" pitchFamily="2" charset="0"/>
            </a:endParaRPr>
          </a:p>
          <a:p>
            <a:pPr marL="285750" indent="-285750">
              <a:buFont typeface="Arial" panose="020B0604020202020204" pitchFamily="34" charset="0"/>
              <a:buChar char="•"/>
            </a:pPr>
            <a:endParaRPr lang="en-US" dirty="0"/>
          </a:p>
        </p:txBody>
      </p:sp>
      <p:pic>
        <p:nvPicPr>
          <p:cNvPr id="11" name="Picture 10" descr="A screenshot of a computer&#10;&#10;AI-generated content may be incorrect.">
            <a:extLst>
              <a:ext uri="{FF2B5EF4-FFF2-40B4-BE49-F238E27FC236}">
                <a16:creationId xmlns:a16="http://schemas.microsoft.com/office/drawing/2014/main" id="{D5935338-C768-DB3A-CBC5-B257B04A8E87}"/>
              </a:ext>
            </a:extLst>
          </p:cNvPr>
          <p:cNvPicPr>
            <a:picLocks noChangeAspect="1"/>
          </p:cNvPicPr>
          <p:nvPr/>
        </p:nvPicPr>
        <p:blipFill>
          <a:blip r:embed="rId3"/>
          <a:stretch>
            <a:fillRect/>
          </a:stretch>
        </p:blipFill>
        <p:spPr>
          <a:xfrm>
            <a:off x="7646691" y="3511708"/>
            <a:ext cx="3619500" cy="3251200"/>
          </a:xfrm>
          <a:prstGeom prst="rect">
            <a:avLst/>
          </a:prstGeom>
        </p:spPr>
      </p:pic>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C0F1D03A-6CA0-8343-1EB9-9E31B24B6562}"/>
                  </a:ext>
                </a:extLst>
              </p14:cNvPr>
              <p14:cNvContentPartPr/>
              <p14:nvPr/>
            </p14:nvContentPartPr>
            <p14:xfrm>
              <a:off x="7682220" y="326380"/>
              <a:ext cx="3102480" cy="86400"/>
            </p14:xfrm>
          </p:contentPart>
        </mc:Choice>
        <mc:Fallback xmlns="">
          <p:pic>
            <p:nvPicPr>
              <p:cNvPr id="15" name="Ink 14">
                <a:extLst>
                  <a:ext uri="{FF2B5EF4-FFF2-40B4-BE49-F238E27FC236}">
                    <a16:creationId xmlns:a16="http://schemas.microsoft.com/office/drawing/2014/main" id="{C0F1D03A-6CA0-8343-1EB9-9E31B24B6562}"/>
                  </a:ext>
                </a:extLst>
              </p:cNvPr>
              <p:cNvPicPr/>
              <p:nvPr/>
            </p:nvPicPr>
            <p:blipFill>
              <a:blip r:embed="rId5"/>
              <a:stretch>
                <a:fillRect/>
              </a:stretch>
            </p:blipFill>
            <p:spPr>
              <a:xfrm>
                <a:off x="7628580" y="218740"/>
                <a:ext cx="321012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B08EB43B-24EC-5177-E90A-0AC50C25F3F1}"/>
                  </a:ext>
                </a:extLst>
              </p14:cNvPr>
              <p14:cNvContentPartPr/>
              <p14:nvPr/>
            </p14:nvContentPartPr>
            <p14:xfrm>
              <a:off x="7712820" y="3693100"/>
              <a:ext cx="3427920" cy="46800"/>
            </p14:xfrm>
          </p:contentPart>
        </mc:Choice>
        <mc:Fallback xmlns="">
          <p:pic>
            <p:nvPicPr>
              <p:cNvPr id="16" name="Ink 15">
                <a:extLst>
                  <a:ext uri="{FF2B5EF4-FFF2-40B4-BE49-F238E27FC236}">
                    <a16:creationId xmlns:a16="http://schemas.microsoft.com/office/drawing/2014/main" id="{B08EB43B-24EC-5177-E90A-0AC50C25F3F1}"/>
                  </a:ext>
                </a:extLst>
              </p:cNvPr>
              <p:cNvPicPr/>
              <p:nvPr/>
            </p:nvPicPr>
            <p:blipFill>
              <a:blip r:embed="rId7"/>
              <a:stretch>
                <a:fillRect/>
              </a:stretch>
            </p:blipFill>
            <p:spPr>
              <a:xfrm>
                <a:off x="7659180" y="3585100"/>
                <a:ext cx="3535560" cy="262440"/>
              </a:xfrm>
              <a:prstGeom prst="rect">
                <a:avLst/>
              </a:prstGeom>
            </p:spPr>
          </p:pic>
        </mc:Fallback>
      </mc:AlternateContent>
    </p:spTree>
    <p:extLst>
      <p:ext uri="{BB962C8B-B14F-4D97-AF65-F5344CB8AC3E}">
        <p14:creationId xmlns:p14="http://schemas.microsoft.com/office/powerpoint/2010/main" val="3722006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32587A0A-F6E8-33FC-C7F4-F2766AB416B3}"/>
              </a:ext>
            </a:extLst>
          </p:cNvPr>
          <p:cNvPicPr>
            <a:picLocks noChangeAspect="1"/>
          </p:cNvPicPr>
          <p:nvPr/>
        </p:nvPicPr>
        <p:blipFill>
          <a:blip r:embed="rId3"/>
          <a:stretch>
            <a:fillRect/>
          </a:stretch>
        </p:blipFill>
        <p:spPr>
          <a:xfrm>
            <a:off x="355076" y="159722"/>
            <a:ext cx="3874023" cy="3600102"/>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1CA02DC8-9E7C-2551-3B09-D67F2C856B73}"/>
              </a:ext>
            </a:extLst>
          </p:cNvPr>
          <p:cNvPicPr>
            <a:picLocks noChangeAspect="1"/>
          </p:cNvPicPr>
          <p:nvPr/>
        </p:nvPicPr>
        <p:blipFill>
          <a:blip r:embed="rId4"/>
          <a:stretch>
            <a:fillRect/>
          </a:stretch>
        </p:blipFill>
        <p:spPr>
          <a:xfrm>
            <a:off x="6795790" y="159722"/>
            <a:ext cx="4007925" cy="3600101"/>
          </a:xfrm>
          <a:prstGeom prst="rect">
            <a:avLst/>
          </a:prstGeom>
        </p:spPr>
      </p:pic>
      <p:sp>
        <p:nvSpPr>
          <p:cNvPr id="7" name="TextBox 6">
            <a:extLst>
              <a:ext uri="{FF2B5EF4-FFF2-40B4-BE49-F238E27FC236}">
                <a16:creationId xmlns:a16="http://schemas.microsoft.com/office/drawing/2014/main" id="{ABA5E305-BC69-2157-06F1-9FC019A07FD3}"/>
              </a:ext>
            </a:extLst>
          </p:cNvPr>
          <p:cNvSpPr txBox="1"/>
          <p:nvPr/>
        </p:nvSpPr>
        <p:spPr>
          <a:xfrm>
            <a:off x="0" y="4203700"/>
            <a:ext cx="6096000" cy="1938992"/>
          </a:xfrm>
          <a:prstGeom prst="rect">
            <a:avLst/>
          </a:prstGeom>
          <a:noFill/>
        </p:spPr>
        <p:txBody>
          <a:bodyPr wrap="square">
            <a:spAutoFit/>
          </a:bodyPr>
          <a:lstStyle/>
          <a:p>
            <a:pPr marL="285750" indent="-285750">
              <a:buFont typeface="Arial" panose="020B0604020202020204" pitchFamily="34" charset="0"/>
              <a:buChar char="•"/>
            </a:pPr>
            <a:r>
              <a:rPr lang="en-US" sz="1500" dirty="0">
                <a:latin typeface="Helvetica" pitchFamily="2" charset="0"/>
              </a:rPr>
              <a:t>Age is statistically significant </a:t>
            </a:r>
            <a:r>
              <a:rPr lang="en-US" sz="1500" dirty="0">
                <a:latin typeface="Helvetica" pitchFamily="2" charset="0"/>
                <a:sym typeface="Wingdings" pitchFamily="2" charset="2"/>
              </a:rPr>
              <a:t> Every additional year of age is associated with fewer mature oocytes (-0.119) (11% fewer), and this is statistically significant (0.006)</a:t>
            </a:r>
          </a:p>
          <a:p>
            <a:pPr marL="285750" indent="-285750">
              <a:buFont typeface="Arial" panose="020B0604020202020204" pitchFamily="34" charset="0"/>
              <a:buChar char="•"/>
            </a:pPr>
            <a:r>
              <a:rPr lang="en-US" sz="1500" dirty="0">
                <a:latin typeface="Helvetica" pitchFamily="2" charset="0"/>
                <a:sym typeface="Wingdings" pitchFamily="2" charset="2"/>
              </a:rPr>
              <a:t>There is no evidence that age affects mature oocyte yield differently across aetiology groups  including aetiology in modelling does not change relationship </a:t>
            </a:r>
          </a:p>
          <a:p>
            <a:pPr marL="285750" indent="-285750">
              <a:buFont typeface="Arial" panose="020B0604020202020204" pitchFamily="34" charset="0"/>
              <a:buChar char="•"/>
            </a:pPr>
            <a:r>
              <a:rPr lang="en-US" sz="1500" dirty="0">
                <a:latin typeface="Helvetica" pitchFamily="2" charset="0"/>
                <a:sym typeface="Wingdings" pitchFamily="2" charset="2"/>
              </a:rPr>
              <a:t>Interaction terms add nothing</a:t>
            </a:r>
          </a:p>
          <a:p>
            <a:pPr marL="285750" indent="-285750">
              <a:buFont typeface="Arial" panose="020B0604020202020204" pitchFamily="34" charset="0"/>
              <a:buChar char="•"/>
            </a:pPr>
            <a:r>
              <a:rPr lang="en-US" sz="1500" dirty="0">
                <a:latin typeface="Helvetica" pitchFamily="2" charset="0"/>
                <a:sym typeface="Wingdings" pitchFamily="2" charset="2"/>
              </a:rPr>
              <a:t>CI very wide</a:t>
            </a:r>
          </a:p>
        </p:txBody>
      </p:sp>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1D22BCA4-9D63-36F1-F501-C06275E7BF0B}"/>
                  </a:ext>
                </a:extLst>
              </p14:cNvPr>
              <p14:cNvContentPartPr/>
              <p14:nvPr/>
            </p14:nvContentPartPr>
            <p14:xfrm>
              <a:off x="358740" y="394420"/>
              <a:ext cx="3560760" cy="70200"/>
            </p14:xfrm>
          </p:contentPart>
        </mc:Choice>
        <mc:Fallback xmlns="">
          <p:pic>
            <p:nvPicPr>
              <p:cNvPr id="10" name="Ink 9">
                <a:extLst>
                  <a:ext uri="{FF2B5EF4-FFF2-40B4-BE49-F238E27FC236}">
                    <a16:creationId xmlns:a16="http://schemas.microsoft.com/office/drawing/2014/main" id="{1D22BCA4-9D63-36F1-F501-C06275E7BF0B}"/>
                  </a:ext>
                </a:extLst>
              </p:cNvPr>
              <p:cNvPicPr/>
              <p:nvPr/>
            </p:nvPicPr>
            <p:blipFill>
              <a:blip r:embed="rId6"/>
              <a:stretch>
                <a:fillRect/>
              </a:stretch>
            </p:blipFill>
            <p:spPr>
              <a:xfrm>
                <a:off x="305100" y="286420"/>
                <a:ext cx="3668400" cy="2858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7B75A1A6-60E8-8344-F2E3-9769AD140FCE}"/>
                  </a:ext>
                </a:extLst>
              </p14:cNvPr>
              <p14:cNvContentPartPr/>
              <p14:nvPr/>
            </p14:nvContentPartPr>
            <p14:xfrm>
              <a:off x="3436380" y="1039900"/>
              <a:ext cx="522360" cy="25920"/>
            </p14:xfrm>
          </p:contentPart>
        </mc:Choice>
        <mc:Fallback xmlns="">
          <p:pic>
            <p:nvPicPr>
              <p:cNvPr id="11" name="Ink 10">
                <a:extLst>
                  <a:ext uri="{FF2B5EF4-FFF2-40B4-BE49-F238E27FC236}">
                    <a16:creationId xmlns:a16="http://schemas.microsoft.com/office/drawing/2014/main" id="{7B75A1A6-60E8-8344-F2E3-9769AD140FCE}"/>
                  </a:ext>
                </a:extLst>
              </p:cNvPr>
              <p:cNvPicPr/>
              <p:nvPr/>
            </p:nvPicPr>
            <p:blipFill>
              <a:blip r:embed="rId8"/>
              <a:stretch>
                <a:fillRect/>
              </a:stretch>
            </p:blipFill>
            <p:spPr>
              <a:xfrm>
                <a:off x="3382380" y="932260"/>
                <a:ext cx="630000" cy="241560"/>
              </a:xfrm>
              <a:prstGeom prst="rect">
                <a:avLst/>
              </a:prstGeom>
            </p:spPr>
          </p:pic>
        </mc:Fallback>
      </mc:AlternateContent>
      <p:sp>
        <p:nvSpPr>
          <p:cNvPr id="13" name="TextBox 12">
            <a:extLst>
              <a:ext uri="{FF2B5EF4-FFF2-40B4-BE49-F238E27FC236}">
                <a16:creationId xmlns:a16="http://schemas.microsoft.com/office/drawing/2014/main" id="{580EFC30-4275-3577-A105-162538D8B826}"/>
              </a:ext>
            </a:extLst>
          </p:cNvPr>
          <p:cNvSpPr txBox="1"/>
          <p:nvPr/>
        </p:nvSpPr>
        <p:spPr>
          <a:xfrm>
            <a:off x="6096000" y="4066788"/>
            <a:ext cx="6108700" cy="2631490"/>
          </a:xfrm>
          <a:prstGeom prst="rect">
            <a:avLst/>
          </a:prstGeom>
          <a:noFill/>
        </p:spPr>
        <p:txBody>
          <a:bodyPr wrap="square">
            <a:spAutoFit/>
          </a:bodyPr>
          <a:lstStyle/>
          <a:p>
            <a:r>
              <a:rPr lang="en-US" sz="1500" dirty="0">
                <a:latin typeface="Helvetica" pitchFamily="2" charset="0"/>
              </a:rPr>
              <a:t>Including AMH in the model leads to decrease in AIC (better model) </a:t>
            </a:r>
            <a:endParaRPr lang="en-US" sz="1500" dirty="0">
              <a:latin typeface="Helvetica" pitchFamily="2" charset="0"/>
              <a:sym typeface="Wingdings" pitchFamily="2" charset="2"/>
            </a:endParaRPr>
          </a:p>
          <a:p>
            <a:pPr marL="285750" indent="-285750">
              <a:buFont typeface="Arial" panose="020B0604020202020204" pitchFamily="34" charset="0"/>
              <a:buChar char="•"/>
            </a:pPr>
            <a:r>
              <a:rPr lang="en-US" sz="1500" dirty="0">
                <a:latin typeface="Helvetica" pitchFamily="2" charset="0"/>
                <a:sym typeface="Wingdings" pitchFamily="2" charset="2"/>
              </a:rPr>
              <a:t>Baseline AMH is strongest predictor  (p&lt;0.0001), double AMH = 78% more mature oocytes</a:t>
            </a:r>
          </a:p>
          <a:p>
            <a:pPr marL="285750" indent="-285750">
              <a:buFont typeface="Arial" panose="020B0604020202020204" pitchFamily="34" charset="0"/>
              <a:buChar char="•"/>
            </a:pPr>
            <a:r>
              <a:rPr lang="en-US" sz="1500" dirty="0">
                <a:latin typeface="Helvetica" pitchFamily="2" charset="0"/>
                <a:sym typeface="Wingdings" pitchFamily="2" charset="2"/>
              </a:rPr>
              <a:t>Age remains a significant independent predictor (smaller effect  effect of age is reduced in the model which includes AMH (-0.0119 --&gt; -0.0393)  AMH is capturing age-related ovarian decline?</a:t>
            </a:r>
          </a:p>
          <a:p>
            <a:pPr marL="285750" indent="-285750">
              <a:buFont typeface="Arial" panose="020B0604020202020204" pitchFamily="34" charset="0"/>
              <a:buChar char="•"/>
            </a:pPr>
            <a:r>
              <a:rPr lang="en-US" sz="1500" dirty="0">
                <a:latin typeface="Helvetica" pitchFamily="2" charset="0"/>
                <a:sym typeface="Wingdings" pitchFamily="2" charset="2"/>
              </a:rPr>
              <a:t>Is the effect of age on oocyte yield through AMH rather than independently? </a:t>
            </a:r>
          </a:p>
          <a:p>
            <a:pPr marL="285750" indent="-285750">
              <a:buFont typeface="Arial" panose="020B0604020202020204" pitchFamily="34" charset="0"/>
              <a:buChar char="•"/>
            </a:pPr>
            <a:r>
              <a:rPr lang="en-US" sz="1500" dirty="0">
                <a:latin typeface="Helvetica" pitchFamily="2" charset="0"/>
                <a:sym typeface="Wingdings" pitchFamily="2" charset="2"/>
              </a:rPr>
              <a:t>Women within the unexplained aetiology group yield more mature oocytes vs. female factor group, when controlling for age and baseline AMH</a:t>
            </a:r>
            <a:endParaRPr lang="en-US" sz="1500" dirty="0">
              <a:latin typeface="Helvetica" pitchFamily="2" charset="0"/>
            </a:endParaRPr>
          </a:p>
        </p:txBody>
      </p:sp>
      <mc:AlternateContent xmlns:mc="http://schemas.openxmlformats.org/markup-compatibility/2006" xmlns:p14="http://schemas.microsoft.com/office/powerpoint/2010/main">
        <mc:Choice Requires="p14">
          <p:contentPart p14:bwMode="auto" r:id="rId9">
            <p14:nvContentPartPr>
              <p14:cNvPr id="14" name="Ink 13">
                <a:extLst>
                  <a:ext uri="{FF2B5EF4-FFF2-40B4-BE49-F238E27FC236}">
                    <a16:creationId xmlns:a16="http://schemas.microsoft.com/office/drawing/2014/main" id="{32A29ABF-D509-F8B1-7252-35B71E942603}"/>
                  </a:ext>
                </a:extLst>
              </p14:cNvPr>
              <p14:cNvContentPartPr/>
              <p14:nvPr/>
            </p14:nvContentPartPr>
            <p14:xfrm>
              <a:off x="365940" y="2747740"/>
              <a:ext cx="571320" cy="26280"/>
            </p14:xfrm>
          </p:contentPart>
        </mc:Choice>
        <mc:Fallback xmlns="">
          <p:pic>
            <p:nvPicPr>
              <p:cNvPr id="14" name="Ink 13">
                <a:extLst>
                  <a:ext uri="{FF2B5EF4-FFF2-40B4-BE49-F238E27FC236}">
                    <a16:creationId xmlns:a16="http://schemas.microsoft.com/office/drawing/2014/main" id="{32A29ABF-D509-F8B1-7252-35B71E942603}"/>
                  </a:ext>
                </a:extLst>
              </p:cNvPr>
              <p:cNvPicPr/>
              <p:nvPr/>
            </p:nvPicPr>
            <p:blipFill>
              <a:blip r:embed="rId10"/>
              <a:stretch>
                <a:fillRect/>
              </a:stretch>
            </p:blipFill>
            <p:spPr>
              <a:xfrm>
                <a:off x="312300" y="2639740"/>
                <a:ext cx="67896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5" name="Ink 14">
                <a:extLst>
                  <a:ext uri="{FF2B5EF4-FFF2-40B4-BE49-F238E27FC236}">
                    <a16:creationId xmlns:a16="http://schemas.microsoft.com/office/drawing/2014/main" id="{10B90C4A-3BBD-FD8D-FF9D-F03EF6D3FEAC}"/>
                  </a:ext>
                </a:extLst>
              </p14:cNvPr>
              <p14:cNvContentPartPr/>
              <p14:nvPr/>
            </p14:nvContentPartPr>
            <p14:xfrm>
              <a:off x="6820380" y="2723260"/>
              <a:ext cx="683280" cy="6840"/>
            </p14:xfrm>
          </p:contentPart>
        </mc:Choice>
        <mc:Fallback xmlns="">
          <p:pic>
            <p:nvPicPr>
              <p:cNvPr id="15" name="Ink 14">
                <a:extLst>
                  <a:ext uri="{FF2B5EF4-FFF2-40B4-BE49-F238E27FC236}">
                    <a16:creationId xmlns:a16="http://schemas.microsoft.com/office/drawing/2014/main" id="{10B90C4A-3BBD-FD8D-FF9D-F03EF6D3FEAC}"/>
                  </a:ext>
                </a:extLst>
              </p:cNvPr>
              <p:cNvPicPr/>
              <p:nvPr/>
            </p:nvPicPr>
            <p:blipFill>
              <a:blip r:embed="rId12"/>
              <a:stretch>
                <a:fillRect/>
              </a:stretch>
            </p:blipFill>
            <p:spPr>
              <a:xfrm>
                <a:off x="6766380" y="2615260"/>
                <a:ext cx="79092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6" name="Ink 15">
                <a:extLst>
                  <a:ext uri="{FF2B5EF4-FFF2-40B4-BE49-F238E27FC236}">
                    <a16:creationId xmlns:a16="http://schemas.microsoft.com/office/drawing/2014/main" id="{79DFBA22-CA04-CE92-6EC6-CDFD05004A1F}"/>
                  </a:ext>
                </a:extLst>
              </p14:cNvPr>
              <p14:cNvContentPartPr/>
              <p14:nvPr/>
            </p14:nvContentPartPr>
            <p14:xfrm>
              <a:off x="6839460" y="348340"/>
              <a:ext cx="2944800" cy="63000"/>
            </p14:xfrm>
          </p:contentPart>
        </mc:Choice>
        <mc:Fallback xmlns="">
          <p:pic>
            <p:nvPicPr>
              <p:cNvPr id="16" name="Ink 15">
                <a:extLst>
                  <a:ext uri="{FF2B5EF4-FFF2-40B4-BE49-F238E27FC236}">
                    <a16:creationId xmlns:a16="http://schemas.microsoft.com/office/drawing/2014/main" id="{79DFBA22-CA04-CE92-6EC6-CDFD05004A1F}"/>
                  </a:ext>
                </a:extLst>
              </p:cNvPr>
              <p:cNvPicPr/>
              <p:nvPr/>
            </p:nvPicPr>
            <p:blipFill>
              <a:blip r:embed="rId14"/>
              <a:stretch>
                <a:fillRect/>
              </a:stretch>
            </p:blipFill>
            <p:spPr>
              <a:xfrm>
                <a:off x="6785460" y="240700"/>
                <a:ext cx="3052440" cy="2786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7" name="Ink 16">
                <a:extLst>
                  <a:ext uri="{FF2B5EF4-FFF2-40B4-BE49-F238E27FC236}">
                    <a16:creationId xmlns:a16="http://schemas.microsoft.com/office/drawing/2014/main" id="{98784E0A-4288-1B73-FBF3-1B45BA888E5A}"/>
                  </a:ext>
                </a:extLst>
              </p14:cNvPr>
              <p14:cNvContentPartPr/>
              <p14:nvPr/>
            </p14:nvContentPartPr>
            <p14:xfrm>
              <a:off x="9804420" y="378580"/>
              <a:ext cx="889560" cy="34200"/>
            </p14:xfrm>
          </p:contentPart>
        </mc:Choice>
        <mc:Fallback xmlns="">
          <p:pic>
            <p:nvPicPr>
              <p:cNvPr id="17" name="Ink 16">
                <a:extLst>
                  <a:ext uri="{FF2B5EF4-FFF2-40B4-BE49-F238E27FC236}">
                    <a16:creationId xmlns:a16="http://schemas.microsoft.com/office/drawing/2014/main" id="{98784E0A-4288-1B73-FBF3-1B45BA888E5A}"/>
                  </a:ext>
                </a:extLst>
              </p:cNvPr>
              <p:cNvPicPr/>
              <p:nvPr/>
            </p:nvPicPr>
            <p:blipFill>
              <a:blip r:embed="rId16"/>
              <a:stretch>
                <a:fillRect/>
              </a:stretch>
            </p:blipFill>
            <p:spPr>
              <a:xfrm>
                <a:off x="9750780" y="270580"/>
                <a:ext cx="997200" cy="249840"/>
              </a:xfrm>
              <a:prstGeom prst="rect">
                <a:avLst/>
              </a:prstGeom>
            </p:spPr>
          </p:pic>
        </mc:Fallback>
      </mc:AlternateContent>
    </p:spTree>
    <p:extLst>
      <p:ext uri="{BB962C8B-B14F-4D97-AF65-F5344CB8AC3E}">
        <p14:creationId xmlns:p14="http://schemas.microsoft.com/office/powerpoint/2010/main" val="26760887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FC0BFF8-EFEE-77B5-EEE1-B2995CF59F50}"/>
              </a:ext>
            </a:extLst>
          </p:cNvPr>
          <p:cNvSpPr txBox="1"/>
          <p:nvPr/>
        </p:nvSpPr>
        <p:spPr>
          <a:xfrm>
            <a:off x="420437" y="787400"/>
            <a:ext cx="6284093" cy="1846659"/>
          </a:xfrm>
          <a:prstGeom prst="rect">
            <a:avLst/>
          </a:prstGeom>
          <a:noFill/>
        </p:spPr>
        <p:txBody>
          <a:bodyPr wrap="none" rtlCol="0">
            <a:spAutoFit/>
          </a:bodyPr>
          <a:lstStyle/>
          <a:p>
            <a:r>
              <a:rPr lang="en-US" sz="2400" b="1" dirty="0">
                <a:latin typeface="Helvetica" pitchFamily="2" charset="0"/>
              </a:rPr>
              <a:t>Statistical Modelling – Protocol Decisions</a:t>
            </a:r>
          </a:p>
          <a:p>
            <a:pPr marL="285750" indent="-285750">
              <a:buFont typeface="Arial" panose="020B0604020202020204" pitchFamily="34" charset="0"/>
              <a:buChar char="•"/>
            </a:pPr>
            <a:r>
              <a:rPr lang="en-US" dirty="0">
                <a:latin typeface="Helvetica" pitchFamily="2" charset="0"/>
              </a:rPr>
              <a:t>Outcome = derived parameter: Total Stimulation Dose</a:t>
            </a:r>
          </a:p>
          <a:p>
            <a:pPr marL="742950" lvl="1" indent="-285750">
              <a:buFont typeface="Arial" panose="020B0604020202020204" pitchFamily="34" charset="0"/>
              <a:buChar char="•"/>
            </a:pPr>
            <a:r>
              <a:rPr lang="en-US" dirty="0">
                <a:latin typeface="Helvetica" pitchFamily="2" charset="0"/>
              </a:rPr>
              <a:t>Total FSH + Total </a:t>
            </a:r>
            <a:r>
              <a:rPr lang="en-US" dirty="0" err="1">
                <a:latin typeface="Helvetica" pitchFamily="2" charset="0"/>
              </a:rPr>
              <a:t>hMG</a:t>
            </a:r>
            <a:endParaRPr lang="en-US" dirty="0">
              <a:latin typeface="Helvetica" pitchFamily="2" charset="0"/>
            </a:endParaRPr>
          </a:p>
          <a:p>
            <a:pPr marL="285750" indent="-285750">
              <a:buFont typeface="Arial" panose="020B0604020202020204" pitchFamily="34" charset="0"/>
              <a:buChar char="•"/>
            </a:pPr>
            <a:r>
              <a:rPr lang="en-US" dirty="0">
                <a:latin typeface="Helvetica" pitchFamily="2" charset="0"/>
              </a:rPr>
              <a:t>Asking: what predicts the total stimulation dose? </a:t>
            </a:r>
          </a:p>
          <a:p>
            <a:pPr marL="742950" lvl="1" indent="-285750">
              <a:buFont typeface="Arial" panose="020B0604020202020204" pitchFamily="34" charset="0"/>
              <a:buChar char="•"/>
            </a:pPr>
            <a:r>
              <a:rPr lang="en-US" dirty="0">
                <a:latin typeface="Helvetica" pitchFamily="2" charset="0"/>
              </a:rPr>
              <a:t>Predicting the clinician's decision</a:t>
            </a:r>
          </a:p>
          <a:p>
            <a:pPr marL="742950" lvl="1" indent="-285750">
              <a:buFont typeface="Arial" panose="020B0604020202020204" pitchFamily="34" charset="0"/>
              <a:buChar char="•"/>
            </a:pPr>
            <a:r>
              <a:rPr lang="en-US" dirty="0">
                <a:latin typeface="Helvetica" pitchFamily="2" charset="0"/>
              </a:rPr>
              <a:t>What factors are important in deciding dose</a:t>
            </a:r>
          </a:p>
        </p:txBody>
      </p:sp>
      <p:sp>
        <p:nvSpPr>
          <p:cNvPr id="16" name="TextBox 15">
            <a:extLst>
              <a:ext uri="{FF2B5EF4-FFF2-40B4-BE49-F238E27FC236}">
                <a16:creationId xmlns:a16="http://schemas.microsoft.com/office/drawing/2014/main" id="{C8D84BAE-5CF3-7A93-0C12-37B2F05ED4EC}"/>
              </a:ext>
            </a:extLst>
          </p:cNvPr>
          <p:cNvSpPr txBox="1"/>
          <p:nvPr/>
        </p:nvSpPr>
        <p:spPr>
          <a:xfrm>
            <a:off x="647701" y="3184079"/>
            <a:ext cx="6518912" cy="1754326"/>
          </a:xfrm>
          <a:prstGeom prst="rect">
            <a:avLst/>
          </a:prstGeom>
          <a:noFill/>
        </p:spPr>
        <p:txBody>
          <a:bodyPr wrap="square" rtlCol="0">
            <a:spAutoFit/>
          </a:bodyPr>
          <a:lstStyle/>
          <a:p>
            <a:r>
              <a:rPr lang="en-US" b="1" dirty="0">
                <a:latin typeface="Helvetica" pitchFamily="2" charset="0"/>
              </a:rPr>
              <a:t>Models</a:t>
            </a:r>
          </a:p>
          <a:p>
            <a:pPr marL="285750" indent="-285750">
              <a:buFont typeface="Arial" panose="020B0604020202020204" pitchFamily="34" charset="0"/>
              <a:buChar char="•"/>
            </a:pPr>
            <a:r>
              <a:rPr lang="en-US" dirty="0">
                <a:latin typeface="Helvetica" pitchFamily="2" charset="0"/>
              </a:rPr>
              <a:t>Predicting total stimulation dose from Baseline AMH, Age, Aetiology group, Treatment type</a:t>
            </a:r>
          </a:p>
          <a:p>
            <a:pPr marL="285750" indent="-285750">
              <a:buFont typeface="Arial" panose="020B0604020202020204" pitchFamily="34" charset="0"/>
              <a:buChar char="•"/>
            </a:pPr>
            <a:r>
              <a:rPr lang="en-US" dirty="0">
                <a:latin typeface="Helvetica" pitchFamily="2" charset="0"/>
              </a:rPr>
              <a:t>Reference for Aetiology = Female factor</a:t>
            </a:r>
          </a:p>
          <a:p>
            <a:pPr marL="285750" indent="-285750">
              <a:buFont typeface="Arial" panose="020B0604020202020204" pitchFamily="34" charset="0"/>
              <a:buChar char="•"/>
            </a:pPr>
            <a:r>
              <a:rPr lang="en-US" dirty="0">
                <a:latin typeface="Helvetica" pitchFamily="2" charset="0"/>
              </a:rPr>
              <a:t>Reference for Treatment type = Dual stim</a:t>
            </a:r>
          </a:p>
          <a:p>
            <a:pPr marL="285750" indent="-285750">
              <a:buFont typeface="Arial" panose="020B0604020202020204" pitchFamily="34" charset="0"/>
              <a:buChar char="•"/>
            </a:pPr>
            <a:r>
              <a:rPr lang="en-US" dirty="0">
                <a:latin typeface="Helvetica" pitchFamily="2" charset="0"/>
              </a:rPr>
              <a:t>2 models: with and without AMH</a:t>
            </a:r>
          </a:p>
        </p:txBody>
      </p:sp>
    </p:spTree>
    <p:extLst>
      <p:ext uri="{BB962C8B-B14F-4D97-AF65-F5344CB8AC3E}">
        <p14:creationId xmlns:p14="http://schemas.microsoft.com/office/powerpoint/2010/main" val="31480105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6119F2-3ED1-E47D-B88F-EAFE88F0AD09}"/>
              </a:ext>
            </a:extLst>
          </p:cNvPr>
          <p:cNvSpPr txBox="1"/>
          <p:nvPr/>
        </p:nvSpPr>
        <p:spPr>
          <a:xfrm>
            <a:off x="148228" y="3811012"/>
            <a:ext cx="6593305" cy="3046988"/>
          </a:xfrm>
          <a:prstGeom prst="rect">
            <a:avLst/>
          </a:prstGeom>
          <a:noFill/>
        </p:spPr>
        <p:txBody>
          <a:bodyPr wrap="square" rtlCol="0">
            <a:spAutoFit/>
          </a:bodyPr>
          <a:lstStyle/>
          <a:p>
            <a:pPr marL="285750" indent="-285750">
              <a:buFont typeface="Arial" panose="020B0604020202020204" pitchFamily="34" charset="0"/>
              <a:buChar char="•"/>
            </a:pPr>
            <a:r>
              <a:rPr lang="en-US" sz="1600" dirty="0"/>
              <a:t>Baseline AMH is significantly associated with total stimulation dose</a:t>
            </a:r>
          </a:p>
          <a:p>
            <a:pPr marL="285750" indent="-285750">
              <a:buFont typeface="Arial" panose="020B0604020202020204" pitchFamily="34" charset="0"/>
              <a:buChar char="•"/>
            </a:pPr>
            <a:r>
              <a:rPr lang="en-US" sz="1600" dirty="0"/>
              <a:t>Beta = -0.0072, p=0.00194 </a:t>
            </a:r>
            <a:r>
              <a:rPr lang="en-US" sz="1600" dirty="0">
                <a:sym typeface="Wingdings" pitchFamily="2" charset="2"/>
              </a:rPr>
              <a:t> Patients with lower AMH receive higher stimulation doses </a:t>
            </a:r>
          </a:p>
          <a:p>
            <a:pPr marL="285750" indent="-285750">
              <a:buFont typeface="Arial" panose="020B0604020202020204" pitchFamily="34" charset="0"/>
              <a:buChar char="•"/>
            </a:pPr>
            <a:r>
              <a:rPr lang="en-US" sz="1600" dirty="0">
                <a:sym typeface="Wingdings" pitchFamily="2" charset="2"/>
              </a:rPr>
              <a:t>Age trend: older  slightly higher doses (+0.033, p&gt;0.05), small association</a:t>
            </a:r>
          </a:p>
          <a:p>
            <a:pPr marL="285750" indent="-285750">
              <a:buFont typeface="Arial" panose="020B0604020202020204" pitchFamily="34" charset="0"/>
              <a:buChar char="•"/>
            </a:pPr>
            <a:r>
              <a:rPr lang="en-US" sz="1600" dirty="0">
                <a:sym typeface="Wingdings" pitchFamily="2" charset="2"/>
              </a:rPr>
              <a:t>Treatment type is strongly and significantly associated with total dose</a:t>
            </a:r>
          </a:p>
          <a:p>
            <a:pPr marL="742950" lvl="1" indent="-285750">
              <a:buFont typeface="Arial" panose="020B0604020202020204" pitchFamily="34" charset="0"/>
              <a:buChar char="•"/>
            </a:pPr>
            <a:r>
              <a:rPr lang="en-US" sz="1600" dirty="0">
                <a:sym typeface="Wingdings" pitchFamily="2" charset="2"/>
              </a:rPr>
              <a:t>Dual therapy = higher total dose vs. single FSH or </a:t>
            </a:r>
            <a:r>
              <a:rPr lang="en-US" sz="1600" dirty="0" err="1">
                <a:sym typeface="Wingdings" pitchFamily="2" charset="2"/>
              </a:rPr>
              <a:t>hMG</a:t>
            </a:r>
            <a:r>
              <a:rPr lang="en-US" sz="1600" dirty="0">
                <a:sym typeface="Wingdings" pitchFamily="2" charset="2"/>
              </a:rPr>
              <a:t> therapy</a:t>
            </a:r>
          </a:p>
          <a:p>
            <a:pPr marL="742950" lvl="1" indent="-285750">
              <a:buFont typeface="Arial" panose="020B0604020202020204" pitchFamily="34" charset="0"/>
              <a:buChar char="•"/>
            </a:pPr>
            <a:r>
              <a:rPr lang="en-US" sz="1600" dirty="0">
                <a:sym typeface="Wingdings" pitchFamily="2" charset="2"/>
              </a:rPr>
              <a:t>FSH only (-0.209, p=0.009)</a:t>
            </a:r>
          </a:p>
          <a:p>
            <a:pPr marL="742950" lvl="1" indent="-285750">
              <a:buFont typeface="Arial" panose="020B0604020202020204" pitchFamily="34" charset="0"/>
              <a:buChar char="•"/>
            </a:pPr>
            <a:r>
              <a:rPr lang="en-US" sz="1600" dirty="0" err="1">
                <a:sym typeface="Wingdings" pitchFamily="2" charset="2"/>
              </a:rPr>
              <a:t>hMG</a:t>
            </a:r>
            <a:r>
              <a:rPr lang="en-US" sz="1600" dirty="0">
                <a:sym typeface="Wingdings" pitchFamily="2" charset="2"/>
              </a:rPr>
              <a:t> only (-0.457, p=0.0001)</a:t>
            </a:r>
          </a:p>
          <a:p>
            <a:pPr marL="285750" indent="-285750">
              <a:buFont typeface="Arial" panose="020B0604020202020204" pitchFamily="34" charset="0"/>
              <a:buChar char="•"/>
            </a:pPr>
            <a:r>
              <a:rPr lang="en-US" sz="1600" dirty="0">
                <a:sym typeface="Wingdings" pitchFamily="2" charset="2"/>
              </a:rPr>
              <a:t>Interaction between age and Other aetiology group (-0.0607, p=0.032)</a:t>
            </a:r>
          </a:p>
          <a:p>
            <a:pPr marL="742950" lvl="1" indent="-285750">
              <a:buFont typeface="Arial" panose="020B0604020202020204" pitchFamily="34" charset="0"/>
              <a:buChar char="•"/>
            </a:pPr>
            <a:r>
              <a:rPr lang="en-US" sz="1600" dirty="0">
                <a:sym typeface="Wingdings" pitchFamily="2" charset="2"/>
              </a:rPr>
              <a:t>Clinicians responding to age may vary by aetiology (not sure there is enough info to make a proper conclusion)</a:t>
            </a:r>
          </a:p>
        </p:txBody>
      </p:sp>
      <p:sp>
        <p:nvSpPr>
          <p:cNvPr id="5" name="TextBox 4">
            <a:extLst>
              <a:ext uri="{FF2B5EF4-FFF2-40B4-BE49-F238E27FC236}">
                <a16:creationId xmlns:a16="http://schemas.microsoft.com/office/drawing/2014/main" id="{78BAE83A-1687-32EF-8BB8-F048FF8CBDFF}"/>
              </a:ext>
            </a:extLst>
          </p:cNvPr>
          <p:cNvSpPr txBox="1"/>
          <p:nvPr/>
        </p:nvSpPr>
        <p:spPr>
          <a:xfrm>
            <a:off x="7341521" y="4057233"/>
            <a:ext cx="4853567" cy="2800767"/>
          </a:xfrm>
          <a:prstGeom prst="rect">
            <a:avLst/>
          </a:prstGeom>
          <a:noFill/>
        </p:spPr>
        <p:txBody>
          <a:bodyPr wrap="square" rtlCol="0">
            <a:spAutoFit/>
          </a:bodyPr>
          <a:lstStyle/>
          <a:p>
            <a:pPr marL="285750" indent="-285750">
              <a:buFont typeface="Arial" panose="020B0604020202020204" pitchFamily="34" charset="0"/>
              <a:buChar char="•"/>
            </a:pPr>
            <a:r>
              <a:rPr lang="en-US" sz="1600" dirty="0"/>
              <a:t>Radj = 0.570, improves by 0.19 when including AMH ibn model</a:t>
            </a:r>
          </a:p>
          <a:p>
            <a:pPr marL="285750" indent="-285750">
              <a:buFont typeface="Arial" panose="020B0604020202020204" pitchFamily="34" charset="0"/>
              <a:buChar char="•"/>
            </a:pPr>
            <a:r>
              <a:rPr lang="en-US" sz="1600" dirty="0"/>
              <a:t>When modelling without baseline AMH </a:t>
            </a:r>
            <a:r>
              <a:rPr lang="en-US" sz="1600" dirty="0">
                <a:sym typeface="Wingdings" pitchFamily="2" charset="2"/>
              </a:rPr>
              <a:t> age is a significant predictor of total dose</a:t>
            </a:r>
          </a:p>
          <a:p>
            <a:pPr marL="285750" indent="-285750">
              <a:buFont typeface="Arial" panose="020B0604020202020204" pitchFamily="34" charset="0"/>
              <a:buChar char="•"/>
            </a:pPr>
            <a:r>
              <a:rPr lang="en-US" sz="1600" dirty="0">
                <a:sym typeface="Wingdings" pitchFamily="2" charset="2"/>
              </a:rPr>
              <a:t>When including AMH  significance of age disappears</a:t>
            </a:r>
          </a:p>
          <a:p>
            <a:pPr marL="285750" indent="-285750">
              <a:buFont typeface="Arial" panose="020B0604020202020204" pitchFamily="34" charset="0"/>
              <a:buChar char="•"/>
            </a:pPr>
            <a:r>
              <a:rPr lang="en-US" sz="1600" dirty="0">
                <a:sym typeface="Wingdings" pitchFamily="2" charset="2"/>
              </a:rPr>
              <a:t>AMH is mediating the effect of age</a:t>
            </a:r>
          </a:p>
          <a:p>
            <a:pPr marL="285750" indent="-285750">
              <a:buFont typeface="Arial" panose="020B0604020202020204" pitchFamily="34" charset="0"/>
              <a:buChar char="•"/>
            </a:pPr>
            <a:r>
              <a:rPr lang="en-US" sz="1600" dirty="0">
                <a:sym typeface="Wingdings" pitchFamily="2" charset="2"/>
              </a:rPr>
              <a:t>Age appears important because is correlates with AMH (r=-0.41)</a:t>
            </a:r>
          </a:p>
          <a:p>
            <a:pPr marL="285750" indent="-285750">
              <a:buFont typeface="Arial" panose="020B0604020202020204" pitchFamily="34" charset="0"/>
              <a:buChar char="•"/>
            </a:pPr>
            <a:r>
              <a:rPr lang="en-US" sz="1600" dirty="0">
                <a:sym typeface="Wingdings" pitchFamily="2" charset="2"/>
              </a:rPr>
              <a:t>When AMH is in the model, age does not explain anything new</a:t>
            </a:r>
            <a:endParaRPr lang="en-US" sz="1600" dirty="0"/>
          </a:p>
        </p:txBody>
      </p:sp>
      <p:pic>
        <p:nvPicPr>
          <p:cNvPr id="6" name="Picture 5" descr="A screenshot of a computer&#10;&#10;AI-generated content may be incorrect.">
            <a:extLst>
              <a:ext uri="{FF2B5EF4-FFF2-40B4-BE49-F238E27FC236}">
                <a16:creationId xmlns:a16="http://schemas.microsoft.com/office/drawing/2014/main" id="{024A5619-EC62-74E0-AC7C-F5E1674E7729}"/>
              </a:ext>
            </a:extLst>
          </p:cNvPr>
          <p:cNvPicPr>
            <a:picLocks noChangeAspect="1"/>
          </p:cNvPicPr>
          <p:nvPr/>
        </p:nvPicPr>
        <p:blipFill>
          <a:blip r:embed="rId2"/>
          <a:stretch>
            <a:fillRect/>
          </a:stretch>
        </p:blipFill>
        <p:spPr>
          <a:xfrm>
            <a:off x="404987" y="120274"/>
            <a:ext cx="4090813" cy="3567076"/>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A64F96E6-55EB-0AEB-7E4D-C304353932B3}"/>
                  </a:ext>
                </a:extLst>
              </p14:cNvPr>
              <p14:cNvContentPartPr/>
              <p14:nvPr/>
            </p14:nvContentPartPr>
            <p14:xfrm>
              <a:off x="441540" y="341500"/>
              <a:ext cx="3156120" cy="56160"/>
            </p14:xfrm>
          </p:contentPart>
        </mc:Choice>
        <mc:Fallback xmlns="">
          <p:pic>
            <p:nvPicPr>
              <p:cNvPr id="8" name="Ink 7">
                <a:extLst>
                  <a:ext uri="{FF2B5EF4-FFF2-40B4-BE49-F238E27FC236}">
                    <a16:creationId xmlns:a16="http://schemas.microsoft.com/office/drawing/2014/main" id="{A64F96E6-55EB-0AEB-7E4D-C304353932B3}"/>
                  </a:ext>
                </a:extLst>
              </p:cNvPr>
              <p:cNvPicPr/>
              <p:nvPr/>
            </p:nvPicPr>
            <p:blipFill>
              <a:blip r:embed="rId4"/>
              <a:stretch>
                <a:fillRect/>
              </a:stretch>
            </p:blipFill>
            <p:spPr>
              <a:xfrm>
                <a:off x="387900" y="233860"/>
                <a:ext cx="326376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F66EF63D-1910-4605-5B4C-09BEDBE852E2}"/>
                  </a:ext>
                </a:extLst>
              </p14:cNvPr>
              <p14:cNvContentPartPr/>
              <p14:nvPr/>
            </p14:nvContentPartPr>
            <p14:xfrm>
              <a:off x="3658860" y="407740"/>
              <a:ext cx="655560" cy="21960"/>
            </p14:xfrm>
          </p:contentPart>
        </mc:Choice>
        <mc:Fallback xmlns="">
          <p:pic>
            <p:nvPicPr>
              <p:cNvPr id="9" name="Ink 8">
                <a:extLst>
                  <a:ext uri="{FF2B5EF4-FFF2-40B4-BE49-F238E27FC236}">
                    <a16:creationId xmlns:a16="http://schemas.microsoft.com/office/drawing/2014/main" id="{F66EF63D-1910-4605-5B4C-09BEDBE852E2}"/>
                  </a:ext>
                </a:extLst>
              </p:cNvPr>
              <p:cNvPicPr/>
              <p:nvPr/>
            </p:nvPicPr>
            <p:blipFill>
              <a:blip r:embed="rId6"/>
              <a:stretch>
                <a:fillRect/>
              </a:stretch>
            </p:blipFill>
            <p:spPr>
              <a:xfrm>
                <a:off x="3604860" y="299740"/>
                <a:ext cx="763200" cy="237600"/>
              </a:xfrm>
              <a:prstGeom prst="rect">
                <a:avLst/>
              </a:prstGeom>
            </p:spPr>
          </p:pic>
        </mc:Fallback>
      </mc:AlternateContent>
      <p:pic>
        <p:nvPicPr>
          <p:cNvPr id="11" name="Picture 10" descr="A screenshot of a computer&#10;&#10;AI-generated content may be incorrect.">
            <a:extLst>
              <a:ext uri="{FF2B5EF4-FFF2-40B4-BE49-F238E27FC236}">
                <a16:creationId xmlns:a16="http://schemas.microsoft.com/office/drawing/2014/main" id="{CF840A08-F0DC-CDB9-E545-A7BDDC6F7CC1}"/>
              </a:ext>
            </a:extLst>
          </p:cNvPr>
          <p:cNvPicPr>
            <a:picLocks noChangeAspect="1"/>
          </p:cNvPicPr>
          <p:nvPr/>
        </p:nvPicPr>
        <p:blipFill>
          <a:blip r:embed="rId7"/>
          <a:stretch>
            <a:fillRect/>
          </a:stretch>
        </p:blipFill>
        <p:spPr>
          <a:xfrm>
            <a:off x="7901404" y="801112"/>
            <a:ext cx="3733800" cy="3149600"/>
          </a:xfrm>
          <a:prstGeom prst="rect">
            <a:avLst/>
          </a:prstGeom>
        </p:spPr>
      </p:pic>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AC635777-3E73-BB4A-CA0F-24A452C716DB}"/>
                  </a:ext>
                </a:extLst>
              </p14:cNvPr>
              <p14:cNvContentPartPr/>
              <p14:nvPr/>
            </p14:nvContentPartPr>
            <p14:xfrm>
              <a:off x="3091860" y="3378100"/>
              <a:ext cx="458640" cy="27720"/>
            </p14:xfrm>
          </p:contentPart>
        </mc:Choice>
        <mc:Fallback xmlns="">
          <p:pic>
            <p:nvPicPr>
              <p:cNvPr id="12" name="Ink 11">
                <a:extLst>
                  <a:ext uri="{FF2B5EF4-FFF2-40B4-BE49-F238E27FC236}">
                    <a16:creationId xmlns:a16="http://schemas.microsoft.com/office/drawing/2014/main" id="{AC635777-3E73-BB4A-CA0F-24A452C716DB}"/>
                  </a:ext>
                </a:extLst>
              </p:cNvPr>
              <p:cNvPicPr/>
              <p:nvPr/>
            </p:nvPicPr>
            <p:blipFill>
              <a:blip r:embed="rId9"/>
              <a:stretch>
                <a:fillRect/>
              </a:stretch>
            </p:blipFill>
            <p:spPr>
              <a:xfrm>
                <a:off x="3038220" y="3270460"/>
                <a:ext cx="56628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D515B372-B65A-A41D-63EE-1E1A2C1E7EAB}"/>
                  </a:ext>
                </a:extLst>
              </p14:cNvPr>
              <p14:cNvContentPartPr/>
              <p14:nvPr/>
            </p14:nvContentPartPr>
            <p14:xfrm>
              <a:off x="10373940" y="3649180"/>
              <a:ext cx="548640" cy="1800"/>
            </p14:xfrm>
          </p:contentPart>
        </mc:Choice>
        <mc:Fallback xmlns="">
          <p:pic>
            <p:nvPicPr>
              <p:cNvPr id="13" name="Ink 12">
                <a:extLst>
                  <a:ext uri="{FF2B5EF4-FFF2-40B4-BE49-F238E27FC236}">
                    <a16:creationId xmlns:a16="http://schemas.microsoft.com/office/drawing/2014/main" id="{D515B372-B65A-A41D-63EE-1E1A2C1E7EAB}"/>
                  </a:ext>
                </a:extLst>
              </p:cNvPr>
              <p:cNvPicPr/>
              <p:nvPr/>
            </p:nvPicPr>
            <p:blipFill>
              <a:blip r:embed="rId11"/>
              <a:stretch>
                <a:fillRect/>
              </a:stretch>
            </p:blipFill>
            <p:spPr>
              <a:xfrm>
                <a:off x="10319940" y="3541540"/>
                <a:ext cx="656280" cy="217440"/>
              </a:xfrm>
              <a:prstGeom prst="rect">
                <a:avLst/>
              </a:prstGeom>
            </p:spPr>
          </p:pic>
        </mc:Fallback>
      </mc:AlternateContent>
    </p:spTree>
    <p:extLst>
      <p:ext uri="{BB962C8B-B14F-4D97-AF65-F5344CB8AC3E}">
        <p14:creationId xmlns:p14="http://schemas.microsoft.com/office/powerpoint/2010/main" val="21467496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EBF99FE-8FBC-2A52-6EAE-D4A6AD8A606F}"/>
              </a:ext>
            </a:extLst>
          </p:cNvPr>
          <p:cNvSpPr txBox="1"/>
          <p:nvPr/>
        </p:nvSpPr>
        <p:spPr>
          <a:xfrm>
            <a:off x="88901" y="81843"/>
            <a:ext cx="8106706" cy="1569660"/>
          </a:xfrm>
          <a:prstGeom prst="rect">
            <a:avLst/>
          </a:prstGeom>
          <a:noFill/>
        </p:spPr>
        <p:txBody>
          <a:bodyPr wrap="none" rtlCol="0">
            <a:spAutoFit/>
          </a:bodyPr>
          <a:lstStyle/>
          <a:p>
            <a:r>
              <a:rPr lang="en-US" sz="1600" b="1" dirty="0">
                <a:latin typeface="Helvetica" pitchFamily="2" charset="0"/>
              </a:rPr>
              <a:t>Statistical modelling </a:t>
            </a:r>
            <a:r>
              <a:rPr lang="en-US" sz="1600" b="1" dirty="0">
                <a:latin typeface="Helvetica" pitchFamily="2" charset="0"/>
                <a:sym typeface="Wingdings" pitchFamily="2" charset="2"/>
              </a:rPr>
              <a:t> </a:t>
            </a:r>
            <a:r>
              <a:rPr lang="en-US" sz="1600" b="1" dirty="0">
                <a:latin typeface="Helvetica" pitchFamily="2" charset="0"/>
              </a:rPr>
              <a:t>Mature oocytes and baseline factors + protocol decisions</a:t>
            </a:r>
          </a:p>
          <a:p>
            <a:pPr marL="285750" indent="-285750">
              <a:buFont typeface="Arial" panose="020B0604020202020204" pitchFamily="34" charset="0"/>
              <a:buChar char="•"/>
            </a:pPr>
            <a:r>
              <a:rPr lang="en-US" sz="1600" dirty="0">
                <a:latin typeface="Helvetica" pitchFamily="2" charset="0"/>
              </a:rPr>
              <a:t>Age</a:t>
            </a:r>
          </a:p>
          <a:p>
            <a:pPr marL="285750" indent="-285750">
              <a:buFont typeface="Arial" panose="020B0604020202020204" pitchFamily="34" charset="0"/>
              <a:buChar char="•"/>
            </a:pPr>
            <a:r>
              <a:rPr lang="en-US" sz="1600" dirty="0">
                <a:latin typeface="Helvetica" pitchFamily="2" charset="0"/>
              </a:rPr>
              <a:t>Baseline AMH </a:t>
            </a:r>
          </a:p>
          <a:p>
            <a:pPr marL="285750" indent="-285750">
              <a:buFont typeface="Arial" panose="020B0604020202020204" pitchFamily="34" charset="0"/>
              <a:buChar char="•"/>
            </a:pPr>
            <a:r>
              <a:rPr lang="en-US" sz="1600" dirty="0">
                <a:latin typeface="Helvetica" pitchFamily="2" charset="0"/>
              </a:rPr>
              <a:t>Total stim dose</a:t>
            </a:r>
          </a:p>
          <a:p>
            <a:pPr marL="285750" indent="-285750">
              <a:buFont typeface="Arial" panose="020B0604020202020204" pitchFamily="34" charset="0"/>
              <a:buChar char="•"/>
            </a:pPr>
            <a:r>
              <a:rPr lang="en-US" sz="1600" dirty="0">
                <a:latin typeface="Helvetica" pitchFamily="2" charset="0"/>
              </a:rPr>
              <a:t>Aetiology </a:t>
            </a:r>
          </a:p>
          <a:p>
            <a:pPr marL="285750" indent="-285750">
              <a:buFont typeface="Arial" panose="020B0604020202020204" pitchFamily="34" charset="0"/>
              <a:buChar char="•"/>
            </a:pPr>
            <a:r>
              <a:rPr lang="en-US" sz="1600" dirty="0">
                <a:latin typeface="Helvetica" pitchFamily="2" charset="0"/>
              </a:rPr>
              <a:t>AMH x Stim dose interaction</a:t>
            </a:r>
          </a:p>
        </p:txBody>
      </p:sp>
      <p:sp>
        <p:nvSpPr>
          <p:cNvPr id="5" name="TextBox 4">
            <a:extLst>
              <a:ext uri="{FF2B5EF4-FFF2-40B4-BE49-F238E27FC236}">
                <a16:creationId xmlns:a16="http://schemas.microsoft.com/office/drawing/2014/main" id="{10BAE1C0-1BFC-3EA8-FDA3-548B755CB9C4}"/>
              </a:ext>
            </a:extLst>
          </p:cNvPr>
          <p:cNvSpPr txBox="1"/>
          <p:nvPr/>
        </p:nvSpPr>
        <p:spPr>
          <a:xfrm>
            <a:off x="88901" y="2101494"/>
            <a:ext cx="6184900" cy="3539430"/>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Helvetica" pitchFamily="2" charset="0"/>
              </a:rPr>
              <a:t>AMH x Stim dose interaction is significant (p=0.012)</a:t>
            </a:r>
          </a:p>
          <a:p>
            <a:pPr marL="285750" indent="-285750">
              <a:buFont typeface="Arial" panose="020B0604020202020204" pitchFamily="34" charset="0"/>
              <a:buChar char="•"/>
            </a:pPr>
            <a:r>
              <a:rPr lang="en-US" sz="1600" dirty="0">
                <a:latin typeface="Helvetica" pitchFamily="2" charset="0"/>
              </a:rPr>
              <a:t>Alone AMH </a:t>
            </a:r>
            <a:r>
              <a:rPr lang="en-US" sz="1600" dirty="0">
                <a:latin typeface="Helvetica" pitchFamily="2" charset="0"/>
                <a:sym typeface="Wingdings" pitchFamily="2" charset="2"/>
              </a:rPr>
              <a:t> not significant</a:t>
            </a:r>
          </a:p>
          <a:p>
            <a:pPr marL="285750" indent="-285750">
              <a:buFont typeface="Arial" panose="020B0604020202020204" pitchFamily="34" charset="0"/>
              <a:buChar char="•"/>
            </a:pPr>
            <a:r>
              <a:rPr lang="en-US" sz="1600" dirty="0">
                <a:latin typeface="Helvetica" pitchFamily="2" charset="0"/>
                <a:sym typeface="Wingdings" pitchFamily="2" charset="2"/>
              </a:rPr>
              <a:t>Alone Stim dose  not significant </a:t>
            </a:r>
          </a:p>
          <a:p>
            <a:pPr marL="285750" indent="-285750">
              <a:buFont typeface="Arial" panose="020B0604020202020204" pitchFamily="34" charset="0"/>
              <a:buChar char="•"/>
            </a:pPr>
            <a:r>
              <a:rPr lang="en-US" sz="1600" dirty="0">
                <a:latin typeface="Helvetica" pitchFamily="2" charset="0"/>
                <a:sym typeface="Wingdings" pitchFamily="2" charset="2"/>
              </a:rPr>
              <a:t>Age independent predictor of mature eggs when controlling for other factors</a:t>
            </a:r>
          </a:p>
          <a:p>
            <a:endParaRPr lang="en-US" sz="1600" dirty="0">
              <a:latin typeface="Helvetica" pitchFamily="2" charset="0"/>
              <a:sym typeface="Wingdings" pitchFamily="2" charset="2"/>
            </a:endParaRPr>
          </a:p>
          <a:p>
            <a:r>
              <a:rPr lang="en-US" sz="1600" dirty="0">
                <a:latin typeface="Helvetica" pitchFamily="2" charset="0"/>
                <a:sym typeface="Wingdings" pitchFamily="2" charset="2"/>
              </a:rPr>
              <a:t>Relationship between stimulation dose and oocyte yield is modified by baseline AMH and vice versa?</a:t>
            </a:r>
          </a:p>
          <a:p>
            <a:pPr marL="285750" indent="-285750">
              <a:buFont typeface="Arial" panose="020B0604020202020204" pitchFamily="34" charset="0"/>
              <a:buChar char="•"/>
            </a:pPr>
            <a:r>
              <a:rPr lang="en-US" sz="1600" dirty="0">
                <a:latin typeface="Helvetica" pitchFamily="2" charset="0"/>
                <a:sym typeface="Wingdings" pitchFamily="2" charset="2"/>
              </a:rPr>
              <a:t>AMH is driving treatment decisions (previous model)</a:t>
            </a:r>
          </a:p>
          <a:p>
            <a:pPr marL="285750" indent="-285750">
              <a:buFont typeface="Arial" panose="020B0604020202020204" pitchFamily="34" charset="0"/>
              <a:buChar char="•"/>
            </a:pPr>
            <a:r>
              <a:rPr lang="en-US" sz="1600" dirty="0">
                <a:latin typeface="Helvetica" pitchFamily="2" charset="0"/>
                <a:sym typeface="Wingdings" pitchFamily="2" charset="2"/>
              </a:rPr>
              <a:t>AMH is modifying the effect of treatment on mature oocytes</a:t>
            </a:r>
          </a:p>
          <a:p>
            <a:pPr marL="285750" indent="-285750">
              <a:buFont typeface="Arial" panose="020B0604020202020204" pitchFamily="34" charset="0"/>
              <a:buChar char="•"/>
            </a:pPr>
            <a:r>
              <a:rPr lang="en-US" sz="1600" dirty="0">
                <a:latin typeface="Helvetica" pitchFamily="2" charset="0"/>
                <a:sym typeface="Wingdings" pitchFamily="2" charset="2"/>
              </a:rPr>
              <a:t>However, the AMH trend is negative: higher dose  fewer eggs</a:t>
            </a:r>
            <a:r>
              <a:rPr lang="en-US" sz="1600" dirty="0">
                <a:latin typeface="Helvetica" pitchFamily="2" charset="0"/>
              </a:rPr>
              <a:t> </a:t>
            </a:r>
          </a:p>
          <a:p>
            <a:pPr marL="285750" indent="-285750">
              <a:buFont typeface="Arial" panose="020B0604020202020204" pitchFamily="34" charset="0"/>
              <a:buChar char="•"/>
            </a:pPr>
            <a:r>
              <a:rPr lang="en-US" sz="1600" dirty="0">
                <a:latin typeface="Helvetica" pitchFamily="2" charset="0"/>
              </a:rPr>
              <a:t>This is likely reflecting those that respond poorly? Have low baseline characters, are given higher doses but do not produce many eggs</a:t>
            </a:r>
          </a:p>
        </p:txBody>
      </p:sp>
      <p:pic>
        <p:nvPicPr>
          <p:cNvPr id="6" name="Picture 5" descr="A screenshot of a computer code&#10;&#10;AI-generated content may be incorrect.">
            <a:extLst>
              <a:ext uri="{FF2B5EF4-FFF2-40B4-BE49-F238E27FC236}">
                <a16:creationId xmlns:a16="http://schemas.microsoft.com/office/drawing/2014/main" id="{C6AE0044-B0F4-A7F1-9F7F-3635B2309A46}"/>
              </a:ext>
            </a:extLst>
          </p:cNvPr>
          <p:cNvPicPr>
            <a:picLocks noChangeAspect="1"/>
          </p:cNvPicPr>
          <p:nvPr/>
        </p:nvPicPr>
        <p:blipFill>
          <a:blip r:embed="rId3"/>
          <a:stretch>
            <a:fillRect/>
          </a:stretch>
        </p:blipFill>
        <p:spPr>
          <a:xfrm>
            <a:off x="6777618" y="866673"/>
            <a:ext cx="4309778" cy="4279745"/>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F4ECBD59-E26D-6F8D-4EE5-CF340A483DC9}"/>
                  </a:ext>
                </a:extLst>
              </p14:cNvPr>
              <p14:cNvContentPartPr/>
              <p14:nvPr/>
            </p14:nvContentPartPr>
            <p14:xfrm>
              <a:off x="6813540" y="1049980"/>
              <a:ext cx="3404880" cy="201600"/>
            </p14:xfrm>
          </p:contentPart>
        </mc:Choice>
        <mc:Fallback xmlns="">
          <p:pic>
            <p:nvPicPr>
              <p:cNvPr id="8" name="Ink 7">
                <a:extLst>
                  <a:ext uri="{FF2B5EF4-FFF2-40B4-BE49-F238E27FC236}">
                    <a16:creationId xmlns:a16="http://schemas.microsoft.com/office/drawing/2014/main" id="{F4ECBD59-E26D-6F8D-4EE5-CF340A483DC9}"/>
                  </a:ext>
                </a:extLst>
              </p:cNvPr>
              <p:cNvPicPr/>
              <p:nvPr/>
            </p:nvPicPr>
            <p:blipFill>
              <a:blip r:embed="rId5"/>
              <a:stretch>
                <a:fillRect/>
              </a:stretch>
            </p:blipFill>
            <p:spPr>
              <a:xfrm>
                <a:off x="6759900" y="941980"/>
                <a:ext cx="3512520" cy="417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FE21FE56-500F-F150-264C-816DB25C731A}"/>
                  </a:ext>
                </a:extLst>
              </p14:cNvPr>
              <p14:cNvContentPartPr/>
              <p14:nvPr/>
            </p14:nvContentPartPr>
            <p14:xfrm>
              <a:off x="7071660" y="4039780"/>
              <a:ext cx="294120" cy="14400"/>
            </p14:xfrm>
          </p:contentPart>
        </mc:Choice>
        <mc:Fallback xmlns="">
          <p:pic>
            <p:nvPicPr>
              <p:cNvPr id="9" name="Ink 8">
                <a:extLst>
                  <a:ext uri="{FF2B5EF4-FFF2-40B4-BE49-F238E27FC236}">
                    <a16:creationId xmlns:a16="http://schemas.microsoft.com/office/drawing/2014/main" id="{FE21FE56-500F-F150-264C-816DB25C731A}"/>
                  </a:ext>
                </a:extLst>
              </p:cNvPr>
              <p:cNvPicPr/>
              <p:nvPr/>
            </p:nvPicPr>
            <p:blipFill>
              <a:blip r:embed="rId7"/>
              <a:stretch>
                <a:fillRect/>
              </a:stretch>
            </p:blipFill>
            <p:spPr>
              <a:xfrm>
                <a:off x="7017660" y="3932140"/>
                <a:ext cx="401760" cy="230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59EBEA69-CAD4-CD02-3B24-0E0418344F22}"/>
                  </a:ext>
                </a:extLst>
              </p14:cNvPr>
              <p14:cNvContentPartPr/>
              <p14:nvPr/>
            </p14:nvContentPartPr>
            <p14:xfrm>
              <a:off x="10276020" y="2811460"/>
              <a:ext cx="651600" cy="43200"/>
            </p14:xfrm>
          </p:contentPart>
        </mc:Choice>
        <mc:Fallback xmlns="">
          <p:pic>
            <p:nvPicPr>
              <p:cNvPr id="10" name="Ink 9">
                <a:extLst>
                  <a:ext uri="{FF2B5EF4-FFF2-40B4-BE49-F238E27FC236}">
                    <a16:creationId xmlns:a16="http://schemas.microsoft.com/office/drawing/2014/main" id="{59EBEA69-CAD4-CD02-3B24-0E0418344F22}"/>
                  </a:ext>
                </a:extLst>
              </p:cNvPr>
              <p:cNvPicPr/>
              <p:nvPr/>
            </p:nvPicPr>
            <p:blipFill>
              <a:blip r:embed="rId9"/>
              <a:stretch>
                <a:fillRect/>
              </a:stretch>
            </p:blipFill>
            <p:spPr>
              <a:xfrm>
                <a:off x="10222020" y="2703820"/>
                <a:ext cx="759240" cy="258840"/>
              </a:xfrm>
              <a:prstGeom prst="rect">
                <a:avLst/>
              </a:prstGeom>
            </p:spPr>
          </p:pic>
        </mc:Fallback>
      </mc:AlternateContent>
    </p:spTree>
    <p:extLst>
      <p:ext uri="{BB962C8B-B14F-4D97-AF65-F5344CB8AC3E}">
        <p14:creationId xmlns:p14="http://schemas.microsoft.com/office/powerpoint/2010/main" val="26935101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aph of a number of red blue and green dots&#10;&#10;AI-generated content may be incorrect.">
            <a:extLst>
              <a:ext uri="{FF2B5EF4-FFF2-40B4-BE49-F238E27FC236}">
                <a16:creationId xmlns:a16="http://schemas.microsoft.com/office/drawing/2014/main" id="{CFA87D1A-BEA4-C68A-F414-669E976FD449}"/>
              </a:ext>
            </a:extLst>
          </p:cNvPr>
          <p:cNvPicPr>
            <a:picLocks noChangeAspect="1"/>
          </p:cNvPicPr>
          <p:nvPr/>
        </p:nvPicPr>
        <p:blipFill>
          <a:blip r:embed="rId3"/>
          <a:stretch>
            <a:fillRect/>
          </a:stretch>
        </p:blipFill>
        <p:spPr>
          <a:xfrm>
            <a:off x="533103" y="716433"/>
            <a:ext cx="8340695" cy="5125567"/>
          </a:xfrm>
          <a:prstGeom prst="rect">
            <a:avLst/>
          </a:prstGeom>
        </p:spPr>
      </p:pic>
    </p:spTree>
    <p:extLst>
      <p:ext uri="{BB962C8B-B14F-4D97-AF65-F5344CB8AC3E}">
        <p14:creationId xmlns:p14="http://schemas.microsoft.com/office/powerpoint/2010/main" val="18598464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5CC582F-621A-6980-DC59-F853ADC8D37F}"/>
              </a:ext>
            </a:extLst>
          </p:cNvPr>
          <p:cNvSpPr txBox="1"/>
          <p:nvPr/>
        </p:nvSpPr>
        <p:spPr>
          <a:xfrm>
            <a:off x="381000" y="304800"/>
            <a:ext cx="11430000" cy="5078313"/>
          </a:xfrm>
          <a:prstGeom prst="rect">
            <a:avLst/>
          </a:prstGeom>
          <a:noFill/>
        </p:spPr>
        <p:txBody>
          <a:bodyPr wrap="square" rtlCol="0">
            <a:spAutoFit/>
          </a:bodyPr>
          <a:lstStyle/>
          <a:p>
            <a:r>
              <a:rPr lang="en-US" b="1" dirty="0">
                <a:latin typeface="Helvetica" pitchFamily="2" charset="0"/>
              </a:rPr>
              <a:t>1. Compare characteristics and treatment strategies between older and younger women</a:t>
            </a:r>
          </a:p>
          <a:p>
            <a:pPr marL="285750" indent="-285750">
              <a:buFont typeface="Arial" panose="020B0604020202020204" pitchFamily="34" charset="0"/>
              <a:buChar char="•"/>
            </a:pPr>
            <a:r>
              <a:rPr lang="en-US" dirty="0">
                <a:latin typeface="Helvetica" pitchFamily="2" charset="0"/>
              </a:rPr>
              <a:t>Do older women receive different stimulation strategies from younger women?</a:t>
            </a:r>
          </a:p>
          <a:p>
            <a:pPr marL="285750" indent="-285750">
              <a:buFont typeface="Arial" panose="020B0604020202020204" pitchFamily="34" charset="0"/>
              <a:buChar char="•"/>
            </a:pPr>
            <a:r>
              <a:rPr lang="en-US" dirty="0">
                <a:latin typeface="Helvetica" pitchFamily="2" charset="0"/>
              </a:rPr>
              <a:t>Compare older vs. younger women (define age groups)</a:t>
            </a:r>
          </a:p>
          <a:p>
            <a:pPr marL="285750" indent="-285750">
              <a:buFont typeface="Arial" panose="020B0604020202020204" pitchFamily="34" charset="0"/>
              <a:buChar char="•"/>
            </a:pPr>
            <a:r>
              <a:rPr lang="en-US" dirty="0">
                <a:latin typeface="Helvetica" pitchFamily="2" charset="0"/>
              </a:rPr>
              <a:t>Descriptive characteristics, boxplots, stats tests of protocols, doses</a:t>
            </a:r>
          </a:p>
          <a:p>
            <a:pPr marL="285750" indent="-285750">
              <a:buFont typeface="Arial" panose="020B0604020202020204" pitchFamily="34" charset="0"/>
              <a:buChar char="•"/>
            </a:pPr>
            <a:endParaRPr lang="en-US" dirty="0">
              <a:latin typeface="Helvetica" pitchFamily="2" charset="0"/>
            </a:endParaRPr>
          </a:p>
          <a:p>
            <a:r>
              <a:rPr lang="en-US" b="1" dirty="0">
                <a:latin typeface="Helvetica" pitchFamily="2" charset="0"/>
              </a:rPr>
              <a:t>2. Identify factors associated with optimal mature oocyte yield across all women. Then explore only ageing women.</a:t>
            </a:r>
          </a:p>
          <a:p>
            <a:pPr marL="285750" indent="-285750">
              <a:buFont typeface="Arial" panose="020B0604020202020204" pitchFamily="34" charset="0"/>
              <a:buChar char="•"/>
            </a:pPr>
            <a:r>
              <a:rPr lang="en-US" dirty="0">
                <a:latin typeface="Helvetica" pitchFamily="2" charset="0"/>
              </a:rPr>
              <a:t>What protocol decisions are seen in better responders?</a:t>
            </a:r>
          </a:p>
          <a:p>
            <a:pPr marL="285750" indent="-285750">
              <a:buFont typeface="Arial" panose="020B0604020202020204" pitchFamily="34" charset="0"/>
              <a:buChar char="•"/>
            </a:pPr>
            <a:r>
              <a:rPr lang="en-US" dirty="0">
                <a:latin typeface="Helvetica" pitchFamily="2" charset="0"/>
              </a:rPr>
              <a:t>Need a success definition = threshold of mature oocytes = ‘optimum’</a:t>
            </a:r>
          </a:p>
          <a:p>
            <a:pPr marL="285750" indent="-285750">
              <a:buFont typeface="Arial" panose="020B0604020202020204" pitchFamily="34" charset="0"/>
              <a:buChar char="•"/>
            </a:pPr>
            <a:r>
              <a:rPr lang="en-US" dirty="0">
                <a:latin typeface="Helvetica" pitchFamily="2" charset="0"/>
              </a:rPr>
              <a:t>Compare characteristics of ‘optimum’ responders vs. ‘non-optimum responders’ across whole dataset</a:t>
            </a:r>
          </a:p>
          <a:p>
            <a:pPr marL="285750" indent="-285750">
              <a:buFont typeface="Arial" panose="020B0604020202020204" pitchFamily="34" charset="0"/>
              <a:buChar char="•"/>
            </a:pPr>
            <a:endParaRPr lang="en-US" dirty="0">
              <a:latin typeface="Helvetica" pitchFamily="2" charset="0"/>
            </a:endParaRPr>
          </a:p>
          <a:p>
            <a:pPr marL="285750" indent="-285750">
              <a:buFont typeface="Arial" panose="020B0604020202020204" pitchFamily="34" charset="0"/>
              <a:buChar char="•"/>
            </a:pPr>
            <a:r>
              <a:rPr lang="en-US" dirty="0">
                <a:latin typeface="Helvetica" pitchFamily="2" charset="0"/>
              </a:rPr>
              <a:t>Among older women, are some protocol patterns/characteristics associated with better mature oocyte yield? Optimum vs. non optimum responders</a:t>
            </a:r>
          </a:p>
          <a:p>
            <a:pPr marL="742950" lvl="1" indent="-285750">
              <a:buFont typeface="Arial" panose="020B0604020202020204" pitchFamily="34" charset="0"/>
              <a:buChar char="•"/>
            </a:pPr>
            <a:r>
              <a:rPr lang="en-US" dirty="0">
                <a:latin typeface="Helvetica" pitchFamily="2" charset="0"/>
                <a:sym typeface="Wingdings" pitchFamily="2" charset="2"/>
              </a:rPr>
              <a:t>Protocol type, doses, FSH vs. </a:t>
            </a:r>
            <a:r>
              <a:rPr lang="en-US" dirty="0" err="1">
                <a:latin typeface="Helvetica" pitchFamily="2" charset="0"/>
                <a:sym typeface="Wingdings" pitchFamily="2" charset="2"/>
              </a:rPr>
              <a:t>hMG</a:t>
            </a:r>
            <a:r>
              <a:rPr lang="en-US" dirty="0">
                <a:latin typeface="Helvetica" pitchFamily="2" charset="0"/>
                <a:sym typeface="Wingdings" pitchFamily="2" charset="2"/>
              </a:rPr>
              <a:t> use, baselines etc.</a:t>
            </a:r>
          </a:p>
          <a:p>
            <a:pPr marL="742950" lvl="1" indent="-285750">
              <a:buFont typeface="Arial" panose="020B0604020202020204" pitchFamily="34" charset="0"/>
              <a:buChar char="•"/>
            </a:pPr>
            <a:r>
              <a:rPr lang="en-US" dirty="0">
                <a:latin typeface="Helvetica" pitchFamily="2" charset="0"/>
                <a:sym typeface="Wingdings" pitchFamily="2" charset="2"/>
              </a:rPr>
              <a:t>Do higher doses benefit a subgroup?</a:t>
            </a:r>
          </a:p>
          <a:p>
            <a:endParaRPr lang="en-US" dirty="0">
              <a:latin typeface="Helvetica" pitchFamily="2" charset="0"/>
              <a:sym typeface="Wingdings" pitchFamily="2" charset="2"/>
            </a:endParaRPr>
          </a:p>
          <a:p>
            <a:r>
              <a:rPr lang="en-US" dirty="0">
                <a:latin typeface="Helvetica" pitchFamily="2" charset="0"/>
                <a:sym typeface="Wingdings" pitchFamily="2" charset="2"/>
              </a:rPr>
              <a:t>3. Assessing whether protocol-outcome relationships vary by ovarian reserve with older women?</a:t>
            </a:r>
          </a:p>
          <a:p>
            <a:pPr marL="285750" indent="-285750">
              <a:buFont typeface="Arial" panose="020B0604020202020204" pitchFamily="34" charset="0"/>
              <a:buChar char="•"/>
            </a:pPr>
            <a:r>
              <a:rPr lang="en-US" dirty="0">
                <a:latin typeface="Helvetica" pitchFamily="2" charset="0"/>
                <a:sym typeface="Wingdings" pitchFamily="2" charset="2"/>
              </a:rPr>
              <a:t>Interactions</a:t>
            </a:r>
          </a:p>
        </p:txBody>
      </p:sp>
    </p:spTree>
    <p:extLst>
      <p:ext uri="{BB962C8B-B14F-4D97-AF65-F5344CB8AC3E}">
        <p14:creationId xmlns:p14="http://schemas.microsoft.com/office/powerpoint/2010/main" val="39321709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table of numbers and numbers&#10;&#10;AI-generated content may be incorrect.">
            <a:extLst>
              <a:ext uri="{FF2B5EF4-FFF2-40B4-BE49-F238E27FC236}">
                <a16:creationId xmlns:a16="http://schemas.microsoft.com/office/drawing/2014/main" id="{D564AE80-374E-4803-59F0-F3E1ACEAF05C}"/>
              </a:ext>
            </a:extLst>
          </p:cNvPr>
          <p:cNvPicPr>
            <a:picLocks noChangeAspect="1"/>
          </p:cNvPicPr>
          <p:nvPr/>
        </p:nvPicPr>
        <p:blipFill>
          <a:blip r:embed="rId3"/>
          <a:stretch>
            <a:fillRect/>
          </a:stretch>
        </p:blipFill>
        <p:spPr>
          <a:xfrm>
            <a:off x="0" y="76200"/>
            <a:ext cx="4138448" cy="6858000"/>
          </a:xfrm>
          <a:prstGeom prst="rect">
            <a:avLst/>
          </a:prstGeom>
        </p:spPr>
      </p:pic>
      <p:sp>
        <p:nvSpPr>
          <p:cNvPr id="16" name="TextBox 15">
            <a:extLst>
              <a:ext uri="{FF2B5EF4-FFF2-40B4-BE49-F238E27FC236}">
                <a16:creationId xmlns:a16="http://schemas.microsoft.com/office/drawing/2014/main" id="{B451CABB-4ED2-F638-323D-30DB0958DE06}"/>
              </a:ext>
            </a:extLst>
          </p:cNvPr>
          <p:cNvSpPr txBox="1"/>
          <p:nvPr/>
        </p:nvSpPr>
        <p:spPr>
          <a:xfrm>
            <a:off x="4921708" y="381000"/>
            <a:ext cx="6978192" cy="5078313"/>
          </a:xfrm>
          <a:prstGeom prst="rect">
            <a:avLst/>
          </a:prstGeom>
          <a:noFill/>
        </p:spPr>
        <p:txBody>
          <a:bodyPr wrap="none" rtlCol="0">
            <a:spAutoFit/>
          </a:bodyPr>
          <a:lstStyle/>
          <a:p>
            <a:r>
              <a:rPr lang="en-US" sz="1700" dirty="0">
                <a:latin typeface="Helvetica" pitchFamily="2" charset="0"/>
              </a:rPr>
              <a:t>Mann-Whitney U Tests for variables between 2 age groups</a:t>
            </a:r>
          </a:p>
          <a:p>
            <a:endParaRPr lang="en-US" sz="1700" dirty="0">
              <a:latin typeface="Helvetica" pitchFamily="2" charset="0"/>
            </a:endParaRPr>
          </a:p>
          <a:p>
            <a:r>
              <a:rPr lang="en-US" sz="1700" b="1" u="sng" dirty="0">
                <a:latin typeface="Helvetica" pitchFamily="2" charset="0"/>
              </a:rPr>
              <a:t>Baseline, patient info</a:t>
            </a:r>
          </a:p>
          <a:p>
            <a:pPr marL="285750" indent="-285750">
              <a:buFont typeface="Arial" panose="020B0604020202020204" pitchFamily="34" charset="0"/>
              <a:buChar char="•"/>
            </a:pPr>
            <a:r>
              <a:rPr lang="en-US" sz="1700" dirty="0">
                <a:latin typeface="Helvetica" pitchFamily="2" charset="0"/>
              </a:rPr>
              <a:t>Difference in baseline AMH (W=642.5, p=0.001)</a:t>
            </a:r>
          </a:p>
          <a:p>
            <a:pPr marL="285750" indent="-285750">
              <a:buFont typeface="Arial" panose="020B0604020202020204" pitchFamily="34" charset="0"/>
              <a:buChar char="•"/>
            </a:pPr>
            <a:r>
              <a:rPr lang="en-US" sz="1700" dirty="0">
                <a:latin typeface="Helvetica" pitchFamily="2" charset="0"/>
              </a:rPr>
              <a:t>Difference in baseline total follicles (W=894, p=0.00016)</a:t>
            </a:r>
          </a:p>
          <a:p>
            <a:pPr marL="285750" indent="-285750">
              <a:buFont typeface="Arial" panose="020B0604020202020204" pitchFamily="34" charset="0"/>
              <a:buChar char="•"/>
            </a:pPr>
            <a:r>
              <a:rPr lang="en-US" sz="1700" dirty="0">
                <a:latin typeface="Helvetica" pitchFamily="2" charset="0"/>
              </a:rPr>
              <a:t>No difference in baseline endo, BMI</a:t>
            </a:r>
          </a:p>
          <a:p>
            <a:pPr marL="285750" indent="-285750">
              <a:buFont typeface="Arial" panose="020B0604020202020204" pitchFamily="34" charset="0"/>
              <a:buChar char="•"/>
            </a:pPr>
            <a:endParaRPr lang="en-US" sz="1700" dirty="0">
              <a:latin typeface="Helvetica" pitchFamily="2" charset="0"/>
            </a:endParaRPr>
          </a:p>
          <a:p>
            <a:r>
              <a:rPr lang="en-US" sz="1700" b="1" u="sng" dirty="0">
                <a:latin typeface="Helvetica" pitchFamily="2" charset="0"/>
              </a:rPr>
              <a:t>Protocol Choices</a:t>
            </a:r>
          </a:p>
          <a:p>
            <a:pPr marL="285750" indent="-285750">
              <a:buFont typeface="Arial" panose="020B0604020202020204" pitchFamily="34" charset="0"/>
              <a:buChar char="•"/>
            </a:pPr>
            <a:r>
              <a:rPr lang="en-US" sz="1700" dirty="0">
                <a:latin typeface="Helvetica" pitchFamily="2" charset="0"/>
              </a:rPr>
              <a:t>Difference in total stimulation dose (W=499, p=0.0161</a:t>
            </a:r>
          </a:p>
          <a:p>
            <a:pPr marL="285750" indent="-285750">
              <a:buFont typeface="Arial" panose="020B0604020202020204" pitchFamily="34" charset="0"/>
              <a:buChar char="•"/>
            </a:pPr>
            <a:r>
              <a:rPr lang="en-US" sz="1700" dirty="0">
                <a:latin typeface="Helvetica" pitchFamily="2" charset="0"/>
              </a:rPr>
              <a:t>Difference in total </a:t>
            </a:r>
            <a:r>
              <a:rPr lang="en-US" sz="1700" dirty="0" err="1">
                <a:latin typeface="Helvetica" pitchFamily="2" charset="0"/>
              </a:rPr>
              <a:t>hMG</a:t>
            </a:r>
            <a:r>
              <a:rPr lang="en-US" sz="1700" dirty="0">
                <a:latin typeface="Helvetica" pitchFamily="2" charset="0"/>
              </a:rPr>
              <a:t> dose (W=561.6, p=0.0394)</a:t>
            </a:r>
          </a:p>
          <a:p>
            <a:r>
              <a:rPr lang="en-US" sz="1700" dirty="0">
                <a:latin typeface="Helvetica" pitchFamily="2" charset="0"/>
              </a:rPr>
              <a:t>No difference between total FSH dose</a:t>
            </a:r>
          </a:p>
          <a:p>
            <a:endParaRPr lang="en-US" sz="1700" dirty="0">
              <a:latin typeface="Helvetica" pitchFamily="2" charset="0"/>
            </a:endParaRPr>
          </a:p>
          <a:p>
            <a:r>
              <a:rPr lang="en-US" sz="1700" b="1" u="sng" dirty="0">
                <a:latin typeface="Helvetica" pitchFamily="2" charset="0"/>
              </a:rPr>
              <a:t>Final measures</a:t>
            </a:r>
          </a:p>
          <a:p>
            <a:pPr marL="285750" indent="-285750">
              <a:buFont typeface="Arial" panose="020B0604020202020204" pitchFamily="34" charset="0"/>
              <a:buChar char="•"/>
            </a:pPr>
            <a:r>
              <a:rPr lang="en-US" sz="1700" dirty="0">
                <a:latin typeface="Helvetica" pitchFamily="2" charset="0"/>
              </a:rPr>
              <a:t>Difference in final total follicles (W=964.5, p=0.00239)</a:t>
            </a:r>
          </a:p>
          <a:p>
            <a:pPr marL="285750" indent="-285750">
              <a:buFont typeface="Arial" panose="020B0604020202020204" pitchFamily="34" charset="0"/>
              <a:buChar char="•"/>
            </a:pPr>
            <a:r>
              <a:rPr lang="en-US" sz="1700" dirty="0">
                <a:latin typeface="Helvetica" pitchFamily="2" charset="0"/>
              </a:rPr>
              <a:t>Difference in final follicles &lt;11.9 (W=950, p=0.005732)</a:t>
            </a:r>
          </a:p>
          <a:p>
            <a:pPr marL="285750" indent="-285750">
              <a:buFont typeface="Arial" panose="020B0604020202020204" pitchFamily="34" charset="0"/>
              <a:buChar char="•"/>
            </a:pPr>
            <a:r>
              <a:rPr lang="en-US" sz="1700" dirty="0">
                <a:latin typeface="Helvetica" pitchFamily="2" charset="0"/>
              </a:rPr>
              <a:t>Difference in number of eggs (W=998.5, p=0.007713)</a:t>
            </a:r>
          </a:p>
          <a:p>
            <a:pPr marL="285750" indent="-285750">
              <a:buFont typeface="Arial" panose="020B0604020202020204" pitchFamily="34" charset="0"/>
              <a:buChar char="•"/>
            </a:pPr>
            <a:r>
              <a:rPr lang="en-US" sz="1700" b="1" dirty="0">
                <a:latin typeface="Helvetica" pitchFamily="2" charset="0"/>
              </a:rPr>
              <a:t>Difference in number of mature oocytes (W=1040.5, p=0.00199)</a:t>
            </a:r>
          </a:p>
          <a:p>
            <a:pPr marL="285750" indent="-285750">
              <a:buFont typeface="Arial" panose="020B0604020202020204" pitchFamily="34" charset="0"/>
              <a:buChar char="•"/>
            </a:pPr>
            <a:r>
              <a:rPr lang="en-US" sz="1700" dirty="0">
                <a:latin typeface="Helvetica" pitchFamily="2" charset="0"/>
              </a:rPr>
              <a:t>Difference in number of fertilized eggs (W=944, p=0.01156)</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0244942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of blue rectangular objects&#10;&#10;AI-generated content may be incorrect.">
            <a:extLst>
              <a:ext uri="{FF2B5EF4-FFF2-40B4-BE49-F238E27FC236}">
                <a16:creationId xmlns:a16="http://schemas.microsoft.com/office/drawing/2014/main" id="{295CBB55-329B-C752-D08C-D9320432F43F}"/>
              </a:ext>
            </a:extLst>
          </p:cNvPr>
          <p:cNvPicPr>
            <a:picLocks noChangeAspect="1"/>
          </p:cNvPicPr>
          <p:nvPr/>
        </p:nvPicPr>
        <p:blipFill>
          <a:blip r:embed="rId2"/>
          <a:stretch>
            <a:fillRect/>
          </a:stretch>
        </p:blipFill>
        <p:spPr>
          <a:xfrm>
            <a:off x="171064" y="1968500"/>
            <a:ext cx="6305936" cy="3967676"/>
          </a:xfrm>
          <a:prstGeom prst="rect">
            <a:avLst/>
          </a:prstGeom>
        </p:spPr>
      </p:pic>
      <p:pic>
        <p:nvPicPr>
          <p:cNvPr id="8" name="Picture 7" descr="A table with text on it&#10;&#10;AI-generated content may be incorrect.">
            <a:extLst>
              <a:ext uri="{FF2B5EF4-FFF2-40B4-BE49-F238E27FC236}">
                <a16:creationId xmlns:a16="http://schemas.microsoft.com/office/drawing/2014/main" id="{941591FD-F3DE-86E2-F6AB-36F971CC86E1}"/>
              </a:ext>
            </a:extLst>
          </p:cNvPr>
          <p:cNvPicPr>
            <a:picLocks noChangeAspect="1"/>
          </p:cNvPicPr>
          <p:nvPr/>
        </p:nvPicPr>
        <p:blipFill>
          <a:blip r:embed="rId3"/>
          <a:stretch>
            <a:fillRect/>
          </a:stretch>
        </p:blipFill>
        <p:spPr>
          <a:xfrm>
            <a:off x="685800" y="190500"/>
            <a:ext cx="5410200" cy="1422400"/>
          </a:xfrm>
          <a:prstGeom prst="rect">
            <a:avLst/>
          </a:prstGeom>
        </p:spPr>
      </p:pic>
      <p:pic>
        <p:nvPicPr>
          <p:cNvPr id="9" name="Picture 8" descr="A graph with green and orange dots&#10;&#10;AI-generated content may be incorrect.">
            <a:extLst>
              <a:ext uri="{FF2B5EF4-FFF2-40B4-BE49-F238E27FC236}">
                <a16:creationId xmlns:a16="http://schemas.microsoft.com/office/drawing/2014/main" id="{F878A97F-9E41-DDC8-17B2-4FBAE7274728}"/>
              </a:ext>
            </a:extLst>
          </p:cNvPr>
          <p:cNvPicPr>
            <a:picLocks noChangeAspect="1"/>
          </p:cNvPicPr>
          <p:nvPr/>
        </p:nvPicPr>
        <p:blipFill>
          <a:blip r:embed="rId4"/>
          <a:stretch>
            <a:fillRect/>
          </a:stretch>
        </p:blipFill>
        <p:spPr>
          <a:xfrm>
            <a:off x="7115618" y="190500"/>
            <a:ext cx="4905318" cy="3060700"/>
          </a:xfrm>
          <a:prstGeom prst="rect">
            <a:avLst/>
          </a:prstGeom>
        </p:spPr>
      </p:pic>
      <p:pic>
        <p:nvPicPr>
          <p:cNvPr id="11" name="Picture 10" descr="A graph of different types of oocytes&#10;&#10;AI-generated content may be incorrect.">
            <a:extLst>
              <a:ext uri="{FF2B5EF4-FFF2-40B4-BE49-F238E27FC236}">
                <a16:creationId xmlns:a16="http://schemas.microsoft.com/office/drawing/2014/main" id="{C0595D3F-60E1-1317-B477-4EB934A299B8}"/>
              </a:ext>
            </a:extLst>
          </p:cNvPr>
          <p:cNvPicPr>
            <a:picLocks noChangeAspect="1"/>
          </p:cNvPicPr>
          <p:nvPr/>
        </p:nvPicPr>
        <p:blipFill>
          <a:blip r:embed="rId5"/>
          <a:stretch>
            <a:fillRect/>
          </a:stretch>
        </p:blipFill>
        <p:spPr>
          <a:xfrm>
            <a:off x="7115618" y="3606801"/>
            <a:ext cx="4432300" cy="2806700"/>
          </a:xfrm>
          <a:prstGeom prst="rect">
            <a:avLst/>
          </a:prstGeom>
        </p:spPr>
      </p:pic>
    </p:spTree>
    <p:extLst>
      <p:ext uri="{BB962C8B-B14F-4D97-AF65-F5344CB8AC3E}">
        <p14:creationId xmlns:p14="http://schemas.microsoft.com/office/powerpoint/2010/main" val="11108203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7AC792-44B7-75EC-EEC9-1BEDFDBB8F9B}"/>
              </a:ext>
            </a:extLst>
          </p:cNvPr>
          <p:cNvSpPr txBox="1"/>
          <p:nvPr/>
        </p:nvSpPr>
        <p:spPr>
          <a:xfrm>
            <a:off x="165100" y="165100"/>
            <a:ext cx="9725932" cy="646331"/>
          </a:xfrm>
          <a:prstGeom prst="rect">
            <a:avLst/>
          </a:prstGeom>
          <a:noFill/>
        </p:spPr>
        <p:txBody>
          <a:bodyPr wrap="none" rtlCol="0">
            <a:spAutoFit/>
          </a:bodyPr>
          <a:lstStyle/>
          <a:p>
            <a:pPr marL="342900" indent="-342900">
              <a:buAutoNum type="arabicPeriod"/>
            </a:pPr>
            <a:r>
              <a:rPr lang="en-US" dirty="0">
                <a:latin typeface="Helvetica" pitchFamily="2" charset="0"/>
              </a:rPr>
              <a:t>For women on the Short Antagonist Protocol, what influences mature oocyte yield?</a:t>
            </a:r>
          </a:p>
          <a:p>
            <a:pPr marL="342900" indent="-342900">
              <a:buAutoNum type="arabicPeriod"/>
            </a:pPr>
            <a:r>
              <a:rPr lang="en-US" dirty="0">
                <a:latin typeface="Helvetica" pitchFamily="2" charset="0"/>
              </a:rPr>
              <a:t>For ageing women on the Short Antagonist Protocol, what influences mature oocyte yield?</a:t>
            </a:r>
          </a:p>
        </p:txBody>
      </p:sp>
      <p:sp>
        <p:nvSpPr>
          <p:cNvPr id="5" name="TextBox 4">
            <a:extLst>
              <a:ext uri="{FF2B5EF4-FFF2-40B4-BE49-F238E27FC236}">
                <a16:creationId xmlns:a16="http://schemas.microsoft.com/office/drawing/2014/main" id="{FA78DC11-2FC5-472E-E1C4-5901F44C23E5}"/>
              </a:ext>
            </a:extLst>
          </p:cNvPr>
          <p:cNvSpPr txBox="1"/>
          <p:nvPr/>
        </p:nvSpPr>
        <p:spPr>
          <a:xfrm>
            <a:off x="165100" y="1041400"/>
            <a:ext cx="3802644" cy="1015663"/>
          </a:xfrm>
          <a:prstGeom prst="rect">
            <a:avLst/>
          </a:prstGeom>
          <a:noFill/>
        </p:spPr>
        <p:txBody>
          <a:bodyPr wrap="none" rtlCol="0">
            <a:spAutoFit/>
          </a:bodyPr>
          <a:lstStyle/>
          <a:p>
            <a:r>
              <a:rPr lang="en-US" sz="1500" dirty="0">
                <a:latin typeface="Helvetica" pitchFamily="2" charset="0"/>
              </a:rPr>
              <a:t>Optimum mature oocyte yield chosen 9-15</a:t>
            </a:r>
          </a:p>
          <a:p>
            <a:r>
              <a:rPr lang="en-US" sz="1500" dirty="0">
                <a:latin typeface="Helvetica" pitchFamily="2" charset="0"/>
              </a:rPr>
              <a:t>Low &lt;9</a:t>
            </a:r>
          </a:p>
          <a:p>
            <a:r>
              <a:rPr lang="en-US" sz="1500" dirty="0">
                <a:latin typeface="Helvetica" pitchFamily="2" charset="0"/>
              </a:rPr>
              <a:t>High &gt;15</a:t>
            </a:r>
          </a:p>
          <a:p>
            <a:pPr marL="285750" indent="-285750">
              <a:buFont typeface="Arial" panose="020B0604020202020204" pitchFamily="34" charset="0"/>
              <a:buChar char="•"/>
            </a:pPr>
            <a:r>
              <a:rPr lang="en-US" sz="1500" dirty="0">
                <a:latin typeface="Helvetica" pitchFamily="2" charset="0"/>
              </a:rPr>
              <a:t> Binary logistic regression </a:t>
            </a:r>
          </a:p>
        </p:txBody>
      </p:sp>
      <p:pic>
        <p:nvPicPr>
          <p:cNvPr id="7" name="Picture 6">
            <a:extLst>
              <a:ext uri="{FF2B5EF4-FFF2-40B4-BE49-F238E27FC236}">
                <a16:creationId xmlns:a16="http://schemas.microsoft.com/office/drawing/2014/main" id="{4E541769-6C55-E68F-D699-66AA4643CEFE}"/>
              </a:ext>
            </a:extLst>
          </p:cNvPr>
          <p:cNvPicPr>
            <a:picLocks noChangeAspect="1"/>
          </p:cNvPicPr>
          <p:nvPr/>
        </p:nvPicPr>
        <p:blipFill>
          <a:blip r:embed="rId2"/>
          <a:stretch>
            <a:fillRect/>
          </a:stretch>
        </p:blipFill>
        <p:spPr>
          <a:xfrm>
            <a:off x="165100" y="2045286"/>
            <a:ext cx="3994150" cy="2767428"/>
          </a:xfrm>
          <a:prstGeom prst="rect">
            <a:avLst/>
          </a:prstGeom>
        </p:spPr>
      </p:pic>
      <p:sp>
        <p:nvSpPr>
          <p:cNvPr id="12" name="TextBox 11">
            <a:extLst>
              <a:ext uri="{FF2B5EF4-FFF2-40B4-BE49-F238E27FC236}">
                <a16:creationId xmlns:a16="http://schemas.microsoft.com/office/drawing/2014/main" id="{44CAC185-D469-063F-FE4C-97D02E716177}"/>
              </a:ext>
            </a:extLst>
          </p:cNvPr>
          <p:cNvSpPr txBox="1"/>
          <p:nvPr/>
        </p:nvSpPr>
        <p:spPr>
          <a:xfrm>
            <a:off x="4533900" y="1701800"/>
            <a:ext cx="7493000" cy="2585323"/>
          </a:xfrm>
          <a:prstGeom prst="rect">
            <a:avLst/>
          </a:prstGeom>
          <a:noFill/>
        </p:spPr>
        <p:txBody>
          <a:bodyPr wrap="square" rtlCol="0">
            <a:spAutoFit/>
          </a:bodyPr>
          <a:lstStyle/>
          <a:p>
            <a:r>
              <a:rPr lang="en-US" dirty="0">
                <a:latin typeface="Helvetica" pitchFamily="2" charset="0"/>
              </a:rPr>
              <a:t>Total stimulation dose affects the optimal response</a:t>
            </a:r>
          </a:p>
          <a:p>
            <a:pPr marL="285750" indent="-285750">
              <a:buFont typeface="Arial" panose="020B0604020202020204" pitchFamily="34" charset="0"/>
              <a:buChar char="•"/>
            </a:pPr>
            <a:r>
              <a:rPr lang="en-US" dirty="0">
                <a:latin typeface="Helvetica" pitchFamily="2" charset="0"/>
              </a:rPr>
              <a:t>Significant (p=0.031)</a:t>
            </a:r>
          </a:p>
          <a:p>
            <a:pPr marL="285750" indent="-285750">
              <a:buFont typeface="Arial" panose="020B0604020202020204" pitchFamily="34" charset="0"/>
              <a:buChar char="•"/>
            </a:pPr>
            <a:r>
              <a:rPr lang="en-US" dirty="0">
                <a:latin typeface="Helvetica" pitchFamily="2" charset="0"/>
              </a:rPr>
              <a:t>Effect appears to be negative </a:t>
            </a:r>
            <a:r>
              <a:rPr lang="en-US" dirty="0">
                <a:latin typeface="Helvetica" pitchFamily="2" charset="0"/>
                <a:sym typeface="Wingdings" pitchFamily="2" charset="2"/>
              </a:rPr>
              <a:t> the higher the dose the lower the number of mature oocytes</a:t>
            </a:r>
          </a:p>
          <a:p>
            <a:pPr marL="285750" indent="-285750">
              <a:buFont typeface="Arial" panose="020B0604020202020204" pitchFamily="34" charset="0"/>
              <a:buChar char="•"/>
            </a:pPr>
            <a:r>
              <a:rPr lang="en-US" dirty="0">
                <a:latin typeface="Helvetica" pitchFamily="2" charset="0"/>
                <a:sym typeface="Wingdings" pitchFamily="2" charset="2"/>
              </a:rPr>
              <a:t>Increasing doses but diminishing returns</a:t>
            </a:r>
          </a:p>
          <a:p>
            <a:pPr marL="285750" indent="-285750">
              <a:buFont typeface="Arial" panose="020B0604020202020204" pitchFamily="34" charset="0"/>
              <a:buChar char="•"/>
            </a:pPr>
            <a:r>
              <a:rPr lang="en-US" dirty="0">
                <a:latin typeface="Helvetica" pitchFamily="2" charset="0"/>
                <a:sym typeface="Wingdings" pitchFamily="2" charset="2"/>
              </a:rPr>
              <a:t>Sample size is very small for this group (N=59, 44 after missing values dropped), can I test interaction with such low N?</a:t>
            </a:r>
          </a:p>
          <a:p>
            <a:pPr marL="285750" indent="-285750">
              <a:buFont typeface="Arial" panose="020B0604020202020204" pitchFamily="34" charset="0"/>
              <a:buChar char="•"/>
            </a:pPr>
            <a:r>
              <a:rPr lang="en-US" dirty="0">
                <a:latin typeface="Helvetica" pitchFamily="2" charset="0"/>
                <a:sym typeface="Wingdings" pitchFamily="2" charset="2"/>
              </a:rPr>
              <a:t>If I did this analysis only within ageing women would be even smaller N</a:t>
            </a:r>
            <a:endParaRPr lang="en-US" dirty="0">
              <a:latin typeface="Helvetica" pitchFamily="2" charset="0"/>
            </a:endParaRPr>
          </a:p>
        </p:txBody>
      </p:sp>
    </p:spTree>
    <p:extLst>
      <p:ext uri="{BB962C8B-B14F-4D97-AF65-F5344CB8AC3E}">
        <p14:creationId xmlns:p14="http://schemas.microsoft.com/office/powerpoint/2010/main" val="27232297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6BB3290-4398-5CD0-4643-6D1B7456DF5E}"/>
              </a:ext>
            </a:extLst>
          </p:cNvPr>
          <p:cNvSpPr txBox="1"/>
          <p:nvPr/>
        </p:nvSpPr>
        <p:spPr>
          <a:xfrm>
            <a:off x="457200" y="568036"/>
            <a:ext cx="10047559" cy="5078313"/>
          </a:xfrm>
          <a:prstGeom prst="rect">
            <a:avLst/>
          </a:prstGeom>
          <a:noFill/>
        </p:spPr>
        <p:txBody>
          <a:bodyPr wrap="none" rtlCol="0">
            <a:spAutoFit/>
          </a:bodyPr>
          <a:lstStyle/>
          <a:p>
            <a:r>
              <a:rPr lang="en-US" dirty="0"/>
              <a:t>Do ageing women with low AMH produce a different number of eggs compared to younger women?</a:t>
            </a:r>
          </a:p>
          <a:p>
            <a:endParaRPr lang="en-US" dirty="0"/>
          </a:p>
          <a:p>
            <a:r>
              <a:rPr lang="en-US" dirty="0"/>
              <a:t>Are AMH levels lower in obese/overweight ageing women vs. non-obese/overweight ageing women?  </a:t>
            </a:r>
          </a:p>
          <a:p>
            <a:pPr marL="285750" indent="-285750">
              <a:buFont typeface="Arial" panose="020B0604020202020204" pitchFamily="34" charset="0"/>
              <a:buChar char="•"/>
            </a:pPr>
            <a:r>
              <a:rPr lang="en-US" dirty="0"/>
              <a:t>BMI</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r>
              <a:rPr lang="en-US" dirty="0"/>
              <a:t>Does AMH vary in the menstrual cycle? Does it depend what day it is measured? </a:t>
            </a:r>
            <a:r>
              <a:rPr lang="en-US" dirty="0">
                <a:sym typeface="Wingdings" pitchFamily="2" charset="2"/>
              </a:rPr>
              <a:t> Kim said no</a:t>
            </a:r>
          </a:p>
          <a:p>
            <a:endParaRPr lang="en-US" dirty="0">
              <a:sym typeface="Wingdings" pitchFamily="2" charset="2"/>
            </a:endParaRPr>
          </a:p>
          <a:p>
            <a:r>
              <a:rPr lang="en-US" dirty="0">
                <a:sym typeface="Wingdings" pitchFamily="2" charset="2"/>
              </a:rPr>
              <a:t>Does increasing the starting FSH dose for expected poor responders help?</a:t>
            </a:r>
          </a:p>
          <a:p>
            <a:r>
              <a:rPr lang="en-US" dirty="0">
                <a:sym typeface="Wingdings" pitchFamily="2" charset="2"/>
              </a:rPr>
              <a:t>Dose decreasing the starting FSH dose for expected high responders (/those at risk of OHSS) help?</a:t>
            </a:r>
          </a:p>
          <a:p>
            <a:endParaRPr lang="en-US" dirty="0">
              <a:sym typeface="Wingdings" pitchFamily="2" charset="2"/>
            </a:endParaRPr>
          </a:p>
          <a:p>
            <a:endParaRPr lang="en-US" dirty="0">
              <a:sym typeface="Wingdings" pitchFamily="2" charset="2"/>
            </a:endParaRPr>
          </a:p>
          <a:p>
            <a:r>
              <a:rPr lang="en-US" dirty="0">
                <a:sym typeface="Wingdings" pitchFamily="2" charset="2"/>
              </a:rPr>
              <a:t>Optimal dose for optimum responders/poor/high responders  whole population</a:t>
            </a:r>
          </a:p>
          <a:p>
            <a:pPr marL="285750" indent="-285750">
              <a:buFont typeface="Arial" panose="020B0604020202020204" pitchFamily="34" charset="0"/>
              <a:buChar char="•"/>
            </a:pPr>
            <a:r>
              <a:rPr lang="en-US" dirty="0">
                <a:sym typeface="Wingdings" pitchFamily="2" charset="2"/>
              </a:rPr>
              <a:t>Stratify to age groups </a:t>
            </a:r>
          </a:p>
          <a:p>
            <a:pPr marL="285750" indent="-285750">
              <a:buFont typeface="Arial" panose="020B0604020202020204" pitchFamily="34" charset="0"/>
              <a:buChar char="•"/>
            </a:pPr>
            <a:endParaRPr lang="en-US" dirty="0">
              <a:sym typeface="Wingdings" pitchFamily="2" charset="2"/>
            </a:endParaRPr>
          </a:p>
          <a:p>
            <a:r>
              <a:rPr lang="en-US" dirty="0">
                <a:sym typeface="Wingdings" pitchFamily="2" charset="2"/>
              </a:rPr>
              <a:t>Do younger low AFC patients respond better to higher FSH starting doses vs. older patients?</a:t>
            </a:r>
          </a:p>
          <a:p>
            <a:endParaRPr lang="en-US" dirty="0">
              <a:sym typeface="Wingdings" pitchFamily="2" charset="2"/>
            </a:endParaRPr>
          </a:p>
          <a:p>
            <a:r>
              <a:rPr lang="en-US" dirty="0">
                <a:sym typeface="Wingdings" pitchFamily="2" charset="2"/>
              </a:rPr>
              <a:t>Is there a difference in the number of oocytes retrieved between </a:t>
            </a:r>
            <a:r>
              <a:rPr lang="en-US" dirty="0" err="1">
                <a:sym typeface="Wingdings" pitchFamily="2" charset="2"/>
              </a:rPr>
              <a:t>hCG</a:t>
            </a:r>
            <a:r>
              <a:rPr lang="en-US" dirty="0">
                <a:sym typeface="Wingdings" pitchFamily="2" charset="2"/>
              </a:rPr>
              <a:t> or GnRH trigger?</a:t>
            </a:r>
            <a:endParaRPr lang="en-US" dirty="0"/>
          </a:p>
        </p:txBody>
      </p:sp>
    </p:spTree>
    <p:extLst>
      <p:ext uri="{BB962C8B-B14F-4D97-AF65-F5344CB8AC3E}">
        <p14:creationId xmlns:p14="http://schemas.microsoft.com/office/powerpoint/2010/main" val="31762282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6808</TotalTime>
  <Words>2632</Words>
  <Application>Microsoft Macintosh PowerPoint</Application>
  <PresentationFormat>Widescreen</PresentationFormat>
  <Paragraphs>255</Paragraphs>
  <Slides>28</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Aptos</vt:lpstr>
      <vt:lpstr>Aptos Display</vt:lpstr>
      <vt:lpstr>Arial</vt:lpstr>
      <vt:lpstr>Helvetica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Missingness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Kristina Stoianova</dc:creator>
  <cp:lastModifiedBy>Kristina Stoianova</cp:lastModifiedBy>
  <cp:revision>12</cp:revision>
  <dcterms:created xsi:type="dcterms:W3CDTF">2026-03-28T07:53:57Z</dcterms:created>
  <dcterms:modified xsi:type="dcterms:W3CDTF">2026-04-08T08:48:04Z</dcterms:modified>
</cp:coreProperties>
</file>