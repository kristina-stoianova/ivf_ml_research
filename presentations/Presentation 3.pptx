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60" r:id="rId5"/>
    <p:sldId id="267" r:id="rId6"/>
    <p:sldId id="261" r:id="rId7"/>
    <p:sldId id="262" r:id="rId8"/>
    <p:sldId id="263" r:id="rId9"/>
    <p:sldId id="258" r:id="rId10"/>
    <p:sldId id="259" r:id="rId11"/>
    <p:sldId id="268" r:id="rId12"/>
    <p:sldId id="266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3"/>
    <p:restoredTop sz="96333"/>
  </p:normalViewPr>
  <p:slideViewPr>
    <p:cSldViewPr snapToGrid="0">
      <p:cViewPr varScale="1">
        <p:scale>
          <a:sx n="124" d="100"/>
          <a:sy n="124" d="100"/>
        </p:scale>
        <p:origin x="20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C482FF-8D08-1A41-87E4-F4047EE2880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D0183-4B89-2840-83C6-DEC4C5E6B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2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Further explore with a partial dependence plot? Adjusted residual plot? – After accounting for ovarian reserve (AMH/baseline follicles) which aetiology groups do better/worse than expected?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D0183-4B89-2840-83C6-DEC4C5E6B8C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49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predictors are consistent with the best baseline only predictor model</a:t>
            </a:r>
          </a:p>
          <a:p>
            <a:pPr lvl="1"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AMH log strongest overall predictor, dominant signal confirmed across all models</a:t>
            </a:r>
          </a:p>
          <a:p>
            <a:pPr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 total follicles second strongest predictor</a:t>
            </a:r>
          </a:p>
          <a:p>
            <a:pPr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Female factor patients still negative and strong predictor</a:t>
            </a:r>
          </a:p>
          <a:p>
            <a:pPr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FSH initial dose is positive --&gt; higher FSH dose associated with more oocytes</a:t>
            </a:r>
          </a:p>
          <a:p>
            <a:pPr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Possible interpretation</a:t>
            </a:r>
          </a:p>
          <a:p>
            <a:pPr lvl="1"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FSH dose --&gt; stronger stim --&gt; more mature oocytes</a:t>
            </a:r>
          </a:p>
          <a:p>
            <a:pPr lvl="1"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Confounding by indication = clinician anticipates good responder --&gt; prescribes standard/higher dose</a:t>
            </a:r>
          </a:p>
          <a:p>
            <a:pPr lvl="1"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dose and high yield = good reserve</a:t>
            </a:r>
          </a:p>
          <a:p>
            <a:pPr lvl="1"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FSH only patients do have higher AMH --&gt; but the positive effect persists after AMH and follicles are controlled for, so is there a possible independent contribution?</a:t>
            </a:r>
          </a:p>
          <a:p>
            <a:pPr lvl="1"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hMG used/initial dose = negative coefficient --&gt; patients who receive hMG produce fewer mature oocytes than those who do not </a:t>
            </a:r>
          </a:p>
          <a:p>
            <a:pPr lvl="2"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hMG typically given to poor responders so even after adjusting for AMH and total follicles there may be residual confounding indication effect</a:t>
            </a:r>
          </a:p>
          <a:p>
            <a:pPr lvl="1" rtl="0" fontAlgn="ctr"/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FSH used, seems to add nothing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D0183-4B89-2840-83C6-DEC4C5E6B8C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90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ED0183-4B89-2840-83C6-DEC4C5E6B8C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48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36762-A793-C8E6-E681-DBF0967B6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11EF2-1F84-8711-C45C-AD6B7A6E4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3D6EE-CC9A-1499-6B9E-6788D3BC3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5F695-051A-24F0-B3E7-FD2F2AF2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E3A1-A84A-022D-DCC4-05251D41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0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3106-39E7-97DA-591A-88AADB6CE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9967B-D49D-F295-33A4-A4C8F2A16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FC29B-0393-5B0B-8025-6AAD7DF8B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D794E-BDA1-0E29-A95F-991AA4CAF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D0CF7-737F-DFD8-69DB-DC0BAA70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6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DBA2D-46CD-7411-C491-1D42C196E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29B89-6494-2C41-6214-425EE90A5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FB194-5C37-3910-1943-912C28F2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7A978-7311-ED2F-9701-BC0D4EA3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E2491-D33B-FCAD-86EC-913FB7E3D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3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85FEB-8D3E-6691-231F-0AFBEAC4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E367C-96EE-1988-1C29-ED817A8D59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0C49E-7207-102F-4C62-2DE47F04F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C6048-C79E-ABE2-6D90-7B88F493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74512-17D3-E8D2-A92C-404CCAB1C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2659-65F6-3EE9-CA3D-DD276442C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7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A87F4-C12E-BB12-F9D1-2CEF98A72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B5866-6E0B-130F-976D-4E43D0904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008352-67E3-1575-ADD3-8A2D5A6FC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F0E54-79B1-EE10-2DBB-BCE7DE930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79FF13-1070-C747-03C0-EFEA7AC5F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C3B48-B21B-AFA8-A2DC-0A904F1C7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41DE6-0CA6-659C-7056-CFCC0BD4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049978-6DD0-48CB-E826-8AFDDF40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51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1F3AE-B4DE-4D10-426E-6E2B1DF9B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92703D-7C7F-D4DC-B969-F1C97D18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F046C1-DD7E-7C18-E8EA-E900F5E6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79422-5161-37C4-C435-15E31F76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2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53E31-DAFF-AF43-A014-33A4129E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1C081-447A-EC73-6695-8B3E96A7E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449A0-4958-1A56-A43D-422715F46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6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C133-956E-C477-C25C-719B31641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2A9BD-C2E0-9F31-3F33-B33141988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FA83F-2256-A0FF-547C-19191024B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F3B10-D3BB-686F-D48D-A0FF23178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E9C22-E88E-2B40-3620-AC81C8A1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E0B9F3-0534-69CA-762F-F0B92E2B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4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6806-2DC8-ECEA-A3F4-8CACE3992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5BEFBE-0A83-E07F-616D-899BDF71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E7088-AC98-4E68-8413-906EC0BE0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EFB520-F5C5-0609-FE47-2AB87F34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1C97B-4729-A5AC-A338-7D13A2DBF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96236-2907-C399-46EE-6600FBE8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5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3E4D-6B1D-8243-FE3A-037E52E5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8677D-832F-9FFC-FDE9-9A1B39D3E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650F-8BA2-56F5-EE34-AFBA8405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F8AEC-D8FD-714B-CAF8-8EF7BFC05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56053-09A3-8165-7F8C-A659C340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43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6D282-8B44-05BC-8E69-F3CD8DDDB4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BEB02-EC28-1503-B4CA-86F4538F3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91281-3BAC-43FE-DB78-976480C6E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0F964-9966-3838-321E-490FB391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2CD53-1B55-17EB-BEEB-DFD13808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4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2351C8-1C6B-F263-AE6C-3F515AFBF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F97F7-3936-01FE-F8CC-DB12A2248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E29A8-B68F-F58D-6F2F-2299B4EAB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BC093-4CCF-AC47-B88A-F4656806104C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51138-AAA3-831D-BD60-E3A3049279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569E4-E307-E7E3-985A-C50BA7A95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A4C89-3AD1-5C47-B5CA-FC170D55BD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7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9E00DD52-655A-C4FC-618D-07777C251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43" y="69470"/>
            <a:ext cx="11872514" cy="671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03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404F8CF1-E28E-D1C1-C394-EA79C8FC1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707" y="222857"/>
            <a:ext cx="7914585" cy="6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1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cientific experiment&#10;&#10;AI-generated content may be incorrect.">
            <a:extLst>
              <a:ext uri="{FF2B5EF4-FFF2-40B4-BE49-F238E27FC236}">
                <a16:creationId xmlns:a16="http://schemas.microsoft.com/office/drawing/2014/main" id="{FEBE4D1C-F9D0-6EC7-D8E0-F6326911C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99" y="50800"/>
            <a:ext cx="11560761" cy="667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98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E3CDB7-B0FE-9B64-D805-8A31A8653EF8}"/>
              </a:ext>
            </a:extLst>
          </p:cNvPr>
          <p:cNvSpPr txBox="1"/>
          <p:nvPr/>
        </p:nvSpPr>
        <p:spPr>
          <a:xfrm>
            <a:off x="543313" y="4712582"/>
            <a:ext cx="98382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Ridge regression highest R</a:t>
            </a:r>
            <a:r>
              <a:rPr lang="en-US" baseline="30000" dirty="0"/>
              <a:t>2</a:t>
            </a:r>
            <a:r>
              <a:rPr lang="en-US" dirty="0"/>
              <a:t>, lowest MAE, least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overfitting more than Random Forest, largest gap between training and validation R</a:t>
            </a:r>
            <a:r>
              <a:rPr lang="en-US" baseline="30000" dirty="0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models consistently struggle with higher mature oocyte predictions (similar to other papers)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predicts up to slightly higher mature oocytes than 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Currently working on SVM and </a:t>
            </a:r>
            <a:r>
              <a:rPr lang="en-US" dirty="0" err="1"/>
              <a:t>LightGBM</a:t>
            </a:r>
            <a:r>
              <a:rPr lang="en-US" dirty="0"/>
              <a:t>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D0425B-8C0A-75FE-D2BF-B43326C96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098" y="2368006"/>
            <a:ext cx="3009900" cy="4699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A27185-4790-855E-E732-B1222CAFB95A}"/>
              </a:ext>
            </a:extLst>
          </p:cNvPr>
          <p:cNvSpPr txBox="1"/>
          <p:nvPr/>
        </p:nvSpPr>
        <p:spPr>
          <a:xfrm>
            <a:off x="786064" y="364135"/>
            <a:ext cx="7516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itchFamily="2" charset="0"/>
              </a:rPr>
              <a:t>Predicting the number of mature oocytes from baseline data</a:t>
            </a:r>
          </a:p>
        </p:txBody>
      </p:sp>
      <p:pic>
        <p:nvPicPr>
          <p:cNvPr id="5" name="Picture 4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16ABC997-FDC9-2A21-31E1-3CA84C734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680" y="1029157"/>
            <a:ext cx="5780393" cy="34185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A489FB-1EEF-BE9E-DD47-2375F95E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0098" y="1635725"/>
            <a:ext cx="3003929" cy="42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4DC21226-4952-32FE-9240-D7958C03A4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583" y="1253331"/>
            <a:ext cx="5406316" cy="5213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FDD68E-AD29-D90F-1413-0FA953EFA376}"/>
              </a:ext>
            </a:extLst>
          </p:cNvPr>
          <p:cNvSpPr txBox="1"/>
          <p:nvPr/>
        </p:nvSpPr>
        <p:spPr>
          <a:xfrm>
            <a:off x="965770" y="400692"/>
            <a:ext cx="3945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Ridge Regression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69FB61-712B-6ED2-89A9-C7060C817BD6}"/>
              </a:ext>
            </a:extLst>
          </p:cNvPr>
          <p:cNvSpPr txBox="1"/>
          <p:nvPr/>
        </p:nvSpPr>
        <p:spPr>
          <a:xfrm>
            <a:off x="6760396" y="1736332"/>
            <a:ext cx="479803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Models struggle to predict higher bound of mature oocytes </a:t>
            </a:r>
            <a:r>
              <a:rPr lang="en-US" dirty="0">
                <a:sym typeface="Wingdings" pitchFamily="2" charset="2"/>
              </a:rPr>
              <a:t> the better models predict these best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Because they are extremes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Because there is not enough data?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patients have responded adequately but should be flagged for OHSS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Moderate – mild overfitting in all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Removing age from baselines reduces overfitting </a:t>
            </a:r>
            <a:r>
              <a:rPr lang="en-US" dirty="0">
                <a:sym typeface="Wingdings" pitchFamily="2" charset="2"/>
              </a:rPr>
              <a:t> AMH / baseline follicles are reflecting the ovarian reserve information more than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Adding dosing does not improve the model</a:t>
            </a:r>
          </a:p>
        </p:txBody>
      </p:sp>
    </p:spTree>
    <p:extLst>
      <p:ext uri="{BB962C8B-B14F-4D97-AF65-F5344CB8AC3E}">
        <p14:creationId xmlns:p14="http://schemas.microsoft.com/office/powerpoint/2010/main" val="3288722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391B43-3590-0F7B-BFC9-2CA3DEC6A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28" y="194390"/>
            <a:ext cx="5776505" cy="4209641"/>
          </a:xfrm>
          <a:prstGeom prst="rect">
            <a:avLst/>
          </a:prstGeom>
        </p:spPr>
      </p:pic>
      <p:pic>
        <p:nvPicPr>
          <p:cNvPr id="1026" name="Picture 2" descr="Permutation Feature Importance &#10;(Random Forest - Mature Oocytes) &#10;Baseline_AMH - &#10;- &#10;Baseline_total_follicles - &#10;Age &#10;Aetiology_group_Female_factor - &#10;Aetiology_group_Unexplained &#10;Aetiology_group_No_female_factor - &#10;Aetiology_group_Other -H &#10;0.00 &#10;0.25 &#10;0.50 &#10;0.75 &#10;1.00 &#10;1.25 &#10;1.50 &#10;1.75 &#10;Mean decrease in MAE &#10;(higher = more important) ">
            <a:extLst>
              <a:ext uri="{FF2B5EF4-FFF2-40B4-BE49-F238E27FC236}">
                <a16:creationId xmlns:a16="http://schemas.microsoft.com/office/drawing/2014/main" id="{54D13D6A-2C1A-927D-6692-484EDE87E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99873"/>
            <a:ext cx="6016235" cy="357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B6FC8E-F396-02CB-E9F0-0C549A4672D5}"/>
              </a:ext>
            </a:extLst>
          </p:cNvPr>
          <p:cNvSpPr txBox="1"/>
          <p:nvPr/>
        </p:nvSpPr>
        <p:spPr>
          <a:xfrm>
            <a:off x="369870" y="4787757"/>
            <a:ext cx="111988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AMH is the dominant predictor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Patients with female factor infertility yield fewer oocytes than patients with no female factors even after adjusting for AMH and follicles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to unexplained infertility patients and other (note: other is a small sample size)</a:t>
            </a:r>
          </a:p>
        </p:txBody>
      </p:sp>
    </p:spTree>
    <p:extLst>
      <p:ext uri="{BB962C8B-B14F-4D97-AF65-F5344CB8AC3E}">
        <p14:creationId xmlns:p14="http://schemas.microsoft.com/office/powerpoint/2010/main" val="225985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F42141-B837-6C7C-58E1-B22B77FB383D}"/>
              </a:ext>
            </a:extLst>
          </p:cNvPr>
          <p:cNvSpPr txBox="1"/>
          <p:nvPr/>
        </p:nvSpPr>
        <p:spPr>
          <a:xfrm>
            <a:off x="839450" y="4871803"/>
            <a:ext cx="107629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Produce the least amount of mature oocytes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 AMH distributions show some similarity between groups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5ADB2C-B09F-E784-C95A-EB74C60E4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375" y="807396"/>
            <a:ext cx="11601249" cy="37899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DECFF4-FC1D-D775-41B3-0EB57F502960}"/>
              </a:ext>
            </a:extLst>
          </p:cNvPr>
          <p:cNvSpPr txBox="1"/>
          <p:nvPr/>
        </p:nvSpPr>
        <p:spPr>
          <a:xfrm>
            <a:off x="839449" y="242358"/>
            <a:ext cx="4198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itchFamily="2" charset="0"/>
                <a:ea typeface="Baskerville" panose="02020502070401020303" pitchFamily="18" charset="0"/>
              </a:rPr>
              <a:t>Looking at female factor patients</a:t>
            </a:r>
          </a:p>
        </p:txBody>
      </p:sp>
    </p:spTree>
    <p:extLst>
      <p:ext uri="{BB962C8B-B14F-4D97-AF65-F5344CB8AC3E}">
        <p14:creationId xmlns:p14="http://schemas.microsoft.com/office/powerpoint/2010/main" val="3850618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45B1A2D-CC6D-FD61-8AB8-F88503E47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84" y="2190379"/>
            <a:ext cx="4529966" cy="24772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87FA95-C450-0676-8DBB-D006E842AA19}"/>
              </a:ext>
            </a:extLst>
          </p:cNvPr>
          <p:cNvSpPr txBox="1"/>
          <p:nvPr/>
        </p:nvSpPr>
        <p:spPr>
          <a:xfrm>
            <a:off x="629587" y="250226"/>
            <a:ext cx="5301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itchFamily="2" charset="0"/>
                <a:ea typeface="Baskerville" panose="02020502070401020303" pitchFamily="18" charset="0"/>
              </a:rPr>
              <a:t>Outcome of baseline + protocol modelling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A2218B-205B-EC88-1765-273DD1EE46E1}"/>
              </a:ext>
            </a:extLst>
          </p:cNvPr>
          <p:cNvSpPr txBox="1"/>
          <p:nvPr/>
        </p:nvSpPr>
        <p:spPr>
          <a:xfrm>
            <a:off x="6096000" y="3830273"/>
            <a:ext cx="57529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Baseline predictors consistent with the best baseline only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Female factor still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FSH initial dose is positive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hMG initial is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Total starting gonadotropin dose is positive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Confounding</a:t>
            </a:r>
          </a:p>
        </p:txBody>
      </p:sp>
      <p:pic>
        <p:nvPicPr>
          <p:cNvPr id="5" name="Picture 4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CB0FFE82-EDD1-4AFB-3F55-3C85B6731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244" y="902464"/>
            <a:ext cx="5524866" cy="44861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A6F03A-E20C-F00D-566E-79E8BB10F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250" y="2902010"/>
            <a:ext cx="3226620" cy="487037"/>
          </a:xfrm>
          <a:prstGeom prst="rect">
            <a:avLst/>
          </a:prstGeom>
        </p:spPr>
      </p:pic>
      <p:pic>
        <p:nvPicPr>
          <p:cNvPr id="12" name="Picture 11" descr="A white squares with black text&#10;&#10;AI-generated content may be incorrect.">
            <a:extLst>
              <a:ext uri="{FF2B5EF4-FFF2-40B4-BE49-F238E27FC236}">
                <a16:creationId xmlns:a16="http://schemas.microsoft.com/office/drawing/2014/main" id="{DEE7AC56-FEDE-7D8C-1EB4-E2A3F71327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7891" y="842065"/>
            <a:ext cx="21844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80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ocyte yield by stimulation protocol &#10;40 &#10;O &#10;35 &#10;30 &#10;25 &#10;20 : &#10;15 &#10;Mature Oocytes &#10;10 - &#10;5 &#10;0 &#10;FSH_only &#10;Dual &#10;hMG_only ">
            <a:extLst>
              <a:ext uri="{FF2B5EF4-FFF2-40B4-BE49-F238E27FC236}">
                <a16:creationId xmlns:a16="http://schemas.microsoft.com/office/drawing/2014/main" id="{C96F5F1A-7AD2-9AC2-E0AF-0D326E12B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21" y="196291"/>
            <a:ext cx="5241074" cy="2861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90F06A-2F03-9CD9-481C-473A582692BA}"/>
              </a:ext>
            </a:extLst>
          </p:cNvPr>
          <p:cNvSpPr txBox="1"/>
          <p:nvPr/>
        </p:nvSpPr>
        <p:spPr>
          <a:xfrm>
            <a:off x="200721" y="3303439"/>
            <a:ext cx="1067171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u="sng" dirty="0">
                <a:highlight>
                  <a:srgbClr val="FFFF00"/>
                </a:highlight>
                <a:latin typeface="Helvetica" pitchFamily="2" charset="0"/>
              </a:rPr>
              <a:t>Mature Oocytes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FSH only stimulated patients have the highest median oocytes, much greater spread compared to hMG only/dual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FSH is likely not more superior than the other protocols at yielding more oocytes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FSH only is likely selected and given to patients who are expected to be ‘normal’ responders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hMG/dual stim are likely given to patients who are poorer responders (literature supports hMG being given to older patients)</a:t>
            </a:r>
          </a:p>
          <a:p>
            <a:endParaRPr lang="en-US" sz="1500" dirty="0">
              <a:latin typeface="Helvetica" pitchFamily="2" charset="0"/>
            </a:endParaRPr>
          </a:p>
          <a:p>
            <a:endParaRPr lang="en-US" sz="1500" dirty="0">
              <a:latin typeface="Helvetica" pitchFamily="2" charset="0"/>
            </a:endParaRPr>
          </a:p>
          <a:p>
            <a:r>
              <a:rPr lang="en-US" sz="1500" b="1" u="sng" dirty="0">
                <a:highlight>
                  <a:srgbClr val="FFFF00"/>
                </a:highlight>
                <a:latin typeface="Helvetica" pitchFamily="2" charset="0"/>
              </a:rPr>
              <a:t>AMH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FSH widest spread of AMH </a:t>
            </a:r>
            <a:r>
              <a:rPr lang="en-US" sz="1500" dirty="0">
                <a:latin typeface="Helvetica" pitchFamily="2" charset="0"/>
                <a:sym typeface="Wingdings" pitchFamily="2" charset="2"/>
              </a:rPr>
              <a:t> seems to be the default protocol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  <a:sym typeface="Wingdings" pitchFamily="2" charset="2"/>
              </a:rPr>
              <a:t>Therefore, FSH stimulation strategy (starting doses, total doses, dose changes) should ideally be modelled alone but not currently possible due to small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  <a:sym typeface="Wingdings" pitchFamily="2" charset="2"/>
              </a:rPr>
              <a:t>Interesting = hMG only group have high AMH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  <a:sym typeface="Wingdings" pitchFamily="2" charset="2"/>
              </a:rPr>
              <a:t>Dual has the lowest AMH likely representing the low responders</a:t>
            </a:r>
          </a:p>
        </p:txBody>
      </p:sp>
      <p:pic>
        <p:nvPicPr>
          <p:cNvPr id="1028" name="Picture 4" descr="Baseline AMH by stimulation protocol &#10;80 &#10;0 &#10;70 &#10;60 - &#10;50 &#10;0 &#10;40 &#10;30 &#10;- &#10;Baseline AMH &#10;20 &#10;0 &#10;10 &#10;0 &#10;0 &#10;FSH_only &#10;Dual &#10;hMG_only ">
            <a:extLst>
              <a:ext uri="{FF2B5EF4-FFF2-40B4-BE49-F238E27FC236}">
                <a16:creationId xmlns:a16="http://schemas.microsoft.com/office/drawing/2014/main" id="{9D513728-C356-A98A-D0DD-722A40079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639" y="196291"/>
            <a:ext cx="5523571" cy="295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247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ge by Protocol &#10;45.0 &#10;42.5 &#10;40.0 &#10;37.5 &#10;35.0 &#10;Age &#10;32.5 &#10;30.0 &#10;27.5 &#10;25.0 - &#10;O &#10;FSH_only &#10;Dual &#10;hMG_only ">
            <a:extLst>
              <a:ext uri="{FF2B5EF4-FFF2-40B4-BE49-F238E27FC236}">
                <a16:creationId xmlns:a16="http://schemas.microsoft.com/office/drawing/2014/main" id="{890B553D-B0FD-6398-C0B8-DD09AD24C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244794" cy="3314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aseline Total Follicle Count by Protocol &#10;45 &#10;40 &#10;35 &#10;30 &#10;25 - &#10;20 &#10;15 &#10;10 &#10;Baseline Total Follicle Count &#10;5 &#10;O &#10;FSH_only &#10;Dual &#10;hMG_only ">
            <a:extLst>
              <a:ext uri="{FF2B5EF4-FFF2-40B4-BE49-F238E27FC236}">
                <a16:creationId xmlns:a16="http://schemas.microsoft.com/office/drawing/2014/main" id="{8D321E96-FD37-6F33-754E-34A14BD3C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794" y="0"/>
            <a:ext cx="5947206" cy="331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330D2E-73A3-1DA3-F283-127E8B15503C}"/>
              </a:ext>
            </a:extLst>
          </p:cNvPr>
          <p:cNvSpPr txBox="1"/>
          <p:nvPr/>
        </p:nvSpPr>
        <p:spPr>
          <a:xfrm>
            <a:off x="317334" y="3543070"/>
            <a:ext cx="496161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u="sng" dirty="0">
                <a:highlight>
                  <a:srgbClr val="FFFF00"/>
                </a:highlight>
                <a:latin typeface="Helvetica" pitchFamily="2" charset="0"/>
              </a:rPr>
              <a:t>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Dual and hMG only patients have older median 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FSH wide range of 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A lot of overlap of 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Perhaps aetiology also comes into play?</a:t>
            </a:r>
          </a:p>
          <a:p>
            <a:endParaRPr lang="en-US" sz="1500" dirty="0">
              <a:latin typeface="Helvetica" pitchFamily="2" charset="0"/>
            </a:endParaRPr>
          </a:p>
          <a:p>
            <a:r>
              <a:rPr lang="en-US" sz="1500" b="1" u="sng" dirty="0">
                <a:highlight>
                  <a:srgbClr val="FFFF00"/>
                </a:highlight>
                <a:latin typeface="Helvetica" pitchFamily="2" charset="0"/>
              </a:rPr>
              <a:t>Baseline total follicles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FSH only patients have higher baseline follicles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E0771-FECC-BADD-1CA1-ADF3236C61DA}"/>
              </a:ext>
            </a:extLst>
          </p:cNvPr>
          <p:cNvSpPr txBox="1"/>
          <p:nvPr/>
        </p:nvSpPr>
        <p:spPr>
          <a:xfrm>
            <a:off x="317334" y="5710201"/>
            <a:ext cx="1142921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FSH has the highest oocyte yield, but the patients have ‘better’ baseline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hMG only have much higher AMH than dual but they produce similar lower levels of mature oocytes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To explore improving protocols for ‘ageing’/’poor responders should focus on the dual stimulation group, few papers focus on this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>
                <a:latin typeface="Helvetica" pitchFamily="2" charset="0"/>
              </a:rPr>
              <a:t>Not possible with n=10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09E118-2C46-1A47-0817-96FCD4804C9C}"/>
              </a:ext>
            </a:extLst>
          </p:cNvPr>
          <p:cNvSpPr txBox="1"/>
          <p:nvPr/>
        </p:nvSpPr>
        <p:spPr>
          <a:xfrm>
            <a:off x="6420751" y="3958568"/>
            <a:ext cx="472671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Exploring patients on 2</a:t>
            </a:r>
            <a:r>
              <a:rPr lang="en-US" sz="1500" baseline="30000" dirty="0"/>
              <a:t>nd</a:t>
            </a:r>
            <a:r>
              <a:rPr lang="en-US" sz="1500" dirty="0"/>
              <a:t>, 3</a:t>
            </a:r>
            <a:r>
              <a:rPr lang="en-US" sz="1500" baseline="30000" dirty="0"/>
              <a:t>rd</a:t>
            </a:r>
            <a:r>
              <a:rPr lang="en-US" sz="1500" dirty="0"/>
              <a:t> , 4</a:t>
            </a:r>
            <a:r>
              <a:rPr lang="en-US" sz="1500" baseline="30000" dirty="0"/>
              <a:t>th</a:t>
            </a:r>
            <a:r>
              <a:rPr lang="en-US" sz="1500" dirty="0"/>
              <a:t>, cycle </a:t>
            </a:r>
            <a:r>
              <a:rPr lang="en-US" sz="1500" dirty="0">
                <a:sym typeface="Wingdings" pitchFamily="2" charset="2"/>
              </a:rPr>
              <a:t> a lot seem to be on dual</a:t>
            </a:r>
            <a:r>
              <a:rPr lang="en-US" sz="1500" dirty="0"/>
              <a:t> stim</a:t>
            </a:r>
          </a:p>
          <a:p>
            <a:r>
              <a:rPr lang="en-US" sz="1500" dirty="0">
                <a:sym typeface="Wingdings" pitchFamily="2" charset="2"/>
              </a:rPr>
              <a:t> Only have ~ 11 patients with further cycle data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58907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number of numbers&#10;&#10;AI-generated content may be incorrect.">
            <a:extLst>
              <a:ext uri="{FF2B5EF4-FFF2-40B4-BE49-F238E27FC236}">
                <a16:creationId xmlns:a16="http://schemas.microsoft.com/office/drawing/2014/main" id="{AED31662-88D4-9E26-365E-03215A835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34" y="668961"/>
            <a:ext cx="4544192" cy="2122756"/>
          </a:xfrm>
          <a:prstGeom prst="rect">
            <a:avLst/>
          </a:prstGeom>
        </p:spPr>
      </p:pic>
      <p:pic>
        <p:nvPicPr>
          <p:cNvPr id="9" name="Picture 8" descr="A table of medical information&#10;&#10;AI-generated content may be incorrect.">
            <a:extLst>
              <a:ext uri="{FF2B5EF4-FFF2-40B4-BE49-F238E27FC236}">
                <a16:creationId xmlns:a16="http://schemas.microsoft.com/office/drawing/2014/main" id="{A1FB6FD0-1493-9AAF-6960-7C2A4387E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434" y="3619168"/>
            <a:ext cx="3784482" cy="24235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0EC43B-640D-A536-D90E-666E840E8275}"/>
              </a:ext>
            </a:extLst>
          </p:cNvPr>
          <p:cNvSpPr txBox="1"/>
          <p:nvPr/>
        </p:nvSpPr>
        <p:spPr>
          <a:xfrm>
            <a:off x="513707" y="287676"/>
            <a:ext cx="5582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Stratifying by responder and total eggs retrieved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A9C32C-37FF-54F4-5387-8678EFC6E3DF}"/>
              </a:ext>
            </a:extLst>
          </p:cNvPr>
          <p:cNvSpPr txBox="1"/>
          <p:nvPr/>
        </p:nvSpPr>
        <p:spPr>
          <a:xfrm>
            <a:off x="2785716" y="2561723"/>
            <a:ext cx="22413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Without egg donor </a:t>
            </a:r>
            <a:r>
              <a:rPr lang="en-US" sz="1400" dirty="0">
                <a:sym typeface="Wingdings" pitchFamily="2" charset="2"/>
              </a:rPr>
              <a:t> </a:t>
            </a:r>
            <a:r>
              <a:rPr lang="en-US" sz="1400" dirty="0"/>
              <a:t>n=52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752395-1E15-7A9D-D0F4-E669896021A4}"/>
              </a:ext>
            </a:extLst>
          </p:cNvPr>
          <p:cNvSpPr txBox="1"/>
          <p:nvPr/>
        </p:nvSpPr>
        <p:spPr>
          <a:xfrm>
            <a:off x="410434" y="3059668"/>
            <a:ext cx="4737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Starting gonadotropin dose by responder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195A3-B02F-5AD8-7FB0-BB2AF907BFB5}"/>
              </a:ext>
            </a:extLst>
          </p:cNvPr>
          <p:cNvSpPr txBox="1"/>
          <p:nvPr/>
        </p:nvSpPr>
        <p:spPr>
          <a:xfrm>
            <a:off x="7887130" y="29962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Ages</a:t>
            </a:r>
          </a:p>
        </p:txBody>
      </p:sp>
      <p:pic>
        <p:nvPicPr>
          <p:cNvPr id="15" name="Picture 14" descr="A table of information with text&#10;&#10;AI-generated content may be incorrect.">
            <a:extLst>
              <a:ext uri="{FF2B5EF4-FFF2-40B4-BE49-F238E27FC236}">
                <a16:creationId xmlns:a16="http://schemas.microsoft.com/office/drawing/2014/main" id="{E6DE30A9-5761-DCD9-1079-BBC74C703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160" y="752025"/>
            <a:ext cx="2381981" cy="19566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7E3FE3A-0EFD-3ED4-8C52-4C4DD587C2C9}"/>
              </a:ext>
            </a:extLst>
          </p:cNvPr>
          <p:cNvSpPr txBox="1"/>
          <p:nvPr/>
        </p:nvSpPr>
        <p:spPr>
          <a:xfrm>
            <a:off x="6421349" y="3760342"/>
            <a:ext cx="47600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Currently building 2 logistic regression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 low responder vs. 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Predict high responder vs. not</a:t>
            </a:r>
          </a:p>
        </p:txBody>
      </p:sp>
    </p:spTree>
    <p:extLst>
      <p:ext uri="{BB962C8B-B14F-4D97-AF65-F5344CB8AC3E}">
        <p14:creationId xmlns:p14="http://schemas.microsoft.com/office/powerpoint/2010/main" val="2094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9CA932-A045-C184-E8AF-75243206C2E4}"/>
              </a:ext>
            </a:extLst>
          </p:cNvPr>
          <p:cNvSpPr txBox="1"/>
          <p:nvPr/>
        </p:nvSpPr>
        <p:spPr>
          <a:xfrm>
            <a:off x="657726" y="1307522"/>
            <a:ext cx="988828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Using size as a measure of follicular response to gonadotropin stimulation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Follicles grow as they are stimulated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Need to reach certain size before the clinician decides to administer the trigger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Currently in my dataset have the amount of follicles &lt;11.9mm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Interested in amount &gt;11.9mm as those are reaching the optimum target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Attempted to derive amount of follicles &gt;11.9 by: final total follicles – final &lt;11.9mm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Numbers do not add 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Helvetica" pitchFamily="2" charset="0"/>
              </a:rPr>
              <a:t>Will bring this up in the meeting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FBA70-60BE-84CB-4A9D-F7BE3C397D18}"/>
              </a:ext>
            </a:extLst>
          </p:cNvPr>
          <p:cNvSpPr txBox="1"/>
          <p:nvPr/>
        </p:nvSpPr>
        <p:spPr>
          <a:xfrm>
            <a:off x="657726" y="545432"/>
            <a:ext cx="16498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Helvetica" pitchFamily="2" charset="0"/>
              </a:rPr>
              <a:t>Follicle Size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04A6BD-BE40-A3E4-0589-2871758F9727}"/>
              </a:ext>
            </a:extLst>
          </p:cNvPr>
          <p:cNvSpPr txBox="1"/>
          <p:nvPr/>
        </p:nvSpPr>
        <p:spPr>
          <a:xfrm>
            <a:off x="657726" y="4224047"/>
            <a:ext cx="5763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Helvetica" pitchFamily="2" charset="0"/>
              </a:rPr>
              <a:t>Include size as a predictor of mature oocytes too </a:t>
            </a:r>
          </a:p>
        </p:txBody>
      </p:sp>
    </p:spTree>
    <p:extLst>
      <p:ext uri="{BB962C8B-B14F-4D97-AF65-F5344CB8AC3E}">
        <p14:creationId xmlns:p14="http://schemas.microsoft.com/office/powerpoint/2010/main" val="2614730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820789-DF9D-F540-52F6-CB1BF9CA4DD9}"/>
              </a:ext>
            </a:extLst>
          </p:cNvPr>
          <p:cNvSpPr txBox="1"/>
          <p:nvPr/>
        </p:nvSpPr>
        <p:spPr>
          <a:xfrm>
            <a:off x="561474" y="465221"/>
            <a:ext cx="1116530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Predicting the initial gonadotropin dose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Attempt to deal with structural 0s and maintain the sample size (not make n too small by analyzing separate stimulation protocols)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What are clinicians using to decide what initial dose to give?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</a:rPr>
              <a:t>Problem: FSH and hMG have different modes of action which are not accounted for </a:t>
            </a:r>
            <a:r>
              <a:rPr lang="en-US" dirty="0">
                <a:latin typeface="Helvetica" pitchFamily="2" charset="0"/>
                <a:sym typeface="Wingdings" pitchFamily="2" charset="2"/>
              </a:rPr>
              <a:t> can only be accounted for if stim protocols modelled separately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itchFamily="2" charset="0"/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sym typeface="Wingdings" pitchFamily="2" charset="2"/>
              </a:rPr>
              <a:t>Models perform weakly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sym typeface="Wingdings" pitchFamily="2" charset="2"/>
              </a:rPr>
              <a:t>Likely because we are missing baseline FSH, E2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itchFamily="2" charset="0"/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Helvetica" pitchFamily="2" charset="0"/>
              <a:sym typeface="Wingdings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sym typeface="Wingdings" pitchFamily="2" charset="2"/>
              </a:rPr>
              <a:t>Next step: stratify by 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Helvetica" pitchFamily="2" charset="0"/>
                <a:sym typeface="Wingdings" pitchFamily="2" charset="2"/>
              </a:rPr>
              <a:t>Separate into age groups: younger/older and keep dose as total gonadotropin dose</a:t>
            </a:r>
          </a:p>
        </p:txBody>
      </p:sp>
    </p:spTree>
    <p:extLst>
      <p:ext uri="{BB962C8B-B14F-4D97-AF65-F5344CB8AC3E}">
        <p14:creationId xmlns:p14="http://schemas.microsoft.com/office/powerpoint/2010/main" val="1923278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937</Words>
  <Application>Microsoft Macintosh PowerPoint</Application>
  <PresentationFormat>Widescreen</PresentationFormat>
  <Paragraphs>98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Helvetica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Kristina Stoianova</dc:creator>
  <cp:lastModifiedBy>Kristina Stoianova</cp:lastModifiedBy>
  <cp:revision>6</cp:revision>
  <dcterms:created xsi:type="dcterms:W3CDTF">2026-04-16T10:29:38Z</dcterms:created>
  <dcterms:modified xsi:type="dcterms:W3CDTF">2026-04-22T22:21:34Z</dcterms:modified>
</cp:coreProperties>
</file>